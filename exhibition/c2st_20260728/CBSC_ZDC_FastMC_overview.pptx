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965960"/>
            <a:ext cx="9905695" cy="1280160"/>
          </a:xfrm>
          <a:prstGeom prst="rect">
            <a:avLst/>
          </a:prstGeom>
          <a:noFill/>
        </p:spPr>
        <p:txBody>
          <a:bodyPr wrap="square" lIns="0" rIns="0" tIns="0" bIns="0">
            <a:spAutoFit/>
          </a:bodyPr>
          <a:lstStyle/>
          <a:p>
            <a:pPr>
              <a:lnSpc>
                <a:spcPct val="102000"/>
              </a:lnSpc>
              <a:spcBef>
                <a:spcPts val="0"/>
              </a:spcBef>
              <a:spcAft>
                <a:spcPts val="800"/>
              </a:spcAft>
            </a:pPr>
            <a:r>
              <a:rPr sz="4600" b="1" i="0">
                <a:solidFill>
                  <a:srgbClr val="16161D"/>
                </a:solidFill>
                <a:latin typeface="Segoe UI"/>
              </a:rPr>
              <a:t>CBSC-ZDC Fast Monte Carlo</a:t>
            </a:r>
          </a:p>
          <a:p>
            <a:pPr>
              <a:lnSpc>
                <a:spcPct val="135000"/>
              </a:lnSpc>
              <a:spcBef>
                <a:spcPts val="0"/>
              </a:spcBef>
              <a:spcAft>
                <a:spcPts val="0"/>
              </a:spcAft>
            </a:pPr>
            <a:r>
              <a:rPr sz="1600" b="0" i="0">
                <a:solidFill>
                  <a:srgbClr val="6B6B76"/>
                </a:solidFill>
                <a:latin typeface="Segoe UI"/>
              </a:rPr>
              <a:t>A generative surrogate for ZDC neutron showers — how it works, and what it does so far</a:t>
            </a:r>
          </a:p>
        </p:txBody>
      </p:sp>
      <p:sp>
        <p:nvSpPr>
          <p:cNvPr id="4" name="Rectangle 3"/>
          <p:cNvSpPr/>
          <p:nvPr/>
        </p:nvSpPr>
        <p:spPr>
          <a:xfrm>
            <a:off x="1188720" y="3886200"/>
            <a:ext cx="1828800" cy="1905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4160520"/>
            <a:ext cx="9905695" cy="1280160"/>
          </a:xfrm>
          <a:prstGeom prst="rect">
            <a:avLst/>
          </a:prstGeom>
          <a:noFill/>
        </p:spPr>
        <p:txBody>
          <a:bodyPr wrap="square" lIns="0" rIns="0" tIns="0" bIns="0">
            <a:spAutoFit/>
          </a:bodyPr>
          <a:lstStyle/>
          <a:p>
            <a:pPr>
              <a:lnSpc>
                <a:spcPct val="130000"/>
              </a:lnSpc>
              <a:spcBef>
                <a:spcPts val="0"/>
              </a:spcBef>
              <a:spcAft>
                <a:spcPts val="500"/>
              </a:spcAft>
            </a:pPr>
            <a:r>
              <a:rPr sz="1200" b="0" i="0">
                <a:solidFill>
                  <a:srgbClr val="6B6B76"/>
                </a:solidFill>
                <a:latin typeface="Segoe UI"/>
              </a:rPr>
              <a:t>Constrained Budgeted Stochastic Cascade, version 2.2</a:t>
            </a:r>
          </a:p>
          <a:p>
            <a:pPr>
              <a:lnSpc>
                <a:spcPct val="130000"/>
              </a:lnSpc>
              <a:spcBef>
                <a:spcPts val="0"/>
              </a:spcBef>
              <a:spcAft>
                <a:spcPts val="500"/>
              </a:spcAft>
            </a:pPr>
            <a:r>
              <a:rPr sz="1200" b="0" i="0">
                <a:solidFill>
                  <a:srgbClr val="6B6B76"/>
                </a:solidFill>
                <a:latin typeface="Segoe UI"/>
              </a:rPr>
              <a:t>Status: epoch 4 of a short pilot — early optimisation, not a finished model</a:t>
            </a:r>
          </a:p>
          <a:p>
            <a:pPr>
              <a:lnSpc>
                <a:spcPct val="130000"/>
              </a:lnSpc>
              <a:spcBef>
                <a:spcPts val="0"/>
              </a:spcBef>
              <a:spcAft>
                <a:spcPts val="500"/>
              </a:spcAft>
            </a:pPr>
            <a:r>
              <a:rPr sz="1200" b="0" i="0">
                <a:solidFill>
                  <a:srgbClr val="6B6B76"/>
                </a:solidFill>
                <a:latin typeface="Segoe UI"/>
              </a:rPr>
              <a:t>Every number in this deck traces to a hashed artifact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THE IDEA</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One neutron in, one plausible shower out</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361688"/>
          </a:xfrm>
          <a:prstGeom prst="rect">
            <a:avLst/>
          </a:prstGeom>
          <a:noFill/>
        </p:spPr>
        <p:txBody>
          <a:bodyPr wrap="square" lIns="0" rIns="0" tIns="0" bIns="0">
            <a:spAutoFit/>
          </a:bodyPr>
          <a:lstStyle/>
          <a:p>
            <a:pPr>
              <a:lnSpc>
                <a:spcPct val="132000"/>
              </a:lnSpc>
              <a:spcBef>
                <a:spcPts val="0"/>
              </a:spcBef>
              <a:spcAft>
                <a:spcPts val="1300"/>
              </a:spcAft>
            </a:pPr>
            <a:r>
              <a:rPr sz="1350" b="0" i="0">
                <a:solidFill>
                  <a:srgbClr val="6B6B76"/>
                </a:solidFill>
                <a:latin typeface="Segoe UI"/>
              </a:rPr>
              <a:t>CBSC-ZDC takes a single incident neutron four-momentum and produces one complete 6,790-channel calorimeter shower. It is a stand-in for Geant4: same input, same kind of output, a very large factor faster.</a:t>
            </a:r>
          </a:p>
          <a:p>
            <a:pPr>
              <a:lnSpc>
                <a:spcPct val="115000"/>
              </a:lnSpc>
              <a:spcBef>
                <a:spcPts val="400"/>
              </a:spcBef>
              <a:spcAft>
                <a:spcPts val="200"/>
              </a:spcAft>
            </a:pPr>
            <a:r>
              <a:rPr sz="1250" b="1" i="0">
                <a:solidFill>
                  <a:srgbClr val="16161D"/>
                </a:solidFill>
                <a:latin typeface="Segoe UI"/>
              </a:rPr>
              <a:t>Why a surrogate at all</a:t>
            </a:r>
          </a:p>
          <a:p>
            <a:pPr>
              <a:lnSpc>
                <a:spcPct val="134000"/>
              </a:lnSpc>
              <a:spcBef>
                <a:spcPts val="0"/>
              </a:spcBef>
              <a:spcAft>
                <a:spcPts val="1100"/>
              </a:spcAft>
            </a:pPr>
            <a:r>
              <a:rPr sz="1150" b="0" i="0">
                <a:solidFill>
                  <a:srgbClr val="6B6B76"/>
                </a:solidFill>
                <a:latin typeface="Segoe UI"/>
              </a:rPr>
              <a:t>Geant4 simulates every secondary particle through every interaction. That is why it is trustworthy and also why it is expensive. A learned surrogate trades exactness for speed, and is only useful if its showers are statistically indistinguishable from the real ones.</a:t>
            </a:r>
          </a:p>
          <a:p>
            <a:pPr>
              <a:lnSpc>
                <a:spcPct val="115000"/>
              </a:lnSpc>
              <a:spcBef>
                <a:spcPts val="400"/>
              </a:spcBef>
              <a:spcAft>
                <a:spcPts val="200"/>
              </a:spcAft>
            </a:pPr>
            <a:r>
              <a:rPr sz="1250" b="1" i="0">
                <a:solidFill>
                  <a:srgbClr val="16161D"/>
                </a:solidFill>
                <a:latin typeface="Segoe UI"/>
              </a:rPr>
              <a:t>Why 'stochastic' is the whole point</a:t>
            </a:r>
          </a:p>
          <a:p>
            <a:pPr>
              <a:lnSpc>
                <a:spcPct val="134000"/>
              </a:lnSpc>
              <a:spcBef>
                <a:spcPts val="0"/>
              </a:spcBef>
              <a:spcAft>
                <a:spcPts val="1100"/>
              </a:spcAft>
            </a:pPr>
            <a:r>
              <a:rPr sz="1150" b="0" i="0">
                <a:solidFill>
                  <a:srgbClr val="6B6B76"/>
                </a:solidFill>
                <a:latin typeface="Segoe UI"/>
              </a:rPr>
              <a:t>Two Geant4 events with identical incident neutrons give different showers, because hadronic interactions are random. So the target is not one correct shower. The target is the distribution of showers. The model must be able to produce many different outputs from the same input, with the right spread.</a:t>
            </a:r>
          </a:p>
          <a:p>
            <a:pPr>
              <a:lnSpc>
                <a:spcPct val="115000"/>
              </a:lnSpc>
              <a:spcBef>
                <a:spcPts val="400"/>
              </a:spcBef>
              <a:spcAft>
                <a:spcPts val="200"/>
              </a:spcAft>
            </a:pPr>
            <a:r>
              <a:rPr sz="1250" b="1" i="0">
                <a:solidFill>
                  <a:srgbClr val="16161D"/>
                </a:solidFill>
                <a:latin typeface="Segoe UI"/>
              </a:rPr>
              <a:t>What makes this model unusual</a:t>
            </a:r>
          </a:p>
          <a:p>
            <a:pPr>
              <a:lnSpc>
                <a:spcPct val="134000"/>
              </a:lnSpc>
              <a:spcBef>
                <a:spcPts val="0"/>
              </a:spcBef>
              <a:spcAft>
                <a:spcPts val="1100"/>
              </a:spcAft>
            </a:pPr>
            <a:r>
              <a:rPr sz="1150" b="0" i="0">
                <a:solidFill>
                  <a:srgbClr val="6B6B76"/>
                </a:solidFill>
                <a:latin typeface="Segoe UI"/>
              </a:rPr>
              <a:t>It never predicts all 6,790 cell energies at once. It generates a shower the way you would describe one: did anything happen, how much energy in total, where did it start, how deep did it go, how many cells lit up, which cells, and how was the energy split between them.</a:t>
            </a:r>
          </a:p>
        </p:txBody>
      </p:sp>
      <p:sp>
        <p:nvSpPr>
          <p:cNvPr id="6" name="TextBox 5"/>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One neutron in, one plausible shower out</a:t>
            </a:r>
          </a:p>
        </p:txBody>
      </p:sp>
      <p:sp>
        <p:nvSpPr>
          <p:cNvPr id="7" name="TextBox 6"/>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THE DETECTOR</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What the model has to reproduce</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The readout geometry is frozen and hashed. Every experiment cites the same hash, so a geometry change is a different experiment by construction.</a:t>
            </a:r>
          </a:p>
        </p:txBody>
      </p:sp>
      <p:sp>
        <p:nvSpPr>
          <p:cNvPr id="6" name="TextBox 5"/>
          <p:cNvSpPr txBox="1"/>
          <p:nvPr/>
        </p:nvSpPr>
        <p:spPr>
          <a:xfrm>
            <a:off x="868680" y="2404872"/>
            <a:ext cx="10454335" cy="219456"/>
          </a:xfrm>
          <a:prstGeom prst="rect">
            <a:avLst/>
          </a:prstGeom>
          <a:noFill/>
        </p:spPr>
        <p:txBody>
          <a:bodyPr wrap="square" lIns="0" rIns="0" tIns="0" bIns="0">
            <a:spAutoFit/>
          </a:bodyPr>
          <a:lstStyle/>
          <a:p>
            <a:pPr>
              <a:spcAft>
                <a:spcPts val="0"/>
              </a:spcAft>
            </a:pPr>
            <a:r>
              <a:rPr sz="1000" b="1" i="0">
                <a:solidFill>
                  <a:srgbClr val="9A9AA4"/>
                </a:solidFill>
                <a:latin typeface="Segoe UI"/>
              </a:rPr>
              <a:t>Quantity</a:t>
            </a:r>
          </a:p>
        </p:txBody>
      </p:sp>
      <p:sp>
        <p:nvSpPr>
          <p:cNvPr id="7" name="TextBox 6"/>
          <p:cNvSpPr txBox="1"/>
          <p:nvPr/>
        </p:nvSpPr>
        <p:spPr>
          <a:xfrm>
            <a:off x="5074920" y="2404872"/>
            <a:ext cx="2834640" cy="219456"/>
          </a:xfrm>
          <a:prstGeom prst="rect">
            <a:avLst/>
          </a:prstGeom>
          <a:noFill/>
        </p:spPr>
        <p:txBody>
          <a:bodyPr wrap="square" lIns="0" rIns="0" tIns="0" bIns="0">
            <a:spAutoFit/>
          </a:bodyPr>
          <a:lstStyle/>
          <a:p>
            <a:pPr>
              <a:lnSpc>
                <a:spcPct val="125000"/>
              </a:lnSpc>
              <a:spcBef>
                <a:spcPts val="0"/>
              </a:spcBef>
              <a:spcAft>
                <a:spcPts val="0"/>
              </a:spcAft>
            </a:pPr>
            <a:r>
              <a:rPr sz="1000" b="1" i="0">
                <a:solidFill>
                  <a:srgbClr val="9A9AA4"/>
                </a:solidFill>
                <a:latin typeface="Segoe UI"/>
              </a:rPr>
              <a:t>Value</a:t>
            </a:r>
          </a:p>
        </p:txBody>
      </p:sp>
      <p:sp>
        <p:nvSpPr>
          <p:cNvPr id="8" name="Rectangle 7"/>
          <p:cNvSpPr/>
          <p:nvPr/>
        </p:nvSpPr>
        <p:spPr>
          <a:xfrm>
            <a:off x="868680" y="2660904"/>
            <a:ext cx="1045433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770632"/>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Readout channels</a:t>
            </a:r>
          </a:p>
        </p:txBody>
      </p:sp>
      <p:sp>
        <p:nvSpPr>
          <p:cNvPr id="10" name="TextBox 9"/>
          <p:cNvSpPr txBox="1"/>
          <p:nvPr/>
        </p:nvSpPr>
        <p:spPr>
          <a:xfrm>
            <a:off x="5074920" y="2770632"/>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6,790</a:t>
            </a:r>
          </a:p>
        </p:txBody>
      </p:sp>
      <p:sp>
        <p:nvSpPr>
          <p:cNvPr id="11" name="Rectangle 10"/>
          <p:cNvSpPr/>
          <p:nvPr/>
        </p:nvSpPr>
        <p:spPr>
          <a:xfrm>
            <a:off x="758952" y="3040380"/>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76956"/>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Longitudinal layers</a:t>
            </a:r>
          </a:p>
        </p:txBody>
      </p:sp>
      <p:sp>
        <p:nvSpPr>
          <p:cNvPr id="13" name="TextBox 12"/>
          <p:cNvSpPr txBox="1"/>
          <p:nvPr/>
        </p:nvSpPr>
        <p:spPr>
          <a:xfrm>
            <a:off x="5074920" y="3076956"/>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65 (layer 0 = ECAL, layers 1-64 = HCAL)</a:t>
            </a:r>
          </a:p>
        </p:txBody>
      </p:sp>
      <p:sp>
        <p:nvSpPr>
          <p:cNvPr id="14" name="TextBox 13"/>
          <p:cNvSpPr txBox="1"/>
          <p:nvPr/>
        </p:nvSpPr>
        <p:spPr>
          <a:xfrm>
            <a:off x="868680" y="3383280"/>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Channels per layer</a:t>
            </a:r>
          </a:p>
        </p:txBody>
      </p:sp>
      <p:sp>
        <p:nvSpPr>
          <p:cNvPr id="15" name="TextBox 14"/>
          <p:cNvSpPr txBox="1"/>
          <p:nvPr/>
        </p:nvSpPr>
        <p:spPr>
          <a:xfrm>
            <a:off x="5074920" y="3383280"/>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400 ECAL, then 63 x 100, then 90 — total 6,390 HCAL</a:t>
            </a:r>
          </a:p>
        </p:txBody>
      </p:sp>
      <p:sp>
        <p:nvSpPr>
          <p:cNvPr id="16" name="Rectangle 15"/>
          <p:cNvSpPr/>
          <p:nvPr/>
        </p:nvSpPr>
        <p:spPr>
          <a:xfrm>
            <a:off x="758952" y="3653028"/>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89604"/>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Graph edges</a:t>
            </a:r>
          </a:p>
        </p:txBody>
      </p:sp>
      <p:sp>
        <p:nvSpPr>
          <p:cNvPr id="18" name="TextBox 17"/>
          <p:cNvSpPr txBox="1"/>
          <p:nvPr/>
        </p:nvSpPr>
        <p:spPr>
          <a:xfrm>
            <a:off x="5074920" y="3689604"/>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107,920 directed (~8 in-layer neighbours, ~4 each way between layers)</a:t>
            </a:r>
          </a:p>
        </p:txBody>
      </p:sp>
      <p:sp>
        <p:nvSpPr>
          <p:cNvPr id="19" name="TextBox 18"/>
          <p:cNvSpPr txBox="1"/>
          <p:nvPr/>
        </p:nvSpPr>
        <p:spPr>
          <a:xfrm>
            <a:off x="868680" y="3995928"/>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Incident particle</a:t>
            </a:r>
          </a:p>
        </p:txBody>
      </p:sp>
      <p:sp>
        <p:nvSpPr>
          <p:cNvPr id="20" name="TextBox 19"/>
          <p:cNvSpPr txBox="1"/>
          <p:nvPr/>
        </p:nvSpPr>
        <p:spPr>
          <a:xfrm>
            <a:off x="5074920" y="3995928"/>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one neutron, PDG 2112, fixed production vertex</a:t>
            </a:r>
          </a:p>
        </p:txBody>
      </p:sp>
      <p:sp>
        <p:nvSpPr>
          <p:cNvPr id="21" name="Rectangle 20"/>
          <p:cNvSpPr/>
          <p:nvPr/>
        </p:nvSpPr>
        <p:spPr>
          <a:xfrm>
            <a:off x="758952" y="4265676"/>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302252"/>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Training range</a:t>
            </a:r>
          </a:p>
        </p:txBody>
      </p:sp>
      <p:sp>
        <p:nvSpPr>
          <p:cNvPr id="23" name="TextBox 22"/>
          <p:cNvSpPr txBox="1"/>
          <p:nvPr/>
        </p:nvSpPr>
        <p:spPr>
          <a:xfrm>
            <a:off x="5074920" y="4302252"/>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0-300 GeV incident kinetic energy</a:t>
            </a:r>
          </a:p>
        </p:txBody>
      </p:sp>
      <p:sp>
        <p:nvSpPr>
          <p:cNvPr id="24" name="TextBox 23"/>
          <p:cNvSpPr txBox="1"/>
          <p:nvPr/>
        </p:nvSpPr>
        <p:spPr>
          <a:xfrm>
            <a:off x="868680" y="4608576"/>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Primary claim domain</a:t>
            </a:r>
          </a:p>
        </p:txBody>
      </p:sp>
      <p:sp>
        <p:nvSpPr>
          <p:cNvPr id="25" name="TextBox 24"/>
          <p:cNvSpPr txBox="1"/>
          <p:nvPr/>
        </p:nvSpPr>
        <p:spPr>
          <a:xfrm>
            <a:off x="5074920" y="4608576"/>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50-250 GeV</a:t>
            </a:r>
          </a:p>
        </p:txBody>
      </p:sp>
      <p:sp>
        <p:nvSpPr>
          <p:cNvPr id="26" name="Rectangle 25"/>
          <p:cNvSpPr/>
          <p:nvPr/>
        </p:nvSpPr>
        <p:spPr>
          <a:xfrm>
            <a:off x="758952" y="4878324"/>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914900"/>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Target</a:t>
            </a:r>
          </a:p>
        </p:txBody>
      </p:sp>
      <p:sp>
        <p:nvSpPr>
          <p:cNvPr id="28" name="TextBox 27"/>
          <p:cNvSpPr txBox="1"/>
          <p:nvPr/>
        </p:nvSpPr>
        <p:spPr>
          <a:xfrm>
            <a:off x="5074920" y="4914900"/>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raw deposited energy per channel, in GeV, threshold 0</a:t>
            </a:r>
          </a:p>
        </p:txBody>
      </p:sp>
      <p:sp>
        <p:nvSpPr>
          <p:cNvPr id="29" name="TextBox 28"/>
          <p:cNvSpPr txBox="1"/>
          <p:nvPr/>
        </p:nvSpPr>
        <p:spPr>
          <a:xfrm>
            <a:off x="868680" y="5943600"/>
            <a:ext cx="10454335" cy="365760"/>
          </a:xfrm>
          <a:prstGeom prst="rect">
            <a:avLst/>
          </a:prstGeom>
          <a:noFill/>
        </p:spPr>
        <p:txBody>
          <a:bodyPr wrap="square" lIns="0" rIns="0" tIns="0" bIns="0">
            <a:spAutoFit/>
          </a:bodyPr>
          <a:lstStyle/>
          <a:p>
            <a:pPr>
              <a:lnSpc>
                <a:spcPct val="125000"/>
              </a:lnSpc>
              <a:spcBef>
                <a:spcPts val="0"/>
              </a:spcBef>
              <a:spcAft>
                <a:spcPts val="0"/>
              </a:spcAft>
            </a:pPr>
            <a:r>
              <a:rPr sz="1000" b="0" i="0">
                <a:solidFill>
                  <a:srgbClr val="9A9AA4"/>
                </a:solidFill>
                <a:latin typeface="Segoe UI"/>
              </a:rPr>
              <a:t>Geometry SHA-256 e22d4cfb1e9293a33dd1315158791026…</a:t>
            </a:r>
          </a:p>
        </p:txBody>
      </p:sp>
      <p:sp>
        <p:nvSpPr>
          <p:cNvPr id="30" name="TextBox 29"/>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What the model has to reproduce</a:t>
            </a:r>
          </a:p>
        </p:txBody>
      </p:sp>
      <p:sp>
        <p:nvSpPr>
          <p:cNvPr id="31" name="TextBox 30"/>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THE DIFFICULTY</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Why you cannot just predict 6,790 numbers</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3727096"/>
          </a:xfrm>
          <a:prstGeom prst="rect">
            <a:avLst/>
          </a:prstGeom>
          <a:noFill/>
        </p:spPr>
        <p:txBody>
          <a:bodyPr wrap="square" lIns="0" rIns="0" tIns="0" bIns="0">
            <a:spAutoFit/>
          </a:bodyPr>
          <a:lstStyle/>
          <a:p>
            <a:pPr>
              <a:lnSpc>
                <a:spcPct val="132000"/>
              </a:lnSpc>
              <a:spcBef>
                <a:spcPts val="0"/>
              </a:spcBef>
              <a:spcAft>
                <a:spcPts val="1300"/>
              </a:spcAft>
            </a:pPr>
            <a:r>
              <a:rPr sz="1350" b="0" i="0">
                <a:solidFill>
                  <a:srgbClr val="6B6B76"/>
                </a:solidFill>
                <a:latin typeface="Segoe UI"/>
              </a:rPr>
              <a:t>The obvious approach — one network mapping the four-momentum straight to 6,790 energies — fails for three separate reasons, and the third one is the dangerous one.</a:t>
            </a:r>
          </a:p>
          <a:p>
            <a:pPr>
              <a:lnSpc>
                <a:spcPct val="115000"/>
              </a:lnSpc>
              <a:spcBef>
                <a:spcPts val="400"/>
              </a:spcBef>
              <a:spcAft>
                <a:spcPts val="200"/>
              </a:spcAft>
            </a:pPr>
            <a:r>
              <a:rPr sz="1250" b="1" i="0">
                <a:solidFill>
                  <a:srgbClr val="16161D"/>
                </a:solidFill>
                <a:latin typeface="Segoe UI"/>
              </a:rPr>
              <a:t>The output is almost all zeros</a:t>
            </a:r>
          </a:p>
          <a:p>
            <a:pPr>
              <a:lnSpc>
                <a:spcPct val="134000"/>
              </a:lnSpc>
              <a:spcBef>
                <a:spcPts val="0"/>
              </a:spcBef>
              <a:spcAft>
                <a:spcPts val="1100"/>
              </a:spcAft>
            </a:pPr>
            <a:r>
              <a:rPr sz="1150" b="0" i="0">
                <a:solidFill>
                  <a:srgbClr val="6B6B76"/>
                </a:solidFill>
                <a:latin typeface="Segoe UI"/>
              </a:rPr>
              <a:t>A typical event lights up roughly 1,500 of 6,790 channels. The rest are exactly zero, not nearly zero. A network trained on squared error has no reason to respect that distinction.</a:t>
            </a:r>
          </a:p>
          <a:p>
            <a:pPr>
              <a:lnSpc>
                <a:spcPct val="115000"/>
              </a:lnSpc>
              <a:spcBef>
                <a:spcPts val="400"/>
              </a:spcBef>
              <a:spcAft>
                <a:spcPts val="200"/>
              </a:spcAft>
            </a:pPr>
            <a:r>
              <a:rPr sz="1250" b="1" i="0">
                <a:solidFill>
                  <a:srgbClr val="16161D"/>
                </a:solidFill>
                <a:latin typeface="Segoe UI"/>
              </a:rPr>
              <a:t>The mapping is one-to-many</a:t>
            </a:r>
          </a:p>
          <a:p>
            <a:pPr>
              <a:lnSpc>
                <a:spcPct val="134000"/>
              </a:lnSpc>
              <a:spcBef>
                <a:spcPts val="0"/>
              </a:spcBef>
              <a:spcAft>
                <a:spcPts val="1100"/>
              </a:spcAft>
            </a:pPr>
            <a:r>
              <a:rPr sz="1150" b="0" i="0">
                <a:solidFill>
                  <a:srgbClr val="6B6B76"/>
                </a:solidFill>
                <a:latin typeface="Segoe UI"/>
              </a:rPr>
              <a:t>The same neutron can produce many different showers. A network trained to minimise average error will learn the average shower, which is a smooth blob that resembles no real event.</a:t>
            </a:r>
          </a:p>
          <a:p>
            <a:pPr>
              <a:lnSpc>
                <a:spcPct val="115000"/>
              </a:lnSpc>
              <a:spcBef>
                <a:spcPts val="400"/>
              </a:spcBef>
              <a:spcAft>
                <a:spcPts val="200"/>
              </a:spcAft>
            </a:pPr>
            <a:r>
              <a:rPr sz="1250" b="1" i="0">
                <a:solidFill>
                  <a:srgbClr val="16161D"/>
                </a:solidFill>
                <a:latin typeface="Segoe UI"/>
              </a:rPr>
              <a:t>The 'dust cloud' failure</a:t>
            </a:r>
          </a:p>
          <a:p>
            <a:pPr>
              <a:lnSpc>
                <a:spcPct val="134000"/>
              </a:lnSpc>
              <a:spcBef>
                <a:spcPts val="0"/>
              </a:spcBef>
              <a:spcAft>
                <a:spcPts val="1100"/>
              </a:spcAft>
            </a:pPr>
            <a:r>
              <a:rPr sz="1150" b="0" i="0">
                <a:solidFill>
                  <a:srgbClr val="6B6B76"/>
                </a:solidFill>
                <a:latin typeface="Segoe UI"/>
              </a:rPr>
              <a:t>This is the trap. If a model puts a tiny positive energy into every empty cell, its average error goes down while the event becomes physically nonsense: 6,790 hits instead of 1,500. The loss improves and the physics gets worse. Any architecture here must make that impossible, not merely discourage it.</a:t>
            </a:r>
          </a:p>
        </p:txBody>
      </p:sp>
      <p:sp>
        <p:nvSpPr>
          <p:cNvPr id="6" name="Rectangle 5"/>
          <p:cNvSpPr/>
          <p:nvPr/>
        </p:nvSpPr>
        <p:spPr>
          <a:xfrm>
            <a:off x="868680" y="5610760"/>
            <a:ext cx="10454335" cy="680312"/>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5610760"/>
            <a:ext cx="38100" cy="680312"/>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5729632"/>
            <a:ext cx="10051999" cy="497432"/>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CBSC's answer: generate the shower as a sequence of decisions, and make the final step arithmetically incapable of producing dust.</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Why you cannot just predict 6,790 numbers</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THE ARCHITECTURE</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A budgeted cascade of decisions</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Each stage answers one physical question and hands its answer to the next. Every later decision is constrained by the earlier ones, so the shower is built inside a budget rather than assembled from independent guesses.</a:t>
            </a:r>
          </a:p>
        </p:txBody>
      </p:sp>
      <p:sp>
        <p:nvSpPr>
          <p:cNvPr id="6" name="Oval 5"/>
          <p:cNvSpPr/>
          <p:nvPr/>
        </p:nvSpPr>
        <p:spPr>
          <a:xfrm>
            <a:off x="868680" y="2432304"/>
            <a:ext cx="310896" cy="310896"/>
          </a:xfrm>
          <a:prstGeom prst="ellipse">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in</a:t>
            </a:r>
          </a:p>
        </p:txBody>
      </p:sp>
      <p:sp>
        <p:nvSpPr>
          <p:cNvPr id="7" name="TextBox 6"/>
          <p:cNvSpPr txBox="1"/>
          <p:nvPr/>
        </p:nvSpPr>
        <p:spPr>
          <a:xfrm>
            <a:off x="1344168" y="242316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Neutron four-momentum</a:t>
            </a:r>
          </a:p>
        </p:txBody>
      </p:sp>
      <p:sp>
        <p:nvSpPr>
          <p:cNvPr id="8" name="TextBox 7"/>
          <p:cNvSpPr txBox="1"/>
          <p:nvPr/>
        </p:nvSpPr>
        <p:spPr>
          <a:xfrm>
            <a:off x="7269480" y="244144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5 numbers -&gt; a 128-number summary</a:t>
            </a:r>
          </a:p>
        </p:txBody>
      </p:sp>
      <p:sp>
        <p:nvSpPr>
          <p:cNvPr id="9" name="Oval 8"/>
          <p:cNvSpPr/>
          <p:nvPr/>
        </p:nvSpPr>
        <p:spPr>
          <a:xfrm>
            <a:off x="868680" y="272948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1</a:t>
            </a:r>
          </a:p>
        </p:txBody>
      </p:sp>
      <p:sp>
        <p:nvSpPr>
          <p:cNvPr id="10" name="TextBox 9"/>
          <p:cNvSpPr txBox="1"/>
          <p:nvPr/>
        </p:nvSpPr>
        <p:spPr>
          <a:xfrm>
            <a:off x="1344168" y="272034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Did the detector respond at all?</a:t>
            </a:r>
          </a:p>
        </p:txBody>
      </p:sp>
      <p:sp>
        <p:nvSpPr>
          <p:cNvPr id="11" name="TextBox 10"/>
          <p:cNvSpPr txBox="1"/>
          <p:nvPr/>
        </p:nvSpPr>
        <p:spPr>
          <a:xfrm>
            <a:off x="7269480" y="273862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small network, yes / no</a:t>
            </a:r>
          </a:p>
        </p:txBody>
      </p:sp>
      <p:sp>
        <p:nvSpPr>
          <p:cNvPr id="12" name="Oval 11"/>
          <p:cNvSpPr/>
          <p:nvPr/>
        </p:nvSpPr>
        <p:spPr>
          <a:xfrm>
            <a:off x="868680" y="302666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2</a:t>
            </a:r>
          </a:p>
        </p:txBody>
      </p:sp>
      <p:sp>
        <p:nvSpPr>
          <p:cNvPr id="13" name="TextBox 12"/>
          <p:cNvSpPr txBox="1"/>
          <p:nvPr/>
        </p:nvSpPr>
        <p:spPr>
          <a:xfrm>
            <a:off x="1344168" y="301752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How much energy in total?</a:t>
            </a:r>
          </a:p>
        </p:txBody>
      </p:sp>
      <p:sp>
        <p:nvSpPr>
          <p:cNvPr id="14" name="TextBox 13"/>
          <p:cNvSpPr txBox="1"/>
          <p:nvPr/>
        </p:nvSpPr>
        <p:spPr>
          <a:xfrm>
            <a:off x="7269480" y="303580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mixture of four Gaussians -&gt; the budget</a:t>
            </a:r>
          </a:p>
        </p:txBody>
      </p:sp>
      <p:sp>
        <p:nvSpPr>
          <p:cNvPr id="15" name="Oval 14"/>
          <p:cNvSpPr/>
          <p:nvPr/>
        </p:nvSpPr>
        <p:spPr>
          <a:xfrm>
            <a:off x="868680" y="332384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3</a:t>
            </a:r>
          </a:p>
        </p:txBody>
      </p:sp>
      <p:sp>
        <p:nvSpPr>
          <p:cNvPr id="16" name="TextBox 15"/>
          <p:cNvSpPr txBox="1"/>
          <p:nvPr/>
        </p:nvSpPr>
        <p:spPr>
          <a:xfrm>
            <a:off x="1344168" y="331470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Which layer did the shower start in?</a:t>
            </a:r>
          </a:p>
        </p:txBody>
      </p:sp>
      <p:sp>
        <p:nvSpPr>
          <p:cNvPr id="17" name="TextBox 16"/>
          <p:cNvSpPr txBox="1"/>
          <p:nvPr/>
        </p:nvSpPr>
        <p:spPr>
          <a:xfrm>
            <a:off x="7269480" y="333298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choose one of 65</a:t>
            </a:r>
          </a:p>
        </p:txBody>
      </p:sp>
      <p:sp>
        <p:nvSpPr>
          <p:cNvPr id="18" name="Oval 17"/>
          <p:cNvSpPr/>
          <p:nvPr/>
        </p:nvSpPr>
        <p:spPr>
          <a:xfrm>
            <a:off x="868680" y="362102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4</a:t>
            </a:r>
          </a:p>
        </p:txBody>
      </p:sp>
      <p:sp>
        <p:nvSpPr>
          <p:cNvPr id="19" name="TextBox 18"/>
          <p:cNvSpPr txBox="1"/>
          <p:nvPr/>
        </p:nvSpPr>
        <p:spPr>
          <a:xfrm>
            <a:off x="1344168" y="361188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Which layers are active?</a:t>
            </a:r>
          </a:p>
        </p:txBody>
      </p:sp>
      <p:sp>
        <p:nvSpPr>
          <p:cNvPr id="20" name="TextBox 19"/>
          <p:cNvSpPr txBox="1"/>
          <p:nvPr/>
        </p:nvSpPr>
        <p:spPr>
          <a:xfrm>
            <a:off x="7269480" y="363016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65 yes/no flags</a:t>
            </a:r>
          </a:p>
        </p:txBody>
      </p:sp>
      <p:sp>
        <p:nvSpPr>
          <p:cNvPr id="21" name="Oval 20"/>
          <p:cNvSpPr/>
          <p:nvPr/>
        </p:nvSpPr>
        <p:spPr>
          <a:xfrm>
            <a:off x="868680" y="391820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5</a:t>
            </a:r>
          </a:p>
        </p:txBody>
      </p:sp>
      <p:sp>
        <p:nvSpPr>
          <p:cNvPr id="22" name="TextBox 21"/>
          <p:cNvSpPr txBox="1"/>
          <p:nvPr/>
        </p:nvSpPr>
        <p:spPr>
          <a:xfrm>
            <a:off x="1344168" y="390906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How is the budget split across layers?</a:t>
            </a:r>
          </a:p>
        </p:txBody>
      </p:sp>
      <p:sp>
        <p:nvSpPr>
          <p:cNvPr id="23" name="TextBox 22"/>
          <p:cNvSpPr txBox="1"/>
          <p:nvPr/>
        </p:nvSpPr>
        <p:spPr>
          <a:xfrm>
            <a:off x="7269480" y="392734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flow matching + Transformer</a:t>
            </a:r>
          </a:p>
        </p:txBody>
      </p:sp>
      <p:sp>
        <p:nvSpPr>
          <p:cNvPr id="24" name="Oval 23"/>
          <p:cNvSpPr/>
          <p:nvPr/>
        </p:nvSpPr>
        <p:spPr>
          <a:xfrm>
            <a:off x="868680" y="421538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6</a:t>
            </a:r>
          </a:p>
        </p:txBody>
      </p:sp>
      <p:sp>
        <p:nvSpPr>
          <p:cNvPr id="25" name="TextBox 24"/>
          <p:cNvSpPr txBox="1"/>
          <p:nvPr/>
        </p:nvSpPr>
        <p:spPr>
          <a:xfrm>
            <a:off x="1344168" y="420624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How many cells light up in each layer?</a:t>
            </a:r>
          </a:p>
        </p:txBody>
      </p:sp>
      <p:sp>
        <p:nvSpPr>
          <p:cNvPr id="26" name="TextBox 25"/>
          <p:cNvSpPr txBox="1"/>
          <p:nvPr/>
        </p:nvSpPr>
        <p:spPr>
          <a:xfrm>
            <a:off x="7269480" y="422452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one count distribution per layer</a:t>
            </a:r>
          </a:p>
        </p:txBody>
      </p:sp>
      <p:sp>
        <p:nvSpPr>
          <p:cNvPr id="27" name="Oval 26"/>
          <p:cNvSpPr/>
          <p:nvPr/>
        </p:nvSpPr>
        <p:spPr>
          <a:xfrm>
            <a:off x="868680" y="451256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7</a:t>
            </a:r>
          </a:p>
        </p:txBody>
      </p:sp>
      <p:sp>
        <p:nvSpPr>
          <p:cNvPr id="28" name="TextBox 27"/>
          <p:cNvSpPr txBox="1"/>
          <p:nvPr/>
        </p:nvSpPr>
        <p:spPr>
          <a:xfrm>
            <a:off x="1344168" y="450342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Which exact cells?</a:t>
            </a:r>
          </a:p>
        </p:txBody>
      </p:sp>
      <p:sp>
        <p:nvSpPr>
          <p:cNvPr id="29" name="TextBox 28"/>
          <p:cNvSpPr txBox="1"/>
          <p:nvPr/>
        </p:nvSpPr>
        <p:spPr>
          <a:xfrm>
            <a:off x="7269480" y="452170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graph network + Transformer, top-K with noise</a:t>
            </a:r>
          </a:p>
        </p:txBody>
      </p:sp>
      <p:sp>
        <p:nvSpPr>
          <p:cNvPr id="30" name="Oval 29"/>
          <p:cNvSpPr/>
          <p:nvPr/>
        </p:nvSpPr>
        <p:spPr>
          <a:xfrm>
            <a:off x="868680" y="480974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8</a:t>
            </a:r>
          </a:p>
        </p:txBody>
      </p:sp>
      <p:sp>
        <p:nvSpPr>
          <p:cNvPr id="31" name="TextBox 30"/>
          <p:cNvSpPr txBox="1"/>
          <p:nvPr/>
        </p:nvSpPr>
        <p:spPr>
          <a:xfrm>
            <a:off x="1344168" y="480060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How is each layer's energy split between its cells?</a:t>
            </a:r>
          </a:p>
        </p:txBody>
      </p:sp>
      <p:sp>
        <p:nvSpPr>
          <p:cNvPr id="32" name="TextBox 31"/>
          <p:cNvSpPr txBox="1"/>
          <p:nvPr/>
        </p:nvSpPr>
        <p:spPr>
          <a:xfrm>
            <a:off x="7269480" y="481888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flow matching + graph network</a:t>
            </a:r>
          </a:p>
        </p:txBody>
      </p:sp>
      <p:sp>
        <p:nvSpPr>
          <p:cNvPr id="33" name="Oval 32"/>
          <p:cNvSpPr/>
          <p:nvPr/>
        </p:nvSpPr>
        <p:spPr>
          <a:xfrm>
            <a:off x="868680" y="5106924"/>
            <a:ext cx="310896" cy="310896"/>
          </a:xfrm>
          <a:prstGeom prst="ellipse">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Segoe UI"/>
              </a:rPr>
              <a:t>out</a:t>
            </a:r>
          </a:p>
        </p:txBody>
      </p:sp>
      <p:sp>
        <p:nvSpPr>
          <p:cNvPr id="34" name="TextBox 33"/>
          <p:cNvSpPr txBox="1"/>
          <p:nvPr/>
        </p:nvSpPr>
        <p:spPr>
          <a:xfrm>
            <a:off x="1344168" y="5097780"/>
            <a:ext cx="5669280" cy="297180"/>
          </a:xfrm>
          <a:prstGeom prst="rect">
            <a:avLst/>
          </a:prstGeom>
          <a:noFill/>
        </p:spPr>
        <p:txBody>
          <a:bodyPr wrap="square" lIns="0" rIns="0" tIns="0" bIns="0">
            <a:spAutoFit/>
          </a:bodyPr>
          <a:lstStyle/>
          <a:p>
            <a:pPr>
              <a:lnSpc>
                <a:spcPct val="110000"/>
              </a:lnSpc>
              <a:spcBef>
                <a:spcPts val="0"/>
              </a:spcBef>
              <a:spcAft>
                <a:spcPts val="0"/>
              </a:spcAft>
            </a:pPr>
            <a:r>
              <a:rPr sz="1300" b="1" i="0">
                <a:solidFill>
                  <a:srgbClr val="16161D"/>
                </a:solidFill>
                <a:latin typeface="Segoe UI"/>
              </a:rPr>
              <a:t>6,790 cell energies</a:t>
            </a:r>
          </a:p>
        </p:txBody>
      </p:sp>
      <p:sp>
        <p:nvSpPr>
          <p:cNvPr id="35" name="TextBox 34"/>
          <p:cNvSpPr txBox="1"/>
          <p:nvPr/>
        </p:nvSpPr>
        <p:spPr>
          <a:xfrm>
            <a:off x="7269480" y="5116068"/>
            <a:ext cx="4023360" cy="297180"/>
          </a:xfrm>
          <a:prstGeom prst="rect">
            <a:avLst/>
          </a:prstGeom>
          <a:noFill/>
        </p:spPr>
        <p:txBody>
          <a:bodyPr wrap="square" lIns="0" rIns="0" tIns="0" bIns="0">
            <a:spAutoFit/>
          </a:bodyPr>
          <a:lstStyle/>
          <a:p>
            <a:pPr>
              <a:lnSpc>
                <a:spcPct val="110000"/>
              </a:lnSpc>
              <a:spcBef>
                <a:spcPts val="0"/>
              </a:spcBef>
              <a:spcAft>
                <a:spcPts val="0"/>
              </a:spcAft>
            </a:pPr>
            <a:r>
              <a:rPr sz="1150" b="0" i="0">
                <a:solidFill>
                  <a:srgbClr val="6B6B76"/>
                </a:solidFill>
                <a:latin typeface="Segoe UI"/>
              </a:rPr>
              <a:t>exact decoder, no learned parameters</a:t>
            </a:r>
          </a:p>
        </p:txBody>
      </p:sp>
      <p:sp>
        <p:nvSpPr>
          <p:cNvPr id="36" name="Rectangle 35"/>
          <p:cNvSpPr/>
          <p:nvPr/>
        </p:nvSpPr>
        <p:spPr>
          <a:xfrm>
            <a:off x="868680" y="5610760"/>
            <a:ext cx="10454335" cy="680312"/>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68680" y="5610760"/>
            <a:ext cx="38100" cy="680312"/>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9848" y="5729632"/>
            <a:ext cx="10051999" cy="497432"/>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The budget set in step 2 is never exceeded or topped up — steps 5 and 8 only divide it. Randomness enters at seven separate points, so the same neutron gives different showers.</a:t>
            </a:r>
          </a:p>
        </p:txBody>
      </p:sp>
      <p:sp>
        <p:nvSpPr>
          <p:cNvPr id="39" name="TextBox 3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A budgeted cascade of decisions</a:t>
            </a:r>
          </a:p>
        </p:txBody>
      </p:sp>
      <p:sp>
        <p:nvSpPr>
          <p:cNvPr id="40" name="TextBox 3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FOR THE PHYSICISTS</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The five ML words you need</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361688"/>
          </a:xfrm>
          <a:prstGeom prst="rect">
            <a:avLst/>
          </a:prstGeom>
          <a:noFill/>
        </p:spPr>
        <p:txBody>
          <a:bodyPr wrap="square" lIns="0" rIns="0" tIns="0" bIns="0">
            <a:spAutoFit/>
          </a:bodyPr>
          <a:lstStyle/>
          <a:p>
            <a:pPr>
              <a:lnSpc>
                <a:spcPct val="132000"/>
              </a:lnSpc>
              <a:spcBef>
                <a:spcPts val="0"/>
              </a:spcBef>
              <a:spcAft>
                <a:spcPts val="1300"/>
              </a:spcAft>
            </a:pPr>
            <a:r>
              <a:rPr sz="1350" b="0" i="0">
                <a:solidFill>
                  <a:srgbClr val="6B6B76"/>
                </a:solidFill>
                <a:latin typeface="Segoe UI"/>
              </a:rPr>
              <a:t>These five ideas cover everything in this deck. Nothing else in the architecture requires machine-learning background.</a:t>
            </a:r>
          </a:p>
          <a:p>
            <a:pPr>
              <a:lnSpc>
                <a:spcPct val="115000"/>
              </a:lnSpc>
              <a:spcBef>
                <a:spcPts val="300"/>
              </a:spcBef>
              <a:spcAft>
                <a:spcPts val="100"/>
              </a:spcAft>
            </a:pPr>
            <a:r>
              <a:rPr sz="1250" b="1" i="0">
                <a:solidFill>
                  <a:srgbClr val="16161D"/>
                </a:solidFill>
                <a:latin typeface="Segoe UI"/>
              </a:rPr>
              <a:t>Network   </a:t>
            </a:r>
            <a:r>
              <a:rPr sz="1100" b="0" i="0">
                <a:solidFill>
                  <a:srgbClr val="2B4C7E"/>
                </a:solidFill>
                <a:latin typeface="Consolas"/>
              </a:rPr>
              <a:t>f(x)</a:t>
            </a:r>
          </a:p>
          <a:p>
            <a:pPr>
              <a:lnSpc>
                <a:spcPct val="132000"/>
              </a:lnSpc>
              <a:spcBef>
                <a:spcPts val="0"/>
              </a:spcBef>
              <a:spcAft>
                <a:spcPts val="900"/>
              </a:spcAft>
            </a:pPr>
            <a:r>
              <a:rPr sz="1150" b="0" i="0">
                <a:solidFill>
                  <a:srgbClr val="6B6B76"/>
                </a:solidFill>
                <a:latin typeface="Segoe UI"/>
              </a:rPr>
              <a:t>A function with millions of adjustable numbers inside. Training nudges those numbers so the function does better on examples. That is all a 'neural network' is.</a:t>
            </a:r>
          </a:p>
          <a:p>
            <a:pPr>
              <a:lnSpc>
                <a:spcPct val="115000"/>
              </a:lnSpc>
              <a:spcBef>
                <a:spcPts val="300"/>
              </a:spcBef>
              <a:spcAft>
                <a:spcPts val="100"/>
              </a:spcAft>
            </a:pPr>
            <a:r>
              <a:rPr sz="1250" b="1" i="0">
                <a:solidFill>
                  <a:srgbClr val="16161D"/>
                </a:solidFill>
                <a:latin typeface="Segoe UI"/>
              </a:rPr>
              <a:t>Logit   </a:t>
            </a:r>
            <a:r>
              <a:rPr sz="1100" b="0" i="0">
                <a:solidFill>
                  <a:srgbClr val="2B4C7E"/>
                </a:solidFill>
                <a:latin typeface="Consolas"/>
              </a:rPr>
              <a:t>a</a:t>
            </a:r>
          </a:p>
          <a:p>
            <a:pPr>
              <a:lnSpc>
                <a:spcPct val="132000"/>
              </a:lnSpc>
              <a:spcBef>
                <a:spcPts val="0"/>
              </a:spcBef>
              <a:spcAft>
                <a:spcPts val="900"/>
              </a:spcAft>
            </a:pPr>
            <a:r>
              <a:rPr sz="1150" b="0" i="0">
                <a:solidFill>
                  <a:srgbClr val="6B6B76"/>
                </a:solidFill>
                <a:latin typeface="Segoe UI"/>
              </a:rPr>
              <a:t>An unconstrained score the network produces. Positive means 'likely', negative means 'unlikely'. It is not yet a probability.</a:t>
            </a:r>
          </a:p>
          <a:p>
            <a:pPr>
              <a:lnSpc>
                <a:spcPct val="115000"/>
              </a:lnSpc>
              <a:spcBef>
                <a:spcPts val="300"/>
              </a:spcBef>
              <a:spcAft>
                <a:spcPts val="100"/>
              </a:spcAft>
            </a:pPr>
            <a:r>
              <a:rPr sz="1250" b="1" i="0">
                <a:solidFill>
                  <a:srgbClr val="16161D"/>
                </a:solidFill>
                <a:latin typeface="Segoe UI"/>
              </a:rPr>
              <a:t>Sigmoid   </a:t>
            </a:r>
            <a:r>
              <a:rPr sz="1100" b="0" i="0">
                <a:solidFill>
                  <a:srgbClr val="2B4C7E"/>
                </a:solidFill>
                <a:latin typeface="Consolas"/>
              </a:rPr>
              <a:t>sigma(a) = 1 / (1 + e^-a)</a:t>
            </a:r>
          </a:p>
          <a:p>
            <a:pPr>
              <a:lnSpc>
                <a:spcPct val="132000"/>
              </a:lnSpc>
              <a:spcBef>
                <a:spcPts val="0"/>
              </a:spcBef>
              <a:spcAft>
                <a:spcPts val="900"/>
              </a:spcAft>
            </a:pPr>
            <a:r>
              <a:rPr sz="1150" b="0" i="0">
                <a:solidFill>
                  <a:srgbClr val="6B6B76"/>
                </a:solidFill>
                <a:latin typeface="Segoe UI"/>
              </a:rPr>
              <a:t>Squashes one logit into a probability between 0 and 1. Used whenever the model answers a yes/no question.</a:t>
            </a:r>
          </a:p>
          <a:p>
            <a:pPr>
              <a:lnSpc>
                <a:spcPct val="115000"/>
              </a:lnSpc>
              <a:spcBef>
                <a:spcPts val="300"/>
              </a:spcBef>
              <a:spcAft>
                <a:spcPts val="100"/>
              </a:spcAft>
            </a:pPr>
            <a:r>
              <a:rPr sz="1250" b="1" i="0">
                <a:solidFill>
                  <a:srgbClr val="16161D"/>
                </a:solidFill>
                <a:latin typeface="Segoe UI"/>
              </a:rPr>
              <a:t>Softmax   </a:t>
            </a:r>
            <a:r>
              <a:rPr sz="1100" b="0" i="0">
                <a:solidFill>
                  <a:srgbClr val="2B4C7E"/>
                </a:solidFill>
                <a:latin typeface="Consolas"/>
              </a:rPr>
              <a:t>p_j = e^(a_j) / sum_k e^(a_k)</a:t>
            </a:r>
          </a:p>
          <a:p>
            <a:pPr>
              <a:lnSpc>
                <a:spcPct val="132000"/>
              </a:lnSpc>
              <a:spcBef>
                <a:spcPts val="0"/>
              </a:spcBef>
              <a:spcAft>
                <a:spcPts val="900"/>
              </a:spcAft>
            </a:pPr>
            <a:r>
              <a:rPr sz="1150" b="0" i="0">
                <a:solidFill>
                  <a:srgbClr val="6B6B76"/>
                </a:solidFill>
                <a:latin typeface="Segoe UI"/>
              </a:rPr>
              <a:t>Turns a list of logits into probabilities that sum to exactly 1. Used whenever the model must choose among options, or divide something up. This is the function that makes exact energy conservation possible.</a:t>
            </a:r>
          </a:p>
          <a:p>
            <a:pPr>
              <a:lnSpc>
                <a:spcPct val="115000"/>
              </a:lnSpc>
              <a:spcBef>
                <a:spcPts val="300"/>
              </a:spcBef>
              <a:spcAft>
                <a:spcPts val="100"/>
              </a:spcAft>
            </a:pPr>
            <a:r>
              <a:rPr sz="1250" b="1" i="0">
                <a:solidFill>
                  <a:srgbClr val="16161D"/>
                </a:solidFill>
                <a:latin typeface="Segoe UI"/>
              </a:rPr>
              <a:t>Loss   </a:t>
            </a:r>
            <a:r>
              <a:rPr sz="1100" b="0" i="0">
                <a:solidFill>
                  <a:srgbClr val="2B4C7E"/>
                </a:solidFill>
                <a:latin typeface="Consolas"/>
              </a:rPr>
              <a:t>L</a:t>
            </a:r>
          </a:p>
          <a:p>
            <a:pPr>
              <a:lnSpc>
                <a:spcPct val="132000"/>
              </a:lnSpc>
              <a:spcBef>
                <a:spcPts val="0"/>
              </a:spcBef>
              <a:spcAft>
                <a:spcPts val="900"/>
              </a:spcAft>
            </a:pPr>
            <a:r>
              <a:rPr sz="1150" b="0" i="0">
                <a:solidFill>
                  <a:srgbClr val="6B6B76"/>
                </a:solidFill>
                <a:latin typeface="Segoe UI"/>
              </a:rPr>
              <a:t>A number measuring how badly the model is doing. Training reduces it. Different losses are on different scales, so a loss of 1 in one place means nothing like a loss of 1 elsewhere.</a:t>
            </a:r>
          </a:p>
        </p:txBody>
      </p:sp>
      <p:sp>
        <p:nvSpPr>
          <p:cNvPr id="6" name="TextBox 5"/>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The five ML words you need</a:t>
            </a:r>
          </a:p>
        </p:txBody>
      </p:sp>
      <p:sp>
        <p:nvSpPr>
          <p:cNvPr id="7" name="TextBox 6"/>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STEP 0</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Turning a four-momentum into something learnable</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719072"/>
            <a:ext cx="10454335" cy="1133856"/>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719072"/>
            <a:ext cx="38100" cy="1133856"/>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847088"/>
            <a:ext cx="9978847" cy="914400"/>
          </a:xfrm>
          <a:prstGeom prst="rect">
            <a:avLst/>
          </a:prstGeom>
          <a:noFill/>
        </p:spPr>
        <p:txBody>
          <a:bodyPr wrap="square" lIns="0" rIns="0" tIns="0" bIns="0">
            <a:spAutoFit/>
          </a:bodyPr>
          <a:lstStyle/>
          <a:p>
            <a:pPr>
              <a:lnSpc>
                <a:spcPct val="120000"/>
              </a:lnSpc>
              <a:spcBef>
                <a:spcPts val="0"/>
              </a:spcBef>
              <a:spcAft>
                <a:spcPts val="600"/>
              </a:spcAft>
            </a:pPr>
            <a:r>
              <a:rPr sz="1150" b="1" i="0">
                <a:solidFill>
                  <a:srgbClr val="16161D"/>
                </a:solidFill>
                <a:latin typeface="Segoe UI"/>
              </a:rPr>
              <a:t>How do we present the neutron to the network?</a:t>
            </a:r>
          </a:p>
          <a:p>
            <a:pPr>
              <a:lnSpc>
                <a:spcPct val="120000"/>
              </a:lnSpc>
              <a:spcBef>
                <a:spcPts val="0"/>
              </a:spcBef>
              <a:spcAft>
                <a:spcPts val="500"/>
              </a:spcAft>
            </a:pPr>
            <a:r>
              <a:rPr sz="1250" b="0" i="0">
                <a:solidFill>
                  <a:srgbClr val="2B4C7E"/>
                </a:solidFill>
                <a:latin typeface="Consolas"/>
              </a:rPr>
              <a:t>c_raw = [ log(1 + K/100 GeV),  u_x,  u_y,  u_z,  log(E/1 GeV) ]</a:t>
            </a:r>
          </a:p>
          <a:p>
            <a:pPr>
              <a:lnSpc>
                <a:spcPct val="126000"/>
              </a:lnSpc>
              <a:spcBef>
                <a:spcPts val="0"/>
              </a:spcBef>
              <a:spcAft>
                <a:spcPts val="0"/>
              </a:spcAft>
            </a:pPr>
            <a:r>
              <a:rPr sz="1050" b="0" i="1">
                <a:solidFill>
                  <a:srgbClr val="6B6B76"/>
                </a:solidFill>
                <a:latin typeface="Segoe UI"/>
              </a:rPr>
              <a:t>Five numbers: a compressed energy, the three direction cosines, and a compressed total energy. K is kinetic energy, E is total relativistic energy — the 0-300 GeV range refers to K.</a:t>
            </a:r>
          </a:p>
        </p:txBody>
      </p:sp>
      <p:sp>
        <p:nvSpPr>
          <p:cNvPr id="8" name="TextBox 7"/>
          <p:cNvSpPr txBox="1"/>
          <p:nvPr/>
        </p:nvSpPr>
        <p:spPr>
          <a:xfrm>
            <a:off x="868680" y="3090672"/>
            <a:ext cx="10454335" cy="2990088"/>
          </a:xfrm>
          <a:prstGeom prst="rect">
            <a:avLst/>
          </a:prstGeom>
          <a:noFill/>
        </p:spPr>
        <p:txBody>
          <a:bodyPr wrap="square" lIns="0" rIns="0" tIns="0" bIns="0">
            <a:spAutoFit/>
          </a:bodyPr>
          <a:lstStyle/>
          <a:p>
            <a:pPr>
              <a:lnSpc>
                <a:spcPct val="115000"/>
              </a:lnSpc>
              <a:spcBef>
                <a:spcPts val="0"/>
              </a:spcBef>
              <a:spcAft>
                <a:spcPts val="200"/>
              </a:spcAft>
            </a:pPr>
            <a:r>
              <a:rPr sz="1250" b="1" i="0">
                <a:solidFill>
                  <a:srgbClr val="16161D"/>
                </a:solidFill>
                <a:latin typeface="Segoe UI"/>
              </a:rPr>
              <a:t>Why logarithms</a:t>
            </a:r>
          </a:p>
          <a:p>
            <a:pPr>
              <a:lnSpc>
                <a:spcPct val="134000"/>
              </a:lnSpc>
              <a:spcBef>
                <a:spcPts val="0"/>
              </a:spcBef>
              <a:spcAft>
                <a:spcPts val="1100"/>
              </a:spcAft>
            </a:pPr>
            <a:r>
              <a:rPr sz="1150" b="0" i="0">
                <a:solidFill>
                  <a:srgbClr val="6B6B76"/>
                </a:solidFill>
                <a:latin typeface="Segoe UI"/>
              </a:rPr>
              <a:t>Kinetic energy spans a factor of several hundred. A network handles 'a bit more than average' far better than 'three hundred times bigger'. The logarithm turns a multiplicative range into an additive one. Dividing by an explicit energy scale keeps it dimensionless.</a:t>
            </a:r>
          </a:p>
          <a:p>
            <a:pPr>
              <a:lnSpc>
                <a:spcPct val="115000"/>
              </a:lnSpc>
              <a:spcBef>
                <a:spcPts val="400"/>
              </a:spcBef>
              <a:spcAft>
                <a:spcPts val="200"/>
              </a:spcAft>
            </a:pPr>
            <a:r>
              <a:rPr sz="1250" b="1" i="0">
                <a:solidFill>
                  <a:srgbClr val="16161D"/>
                </a:solidFill>
                <a:latin typeface="Segoe UI"/>
              </a:rPr>
              <a:t>Why direction is kept separate</a:t>
            </a:r>
          </a:p>
          <a:p>
            <a:pPr>
              <a:lnSpc>
                <a:spcPct val="134000"/>
              </a:lnSpc>
              <a:spcBef>
                <a:spcPts val="0"/>
              </a:spcBef>
              <a:spcAft>
                <a:spcPts val="1100"/>
              </a:spcAft>
            </a:pPr>
            <a:r>
              <a:rPr sz="1150" b="0" i="0">
                <a:solidFill>
                  <a:srgbClr val="6B6B76"/>
                </a:solidFill>
                <a:latin typeface="Segoe UI"/>
              </a:rPr>
              <a:t>Splitting momentum into magnitude and direction lets the model learn energy dependence and angular dependence independently, instead of entangling them in three raw components.</a:t>
            </a:r>
          </a:p>
          <a:p>
            <a:pPr>
              <a:lnSpc>
                <a:spcPct val="115000"/>
              </a:lnSpc>
              <a:spcBef>
                <a:spcPts val="400"/>
              </a:spcBef>
              <a:spcAft>
                <a:spcPts val="200"/>
              </a:spcAft>
            </a:pPr>
            <a:r>
              <a:rPr sz="1250" b="1" i="0">
                <a:solidFill>
                  <a:srgbClr val="16161D"/>
                </a:solidFill>
                <a:latin typeface="Segoe UI"/>
              </a:rPr>
              <a:t>What comes out</a:t>
            </a:r>
          </a:p>
          <a:p>
            <a:pPr>
              <a:lnSpc>
                <a:spcPct val="134000"/>
              </a:lnSpc>
              <a:spcBef>
                <a:spcPts val="0"/>
              </a:spcBef>
              <a:spcAft>
                <a:spcPts val="1100"/>
              </a:spcAft>
            </a:pPr>
            <a:r>
              <a:rPr sz="1150" b="0" i="0">
                <a:solidFill>
                  <a:srgbClr val="6B6B76"/>
                </a:solidFill>
                <a:latin typeface="Segoe UI"/>
              </a:rPr>
              <a:t>A small network expands these five numbers into a 128-number summary. It has no target of its own — it learns purely from being useful to every stage downstream.</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Turning a four-momentum into something learnable</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STEPS 1 AND 2</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Did anything happen, and how much?</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719072"/>
            <a:ext cx="10454335" cy="1133856"/>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719072"/>
            <a:ext cx="38100" cy="1133856"/>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847088"/>
            <a:ext cx="9978847" cy="914400"/>
          </a:xfrm>
          <a:prstGeom prst="rect">
            <a:avLst/>
          </a:prstGeom>
          <a:noFill/>
        </p:spPr>
        <p:txBody>
          <a:bodyPr wrap="square" lIns="0" rIns="0" tIns="0" bIns="0">
            <a:spAutoFit/>
          </a:bodyPr>
          <a:lstStyle/>
          <a:p>
            <a:pPr>
              <a:lnSpc>
                <a:spcPct val="120000"/>
              </a:lnSpc>
              <a:spcBef>
                <a:spcPts val="0"/>
              </a:spcBef>
              <a:spcAft>
                <a:spcPts val="600"/>
              </a:spcAft>
            </a:pPr>
            <a:r>
              <a:rPr sz="1150" b="1" i="0">
                <a:solidFill>
                  <a:srgbClr val="16161D"/>
                </a:solidFill>
                <a:latin typeface="Segoe UI"/>
              </a:rPr>
              <a:t>Set the energy budget before spending any of it.</a:t>
            </a:r>
          </a:p>
          <a:p>
            <a:pPr>
              <a:lnSpc>
                <a:spcPct val="120000"/>
              </a:lnSpc>
              <a:spcBef>
                <a:spcPts val="0"/>
              </a:spcBef>
              <a:spcAft>
                <a:spcPts val="500"/>
              </a:spcAft>
            </a:pPr>
            <a:r>
              <a:rPr sz="1250" b="0" i="0">
                <a:solidFill>
                  <a:srgbClr val="2B4C7E"/>
                </a:solidFill>
                <a:latin typeface="Consolas"/>
              </a:rPr>
              <a:t>y = log(1 + T / 10 GeV)   modelled as a mixture of four Gaussians</a:t>
            </a:r>
          </a:p>
          <a:p>
            <a:pPr>
              <a:lnSpc>
                <a:spcPct val="126000"/>
              </a:lnSpc>
              <a:spcBef>
                <a:spcPts val="0"/>
              </a:spcBef>
              <a:spcAft>
                <a:spcPts val="0"/>
              </a:spcAft>
            </a:pPr>
            <a:r>
              <a:rPr sz="1050" b="0" i="1">
                <a:solidFill>
                  <a:srgbClr val="6B6B76"/>
                </a:solidFill>
                <a:latin typeface="Segoe UI"/>
              </a:rPr>
              <a:t>Rather than predicting one number for the total energy T, the model predicts a whole probability distribution for it, then draws from that distribution.</a:t>
            </a:r>
          </a:p>
        </p:txBody>
      </p:sp>
      <p:sp>
        <p:nvSpPr>
          <p:cNvPr id="8" name="TextBox 7"/>
          <p:cNvSpPr txBox="1"/>
          <p:nvPr/>
        </p:nvSpPr>
        <p:spPr>
          <a:xfrm>
            <a:off x="868680" y="3090672"/>
            <a:ext cx="10454335" cy="2355496"/>
          </a:xfrm>
          <a:prstGeom prst="rect">
            <a:avLst/>
          </a:prstGeom>
          <a:noFill/>
        </p:spPr>
        <p:txBody>
          <a:bodyPr wrap="square" lIns="0" rIns="0" tIns="0" bIns="0">
            <a:spAutoFit/>
          </a:bodyPr>
          <a:lstStyle/>
          <a:p>
            <a:pPr>
              <a:lnSpc>
                <a:spcPct val="115000"/>
              </a:lnSpc>
              <a:spcBef>
                <a:spcPts val="0"/>
              </a:spcBef>
              <a:spcAft>
                <a:spcPts val="200"/>
              </a:spcAft>
            </a:pPr>
            <a:r>
              <a:rPr sz="1200" b="1" i="0">
                <a:solidFill>
                  <a:srgbClr val="16161D"/>
                </a:solidFill>
                <a:latin typeface="Segoe UI"/>
              </a:rPr>
              <a:t>The zero-response question first</a:t>
            </a:r>
          </a:p>
          <a:p>
            <a:pPr>
              <a:lnSpc>
                <a:spcPct val="134000"/>
              </a:lnSpc>
              <a:spcBef>
                <a:spcPts val="0"/>
              </a:spcBef>
              <a:spcAft>
                <a:spcPts val="900"/>
              </a:spcAft>
            </a:pPr>
            <a:r>
              <a:rPr sz="1100" b="0" i="0">
                <a:solidFill>
                  <a:srgbClr val="6B6B76"/>
                </a:solidFill>
                <a:latin typeface="Segoe UI"/>
              </a:rPr>
              <a:t>About 1% of events deposit nothing at all. That is a genuine spike at exactly zero, not the low tail of a smooth distribution. The model asks yes/no first, and a 'no' produces an exactly empty event.</a:t>
            </a:r>
          </a:p>
          <a:p>
            <a:pPr>
              <a:lnSpc>
                <a:spcPct val="115000"/>
              </a:lnSpc>
              <a:spcBef>
                <a:spcPts val="400"/>
              </a:spcBef>
              <a:spcAft>
                <a:spcPts val="200"/>
              </a:spcAft>
            </a:pPr>
            <a:r>
              <a:rPr sz="1200" b="1" i="0">
                <a:solidFill>
                  <a:srgbClr val="16161D"/>
                </a:solidFill>
                <a:latin typeface="Segoe UI"/>
              </a:rPr>
              <a:t>Why a mixture, not a single Gaussian</a:t>
            </a:r>
          </a:p>
          <a:p>
            <a:pPr>
              <a:lnSpc>
                <a:spcPct val="134000"/>
              </a:lnSpc>
              <a:spcBef>
                <a:spcPts val="0"/>
              </a:spcBef>
              <a:spcAft>
                <a:spcPts val="900"/>
              </a:spcAft>
            </a:pPr>
            <a:r>
              <a:rPr sz="1100" b="0" i="0">
                <a:solidFill>
                  <a:srgbClr val="6B6B76"/>
                </a:solidFill>
                <a:latin typeface="Segoe UI"/>
              </a:rPr>
              <a:t>A mixture of four bell curves can represent a main response plus a low-response population plus a heavy tail. One Gaussian cannot. The model learns how much weight each component gets and where each sits — different for every incident energy.</a:t>
            </a:r>
          </a:p>
          <a:p>
            <a:pPr>
              <a:lnSpc>
                <a:spcPct val="115000"/>
              </a:lnSpc>
              <a:spcBef>
                <a:spcPts val="400"/>
              </a:spcBef>
              <a:spcAft>
                <a:spcPts val="200"/>
              </a:spcAft>
            </a:pPr>
            <a:r>
              <a:rPr sz="1200" b="1" i="0">
                <a:solidFill>
                  <a:srgbClr val="16161D"/>
                </a:solidFill>
                <a:latin typeface="Segoe UI"/>
              </a:rPr>
              <a:t>What the loss rewards</a:t>
            </a:r>
          </a:p>
          <a:p>
            <a:pPr>
              <a:lnSpc>
                <a:spcPct val="134000"/>
              </a:lnSpc>
              <a:spcBef>
                <a:spcPts val="0"/>
              </a:spcBef>
              <a:spcAft>
                <a:spcPts val="900"/>
              </a:spcAft>
            </a:pPr>
            <a:r>
              <a:rPr sz="1100" b="0" i="0">
                <a:solidFill>
                  <a:srgbClr val="6B6B76"/>
                </a:solidFill>
                <a:latin typeface="Segoe UI"/>
              </a:rPr>
              <a:t>Not closeness to the average. The loss rewards putting high probability density where the real event actually landed. A model that predicts the correct spread scores well even though individual events sit far from the mean — which is exactly what we want from a stochastic surrogate.</a:t>
            </a:r>
          </a:p>
        </p:txBody>
      </p:sp>
      <p:sp>
        <p:nvSpPr>
          <p:cNvPr id="9" name="Rectangle 8"/>
          <p:cNvSpPr/>
          <p:nvPr/>
        </p:nvSpPr>
        <p:spPr>
          <a:xfrm>
            <a:off x="868680" y="5610760"/>
            <a:ext cx="10454335" cy="680312"/>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8680" y="5610760"/>
            <a:ext cx="38100" cy="680312"/>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9848" y="5729632"/>
            <a:ext cx="10051999" cy="497432"/>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A safety cap of min(64.39 GeV, 0.7255 x K) keeps rare extreme draws physical. It is derived from the training split only, and it is a numerical guard rail, not evidence that the response is right.</a:t>
            </a:r>
          </a:p>
        </p:txBody>
      </p:sp>
      <p:sp>
        <p:nvSpPr>
          <p:cNvPr id="12" name="TextBox 11"/>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Did anything happen, and how much?</a:t>
            </a:r>
          </a:p>
        </p:txBody>
      </p:sp>
      <p:sp>
        <p:nvSpPr>
          <p:cNvPr id="13" name="TextBox 12"/>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STEPS 3 AND 4</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Where the shower starts, and which layers are lit</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719072"/>
            <a:ext cx="10454335" cy="1133856"/>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719072"/>
            <a:ext cx="38100" cy="1133856"/>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847088"/>
            <a:ext cx="9978847" cy="914400"/>
          </a:xfrm>
          <a:prstGeom prst="rect">
            <a:avLst/>
          </a:prstGeom>
          <a:noFill/>
        </p:spPr>
        <p:txBody>
          <a:bodyPr wrap="square" lIns="0" rIns="0" tIns="0" bIns="0">
            <a:spAutoFit/>
          </a:bodyPr>
          <a:lstStyle/>
          <a:p>
            <a:pPr>
              <a:lnSpc>
                <a:spcPct val="120000"/>
              </a:lnSpc>
              <a:spcBef>
                <a:spcPts val="0"/>
              </a:spcBef>
              <a:spcAft>
                <a:spcPts val="600"/>
              </a:spcAft>
            </a:pPr>
            <a:r>
              <a:rPr sz="1150" b="1" i="0">
                <a:solidFill>
                  <a:srgbClr val="16161D"/>
                </a:solidFill>
                <a:latin typeface="Segoe UI"/>
              </a:rPr>
              <a:t>A neutron can pass through material before interacting. Where does it begin?</a:t>
            </a:r>
          </a:p>
          <a:p>
            <a:pPr>
              <a:lnSpc>
                <a:spcPct val="120000"/>
              </a:lnSpc>
              <a:spcBef>
                <a:spcPts val="0"/>
              </a:spcBef>
              <a:spcAft>
                <a:spcPts val="500"/>
              </a:spcAft>
            </a:pPr>
            <a:r>
              <a:rPr sz="1250" b="0" i="0">
                <a:solidFill>
                  <a:srgbClr val="2B4C7E"/>
                </a:solidFill>
                <a:latin typeface="Consolas"/>
              </a:rPr>
              <a:t>L_0 ~ Categorical(65 probabilities)      A_l ~ Bernoulli(p_l) for each layer</a:t>
            </a:r>
          </a:p>
          <a:p>
            <a:pPr>
              <a:lnSpc>
                <a:spcPct val="126000"/>
              </a:lnSpc>
              <a:spcBef>
                <a:spcPts val="0"/>
              </a:spcBef>
              <a:spcAft>
                <a:spcPts val="0"/>
              </a:spcAft>
            </a:pPr>
            <a:r>
              <a:rPr sz="1050" b="0" i="1">
                <a:solidFill>
                  <a:srgbClr val="6B6B76"/>
                </a:solidFill>
                <a:latin typeface="Segoe UI"/>
              </a:rPr>
              <a:t>First pick the starting layer out of 65. Then decide independently, for each layer, whether it is active.</a:t>
            </a:r>
          </a:p>
        </p:txBody>
      </p:sp>
      <p:sp>
        <p:nvSpPr>
          <p:cNvPr id="8" name="TextBox 7"/>
          <p:cNvSpPr txBox="1"/>
          <p:nvPr/>
        </p:nvSpPr>
        <p:spPr>
          <a:xfrm>
            <a:off x="868680" y="3090672"/>
            <a:ext cx="10454335" cy="2990088"/>
          </a:xfrm>
          <a:prstGeom prst="rect">
            <a:avLst/>
          </a:prstGeom>
          <a:noFill/>
        </p:spPr>
        <p:txBody>
          <a:bodyPr wrap="square" lIns="0" rIns="0" tIns="0" bIns="0">
            <a:spAutoFit/>
          </a:bodyPr>
          <a:lstStyle/>
          <a:p>
            <a:pPr>
              <a:lnSpc>
                <a:spcPct val="115000"/>
              </a:lnSpc>
              <a:spcBef>
                <a:spcPts val="0"/>
              </a:spcBef>
              <a:spcAft>
                <a:spcPts val="200"/>
              </a:spcAft>
            </a:pPr>
            <a:r>
              <a:rPr sz="1250" b="1" i="0">
                <a:solidFill>
                  <a:srgbClr val="16161D"/>
                </a:solidFill>
                <a:latin typeface="Segoe UI"/>
              </a:rPr>
              <a:t>Why the start is its own variable</a:t>
            </a:r>
          </a:p>
          <a:p>
            <a:pPr>
              <a:lnSpc>
                <a:spcPct val="134000"/>
              </a:lnSpc>
              <a:spcBef>
                <a:spcPts val="0"/>
              </a:spcBef>
              <a:spcAft>
                <a:spcPts val="1100"/>
              </a:spcAft>
            </a:pPr>
            <a:r>
              <a:rPr sz="1150" b="0" i="0">
                <a:solidFill>
                  <a:srgbClr val="6B6B76"/>
                </a:solidFill>
                <a:latin typeface="Segoe UI"/>
              </a:rPr>
              <a:t>Without it, the model could produce an incoherent event — 'the shower starts at layer 20' while layer 4 also has energy. Generating the start explicitly lets the code enforce a hard rule: every layer before the start is switched off, and the starting layer is switched on.</a:t>
            </a:r>
          </a:p>
          <a:p>
            <a:pPr>
              <a:lnSpc>
                <a:spcPct val="115000"/>
              </a:lnSpc>
              <a:spcBef>
                <a:spcPts val="400"/>
              </a:spcBef>
              <a:spcAft>
                <a:spcPts val="200"/>
              </a:spcAft>
            </a:pPr>
            <a:r>
              <a:rPr sz="1250" b="1" i="0">
                <a:solidFill>
                  <a:srgbClr val="16161D"/>
                </a:solidFill>
                <a:latin typeface="Segoe UI"/>
              </a:rPr>
              <a:t>Why activity is separate from the start</a:t>
            </a:r>
          </a:p>
          <a:p>
            <a:pPr>
              <a:lnSpc>
                <a:spcPct val="134000"/>
              </a:lnSpc>
              <a:spcBef>
                <a:spcPts val="0"/>
              </a:spcBef>
              <a:spcAft>
                <a:spcPts val="1100"/>
              </a:spcAft>
            </a:pPr>
            <a:r>
              <a:rPr sz="1150" b="0" i="0">
                <a:solidFill>
                  <a:srgbClr val="6B6B76"/>
                </a:solidFill>
                <a:latin typeface="Segoe UI"/>
              </a:rPr>
              <a:t>Showers are not simple blocks. They can have gaps, restart from a late secondary interaction, or stop before the detector ends. The activity flags let the model express that; the code only enforces the rules that are physically required.</a:t>
            </a:r>
          </a:p>
          <a:p>
            <a:pPr>
              <a:lnSpc>
                <a:spcPct val="115000"/>
              </a:lnSpc>
              <a:spcBef>
                <a:spcPts val="400"/>
              </a:spcBef>
              <a:spcAft>
                <a:spcPts val="200"/>
              </a:spcAft>
            </a:pPr>
            <a:r>
              <a:rPr sz="1250" b="1" i="0">
                <a:solidFill>
                  <a:srgbClr val="16161D"/>
                </a:solidFill>
                <a:latin typeface="Segoe UI"/>
              </a:rPr>
              <a:t>Rules the code enforces, not learns</a:t>
            </a:r>
          </a:p>
          <a:p>
            <a:pPr>
              <a:lnSpc>
                <a:spcPct val="134000"/>
              </a:lnSpc>
              <a:spcBef>
                <a:spcPts val="0"/>
              </a:spcBef>
              <a:spcAft>
                <a:spcPts val="1100"/>
              </a:spcAft>
            </a:pPr>
            <a:r>
              <a:rPr sz="1150" b="0" i="0">
                <a:solidFill>
                  <a:srgbClr val="6B6B76"/>
                </a:solidFill>
                <a:latin typeface="Segoe UI"/>
              </a:rPr>
              <a:t>No activity before the start. The starting layer is always on. If the event is invisible, nothing is on. Everything else is left to the model.</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Where the shower starts, and which layers are lit</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STEP 5</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Splitting the budget along the shower</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719072"/>
            <a:ext cx="10454335" cy="1133856"/>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719072"/>
            <a:ext cx="38100" cy="1133856"/>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847088"/>
            <a:ext cx="9978847" cy="914400"/>
          </a:xfrm>
          <a:prstGeom prst="rect">
            <a:avLst/>
          </a:prstGeom>
          <a:noFill/>
        </p:spPr>
        <p:txBody>
          <a:bodyPr wrap="square" lIns="0" rIns="0" tIns="0" bIns="0">
            <a:spAutoFit/>
          </a:bodyPr>
          <a:lstStyle/>
          <a:p>
            <a:pPr>
              <a:lnSpc>
                <a:spcPct val="120000"/>
              </a:lnSpc>
              <a:spcBef>
                <a:spcPts val="0"/>
              </a:spcBef>
              <a:spcAft>
                <a:spcPts val="600"/>
              </a:spcAft>
            </a:pPr>
            <a:r>
              <a:rPr sz="1150" b="1" i="0">
                <a:solidFill>
                  <a:srgbClr val="16161D"/>
                </a:solidFill>
                <a:latin typeface="Segoe UI"/>
              </a:rPr>
              <a:t>How does the total energy distribute across the active layers?</a:t>
            </a:r>
          </a:p>
          <a:p>
            <a:pPr>
              <a:lnSpc>
                <a:spcPct val="120000"/>
              </a:lnSpc>
              <a:spcBef>
                <a:spcPts val="0"/>
              </a:spcBef>
              <a:spcAft>
                <a:spcPts val="500"/>
              </a:spcAft>
            </a:pPr>
            <a:r>
              <a:rPr sz="1250" b="0" i="0">
                <a:solidFill>
                  <a:srgbClr val="2B4C7E"/>
                </a:solidFill>
                <a:latin typeface="Consolas"/>
              </a:rPr>
              <a:t>x_t = (1-t) * noise + t * target        network learns  velocity = target - noise</a:t>
            </a:r>
          </a:p>
          <a:p>
            <a:pPr>
              <a:lnSpc>
                <a:spcPct val="126000"/>
              </a:lnSpc>
              <a:spcBef>
                <a:spcPts val="0"/>
              </a:spcBef>
              <a:spcAft>
                <a:spcPts val="0"/>
              </a:spcAft>
            </a:pPr>
            <a:r>
              <a:rPr sz="1050" b="0" i="1">
                <a:solidFill>
                  <a:srgbClr val="6B6B76"/>
                </a:solidFill>
                <a:latin typeface="Segoe UI"/>
              </a:rPr>
              <a:t>This is flow matching. Draw a straight line from random noise to the real answer, and teach the network which direction to travel at any point on that line.</a:t>
            </a:r>
          </a:p>
        </p:txBody>
      </p:sp>
      <p:sp>
        <p:nvSpPr>
          <p:cNvPr id="8" name="TextBox 7"/>
          <p:cNvSpPr txBox="1"/>
          <p:nvPr/>
        </p:nvSpPr>
        <p:spPr>
          <a:xfrm>
            <a:off x="868680" y="3090672"/>
            <a:ext cx="10454335" cy="2355496"/>
          </a:xfrm>
          <a:prstGeom prst="rect">
            <a:avLst/>
          </a:prstGeom>
          <a:noFill/>
        </p:spPr>
        <p:txBody>
          <a:bodyPr wrap="square" lIns="0" rIns="0" tIns="0" bIns="0">
            <a:spAutoFit/>
          </a:bodyPr>
          <a:lstStyle/>
          <a:p>
            <a:pPr>
              <a:lnSpc>
                <a:spcPct val="115000"/>
              </a:lnSpc>
              <a:spcBef>
                <a:spcPts val="0"/>
              </a:spcBef>
              <a:spcAft>
                <a:spcPts val="200"/>
              </a:spcAft>
            </a:pPr>
            <a:r>
              <a:rPr sz="1200" b="1" i="0">
                <a:solidFill>
                  <a:srgbClr val="16161D"/>
                </a:solidFill>
                <a:latin typeface="Segoe UI"/>
              </a:rPr>
              <a:t>What flow matching actually does</a:t>
            </a:r>
          </a:p>
          <a:p>
            <a:pPr>
              <a:lnSpc>
                <a:spcPct val="134000"/>
              </a:lnSpc>
              <a:spcBef>
                <a:spcPts val="0"/>
              </a:spcBef>
              <a:spcAft>
                <a:spcPts val="900"/>
              </a:spcAft>
            </a:pPr>
            <a:r>
              <a:rPr sz="1100" b="0" i="0">
                <a:solidFill>
                  <a:srgbClr val="6B6B76"/>
                </a:solidFill>
                <a:latin typeface="Segoe UI"/>
              </a:rPr>
              <a:t>At generation time the model starts from pure noise and takes 8 small steps, each time asking the network 'which way from here?'. After 8 steps the noise has been carried into a realistic longitudinal profile. It is the same family of method as diffusion models, in a simpler and faster form.</a:t>
            </a:r>
          </a:p>
          <a:p>
            <a:pPr>
              <a:lnSpc>
                <a:spcPct val="115000"/>
              </a:lnSpc>
              <a:spcBef>
                <a:spcPts val="400"/>
              </a:spcBef>
              <a:spcAft>
                <a:spcPts val="200"/>
              </a:spcAft>
            </a:pPr>
            <a:r>
              <a:rPr sz="1200" b="1" i="0">
                <a:solidFill>
                  <a:srgbClr val="16161D"/>
                </a:solidFill>
                <a:latin typeface="Segoe UI"/>
              </a:rPr>
              <a:t>Why not just predict the 65 energies</a:t>
            </a:r>
          </a:p>
          <a:p>
            <a:pPr>
              <a:lnSpc>
                <a:spcPct val="134000"/>
              </a:lnSpc>
              <a:spcBef>
                <a:spcPts val="0"/>
              </a:spcBef>
              <a:spcAft>
                <a:spcPts val="900"/>
              </a:spcAft>
            </a:pPr>
            <a:r>
              <a:rPr sz="1100" b="0" i="0">
                <a:solidFill>
                  <a:srgbClr val="6B6B76"/>
                </a:solidFill>
                <a:latin typeface="Segoe UI"/>
              </a:rPr>
              <a:t>Because there is no single right answer. Flow matching learns the whole distribution of profile shapes, so repeated draws give genuinely different but plausible showers.</a:t>
            </a:r>
          </a:p>
          <a:p>
            <a:pPr>
              <a:lnSpc>
                <a:spcPct val="115000"/>
              </a:lnSpc>
              <a:spcBef>
                <a:spcPts val="400"/>
              </a:spcBef>
              <a:spcAft>
                <a:spcPts val="200"/>
              </a:spcAft>
            </a:pPr>
            <a:r>
              <a:rPr sz="1200" b="1" i="0">
                <a:solidFill>
                  <a:srgbClr val="16161D"/>
                </a:solidFill>
                <a:latin typeface="Segoe UI"/>
              </a:rPr>
              <a:t>The conservation trick</a:t>
            </a:r>
          </a:p>
          <a:p>
            <a:pPr>
              <a:lnSpc>
                <a:spcPct val="134000"/>
              </a:lnSpc>
              <a:spcBef>
                <a:spcPts val="0"/>
              </a:spcBef>
              <a:spcAft>
                <a:spcPts val="900"/>
              </a:spcAft>
            </a:pPr>
            <a:r>
              <a:rPr sz="1100" b="0" i="0">
                <a:solidFill>
                  <a:srgbClr val="6B6B76"/>
                </a:solidFill>
                <a:latin typeface="Segoe UI"/>
              </a:rPr>
              <a:t>The network's output is passed through a softmax over active layers, giving fractions that sum to exactly 1. Multiply by the budget and the layer energies sum to the budget exactly — not approximately, exactly, by construction.</a:t>
            </a:r>
          </a:p>
        </p:txBody>
      </p:sp>
      <p:sp>
        <p:nvSpPr>
          <p:cNvPr id="9" name="Rectangle 8"/>
          <p:cNvSpPr/>
          <p:nvPr/>
        </p:nvSpPr>
        <p:spPr>
          <a:xfrm>
            <a:off x="868680" y="5610760"/>
            <a:ext cx="10454335" cy="680312"/>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8680" y="5610760"/>
            <a:ext cx="38100" cy="680312"/>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9848" y="5729632"/>
            <a:ext cx="10051999" cy="497432"/>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A common misconception: layer energies are NOT forced to decrease with depth. A shower can grow, peak, and fall. What decreases is the unspent budget.</a:t>
            </a:r>
          </a:p>
        </p:txBody>
      </p:sp>
      <p:sp>
        <p:nvSpPr>
          <p:cNvPr id="12" name="TextBox 11"/>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Splitting the budget along the shower</a:t>
            </a:r>
          </a:p>
        </p:txBody>
      </p:sp>
      <p:sp>
        <p:nvSpPr>
          <p:cNvPr id="13" name="TextBox 12"/>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STEP 6</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How many cells light up in each layer</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719072"/>
            <a:ext cx="10454335" cy="1133856"/>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719072"/>
            <a:ext cx="38100" cy="1133856"/>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847088"/>
            <a:ext cx="9978847" cy="914400"/>
          </a:xfrm>
          <a:prstGeom prst="rect">
            <a:avLst/>
          </a:prstGeom>
          <a:noFill/>
        </p:spPr>
        <p:txBody>
          <a:bodyPr wrap="square" lIns="0" rIns="0" tIns="0" bIns="0">
            <a:spAutoFit/>
          </a:bodyPr>
          <a:lstStyle/>
          <a:p>
            <a:pPr>
              <a:lnSpc>
                <a:spcPct val="120000"/>
              </a:lnSpc>
              <a:spcBef>
                <a:spcPts val="0"/>
              </a:spcBef>
              <a:spcAft>
                <a:spcPts val="600"/>
              </a:spcAft>
            </a:pPr>
            <a:r>
              <a:rPr sz="1150" b="1" i="0">
                <a:solidFill>
                  <a:srgbClr val="16161D"/>
                </a:solidFill>
                <a:latin typeface="Segoe UI"/>
              </a:rPr>
              <a:t>Decide the sparsity explicitly, before choosing any cell.</a:t>
            </a:r>
          </a:p>
          <a:p>
            <a:pPr>
              <a:lnSpc>
                <a:spcPct val="120000"/>
              </a:lnSpc>
              <a:spcBef>
                <a:spcPts val="0"/>
              </a:spcBef>
              <a:spcAft>
                <a:spcPts val="500"/>
              </a:spcAft>
            </a:pPr>
            <a:r>
              <a:rPr sz="1250" b="0" i="0">
                <a:solidFill>
                  <a:srgbClr val="2B4C7E"/>
                </a:solidFill>
                <a:latin typeface="Consolas"/>
              </a:rPr>
              <a:t>K_l ~ Categorical over {0, 1, ..., N_l}</a:t>
            </a:r>
          </a:p>
          <a:p>
            <a:pPr>
              <a:lnSpc>
                <a:spcPct val="126000"/>
              </a:lnSpc>
              <a:spcBef>
                <a:spcPts val="0"/>
              </a:spcBef>
              <a:spcAft>
                <a:spcPts val="0"/>
              </a:spcAft>
            </a:pPr>
            <a:r>
              <a:rPr sz="1050" b="0" i="1">
                <a:solidFill>
                  <a:srgbClr val="6B6B76"/>
                </a:solidFill>
                <a:latin typeface="Segoe UI"/>
              </a:rPr>
              <a:t>For each layer, pick a whole number of cells to light up, from zero up to the number of cells that layer physically has.</a:t>
            </a:r>
          </a:p>
        </p:txBody>
      </p:sp>
      <p:sp>
        <p:nvSpPr>
          <p:cNvPr id="8" name="TextBox 7"/>
          <p:cNvSpPr txBox="1"/>
          <p:nvPr/>
        </p:nvSpPr>
        <p:spPr>
          <a:xfrm>
            <a:off x="868680" y="3090672"/>
            <a:ext cx="10454335" cy="2990088"/>
          </a:xfrm>
          <a:prstGeom prst="rect">
            <a:avLst/>
          </a:prstGeom>
          <a:noFill/>
        </p:spPr>
        <p:txBody>
          <a:bodyPr wrap="square" lIns="0" rIns="0" tIns="0" bIns="0">
            <a:spAutoFit/>
          </a:bodyPr>
          <a:lstStyle/>
          <a:p>
            <a:pPr>
              <a:lnSpc>
                <a:spcPct val="115000"/>
              </a:lnSpc>
              <a:spcBef>
                <a:spcPts val="0"/>
              </a:spcBef>
              <a:spcAft>
                <a:spcPts val="200"/>
              </a:spcAft>
            </a:pPr>
            <a:r>
              <a:rPr sz="1250" b="1" i="0">
                <a:solidFill>
                  <a:srgbClr val="16161D"/>
                </a:solidFill>
                <a:latin typeface="Segoe UI"/>
              </a:rPr>
              <a:t>Why count first, then choose</a:t>
            </a:r>
          </a:p>
          <a:p>
            <a:pPr>
              <a:lnSpc>
                <a:spcPct val="134000"/>
              </a:lnSpc>
              <a:spcBef>
                <a:spcPts val="0"/>
              </a:spcBef>
              <a:spcAft>
                <a:spcPts val="1100"/>
              </a:spcAft>
            </a:pPr>
            <a:r>
              <a:rPr sz="1150" b="0" i="0">
                <a:solidFill>
                  <a:srgbClr val="6B6B76"/>
                </a:solidFill>
                <a:latin typeface="Segoe UI"/>
              </a:rPr>
              <a:t>If the model instead decided cell-by-cell whether each of 6,790 cells was hit, tiny errors across thousands of independent decisions would compound into badly wrong hit counts. Fixing the count first makes the number of hits exactly controllable.</a:t>
            </a:r>
          </a:p>
          <a:p>
            <a:pPr>
              <a:lnSpc>
                <a:spcPct val="115000"/>
              </a:lnSpc>
              <a:spcBef>
                <a:spcPts val="400"/>
              </a:spcBef>
              <a:spcAft>
                <a:spcPts val="200"/>
              </a:spcAft>
            </a:pPr>
            <a:r>
              <a:rPr sz="1250" b="1" i="0">
                <a:solidFill>
                  <a:srgbClr val="16161D"/>
                </a:solidFill>
                <a:latin typeface="Segoe UI"/>
              </a:rPr>
              <a:t>Why a free categorical distribution</a:t>
            </a:r>
          </a:p>
          <a:p>
            <a:pPr>
              <a:lnSpc>
                <a:spcPct val="134000"/>
              </a:lnSpc>
              <a:spcBef>
                <a:spcPts val="0"/>
              </a:spcBef>
              <a:spcAft>
                <a:spcPts val="1100"/>
              </a:spcAft>
            </a:pPr>
            <a:r>
              <a:rPr sz="1150" b="0" i="0">
                <a:solidFill>
                  <a:srgbClr val="6B6B76"/>
                </a:solidFill>
                <a:latin typeface="Segoe UI"/>
              </a:rPr>
              <a:t>A Poisson distribution would force the variance to equal the mean. Real hit counts do not obey that. Letting the model learn an arbitrary distribution over counts lets it match whatever spread the data actually has.</a:t>
            </a:r>
          </a:p>
          <a:p>
            <a:pPr>
              <a:lnSpc>
                <a:spcPct val="115000"/>
              </a:lnSpc>
              <a:spcBef>
                <a:spcPts val="400"/>
              </a:spcBef>
              <a:spcAft>
                <a:spcPts val="200"/>
              </a:spcAft>
            </a:pPr>
            <a:r>
              <a:rPr sz="1250" b="1" i="0">
                <a:solidFill>
                  <a:srgbClr val="16161D"/>
                </a:solidFill>
                <a:latin typeface="Segoe UI"/>
              </a:rPr>
              <a:t>Keeping the easy cases from dominating</a:t>
            </a:r>
          </a:p>
          <a:p>
            <a:pPr>
              <a:lnSpc>
                <a:spcPct val="134000"/>
              </a:lnSpc>
              <a:spcBef>
                <a:spcPts val="0"/>
              </a:spcBef>
              <a:spcAft>
                <a:spcPts val="1100"/>
              </a:spcAft>
            </a:pPr>
            <a:r>
              <a:rPr sz="1150" b="0" i="0">
                <a:solidFill>
                  <a:srgbClr val="6B6B76"/>
                </a:solidFill>
                <a:latin typeface="Segoe UI"/>
              </a:rPr>
              <a:t>Most layers are inactive with a count of zero — an easy answer that would otherwise swamp the training signal. Inactive layers are kept but down-weighted to one fifth, so the model still learns them without being dominated by them.</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How many cells light up in each layer</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STEP 7</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Which cells, exactly</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719072"/>
            <a:ext cx="10454335" cy="1133856"/>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719072"/>
            <a:ext cx="38100" cy="1133856"/>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847088"/>
            <a:ext cx="9978847" cy="914400"/>
          </a:xfrm>
          <a:prstGeom prst="rect">
            <a:avLst/>
          </a:prstGeom>
          <a:noFill/>
        </p:spPr>
        <p:txBody>
          <a:bodyPr wrap="square" lIns="0" rIns="0" tIns="0" bIns="0">
            <a:spAutoFit/>
          </a:bodyPr>
          <a:lstStyle/>
          <a:p>
            <a:pPr>
              <a:lnSpc>
                <a:spcPct val="120000"/>
              </a:lnSpc>
              <a:spcBef>
                <a:spcPts val="0"/>
              </a:spcBef>
              <a:spcAft>
                <a:spcPts val="600"/>
              </a:spcAft>
            </a:pPr>
            <a:r>
              <a:rPr sz="1150" b="1" i="0">
                <a:solidFill>
                  <a:srgbClr val="16161D"/>
                </a:solidFill>
                <a:latin typeface="Segoe UI"/>
              </a:rPr>
              <a:t>Given that this layer lights up K cells, which K?</a:t>
            </a:r>
          </a:p>
          <a:p>
            <a:pPr>
              <a:lnSpc>
                <a:spcPct val="120000"/>
              </a:lnSpc>
              <a:spcBef>
                <a:spcPts val="0"/>
              </a:spcBef>
              <a:spcAft>
                <a:spcPts val="500"/>
              </a:spcAft>
            </a:pPr>
            <a:r>
              <a:rPr sz="1250" b="0" i="0">
                <a:solidFill>
                  <a:srgbClr val="2B4C7E"/>
                </a:solidFill>
                <a:latin typeface="Consolas"/>
              </a:rPr>
              <a:t>score_i = logit_i + Gumbel noise        take the K highest scores</a:t>
            </a:r>
          </a:p>
          <a:p>
            <a:pPr>
              <a:lnSpc>
                <a:spcPct val="126000"/>
              </a:lnSpc>
              <a:spcBef>
                <a:spcPts val="0"/>
              </a:spcBef>
              <a:spcAft>
                <a:spcPts val="0"/>
              </a:spcAft>
            </a:pPr>
            <a:r>
              <a:rPr sz="1050" b="0" i="1">
                <a:solidFill>
                  <a:srgbClr val="6B6B76"/>
                </a:solidFill>
                <a:latin typeface="Segoe UI"/>
              </a:rPr>
              <a:t>The network scores every cell using detector geometry. Random noise is added to each score, then the top K are selected. The noise is what makes repeated draws different.</a:t>
            </a:r>
          </a:p>
        </p:txBody>
      </p:sp>
      <p:sp>
        <p:nvSpPr>
          <p:cNvPr id="8" name="TextBox 7"/>
          <p:cNvSpPr txBox="1"/>
          <p:nvPr/>
        </p:nvSpPr>
        <p:spPr>
          <a:xfrm>
            <a:off x="868680" y="3090672"/>
            <a:ext cx="10454335" cy="2990088"/>
          </a:xfrm>
          <a:prstGeom prst="rect">
            <a:avLst/>
          </a:prstGeom>
          <a:noFill/>
        </p:spPr>
        <p:txBody>
          <a:bodyPr wrap="square" lIns="0" rIns="0" tIns="0" bIns="0">
            <a:spAutoFit/>
          </a:bodyPr>
          <a:lstStyle/>
          <a:p>
            <a:pPr>
              <a:lnSpc>
                <a:spcPct val="115000"/>
              </a:lnSpc>
              <a:spcBef>
                <a:spcPts val="0"/>
              </a:spcBef>
              <a:spcAft>
                <a:spcPts val="200"/>
              </a:spcAft>
            </a:pPr>
            <a:r>
              <a:rPr sz="1250" b="1" i="0">
                <a:solidFill>
                  <a:srgbClr val="16161D"/>
                </a:solidFill>
                <a:latin typeface="Segoe UI"/>
              </a:rPr>
              <a:t>Why a graph network here</a:t>
            </a:r>
          </a:p>
          <a:p>
            <a:pPr>
              <a:lnSpc>
                <a:spcPct val="134000"/>
              </a:lnSpc>
              <a:spcBef>
                <a:spcPts val="0"/>
              </a:spcBef>
              <a:spcAft>
                <a:spcPts val="1100"/>
              </a:spcAft>
            </a:pPr>
            <a:r>
              <a:rPr sz="1150" b="0" i="0">
                <a:solidFill>
                  <a:srgbClr val="6B6B76"/>
                </a:solidFill>
                <a:latin typeface="Segoe UI"/>
              </a:rPr>
              <a:t>Whether a cell is hit depends on its neighbours — showers are spatially coherent, not independent cell coin-flips. Each cell exchanges information with its geometric neighbours through the frozen graph, three times, so its score reflects its surroundings.</a:t>
            </a:r>
          </a:p>
          <a:p>
            <a:pPr>
              <a:lnSpc>
                <a:spcPct val="115000"/>
              </a:lnSpc>
              <a:spcBef>
                <a:spcPts val="400"/>
              </a:spcBef>
              <a:spcAft>
                <a:spcPts val="200"/>
              </a:spcAft>
            </a:pPr>
            <a:r>
              <a:rPr sz="1250" b="1" i="0">
                <a:solidFill>
                  <a:srgbClr val="16161D"/>
                </a:solidFill>
                <a:latin typeface="Segoe UI"/>
              </a:rPr>
              <a:t>Why a Transformer on top</a:t>
            </a:r>
          </a:p>
          <a:p>
            <a:pPr>
              <a:lnSpc>
                <a:spcPct val="134000"/>
              </a:lnSpc>
              <a:spcBef>
                <a:spcPts val="0"/>
              </a:spcBef>
              <a:spcAft>
                <a:spcPts val="1100"/>
              </a:spcAft>
            </a:pPr>
            <a:r>
              <a:rPr sz="1150" b="0" i="0">
                <a:solidFill>
                  <a:srgbClr val="6B6B76"/>
                </a:solidFill>
                <a:latin typeface="Segoe UI"/>
              </a:rPr>
              <a:t>Local message passing spreads information slowly. Summarising each of the 65 layers and letting those summaries talk to each other gives every cell global context about the shape of the whole shower in one shot.</a:t>
            </a:r>
          </a:p>
          <a:p>
            <a:pPr>
              <a:lnSpc>
                <a:spcPct val="115000"/>
              </a:lnSpc>
              <a:spcBef>
                <a:spcPts val="400"/>
              </a:spcBef>
              <a:spcAft>
                <a:spcPts val="200"/>
              </a:spcAft>
            </a:pPr>
            <a:r>
              <a:rPr sz="1250" b="1" i="0">
                <a:solidFill>
                  <a:srgbClr val="16161D"/>
                </a:solidFill>
                <a:latin typeface="Segoe UI"/>
              </a:rPr>
              <a:t>Why add noise at all</a:t>
            </a:r>
          </a:p>
          <a:p>
            <a:pPr>
              <a:lnSpc>
                <a:spcPct val="134000"/>
              </a:lnSpc>
              <a:spcBef>
                <a:spcPts val="0"/>
              </a:spcBef>
              <a:spcAft>
                <a:spcPts val="1100"/>
              </a:spcAft>
            </a:pPr>
            <a:r>
              <a:rPr sz="1150" b="0" i="0">
                <a:solidFill>
                  <a:srgbClr val="6B6B76"/>
                </a:solidFill>
                <a:latin typeface="Segoe UI"/>
              </a:rPr>
              <a:t>Without it, the same neutron would always light the same cells and the surrogate would not be stochastic. The noise is what turns a ranking into a sample. Its size matters a great deal — we return to this at the end of the deck.</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Which cells, exactly</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STEP 8</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Splitting each layer's energy between its cells</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719072"/>
            <a:ext cx="10454335" cy="1133856"/>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68680" y="1719072"/>
            <a:ext cx="38100" cy="1133856"/>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1847088"/>
            <a:ext cx="9978847" cy="914400"/>
          </a:xfrm>
          <a:prstGeom prst="rect">
            <a:avLst/>
          </a:prstGeom>
          <a:noFill/>
        </p:spPr>
        <p:txBody>
          <a:bodyPr wrap="square" lIns="0" rIns="0" tIns="0" bIns="0">
            <a:spAutoFit/>
          </a:bodyPr>
          <a:lstStyle/>
          <a:p>
            <a:pPr>
              <a:lnSpc>
                <a:spcPct val="120000"/>
              </a:lnSpc>
              <a:spcBef>
                <a:spcPts val="0"/>
              </a:spcBef>
              <a:spcAft>
                <a:spcPts val="600"/>
              </a:spcAft>
            </a:pPr>
            <a:r>
              <a:rPr sz="1150" b="1" i="0">
                <a:solidFill>
                  <a:srgbClr val="16161D"/>
                </a:solidFill>
                <a:latin typeface="Segoe UI"/>
              </a:rPr>
              <a:t>The cells are chosen. How much energy does each one get?</a:t>
            </a:r>
          </a:p>
          <a:p>
            <a:pPr>
              <a:lnSpc>
                <a:spcPct val="120000"/>
              </a:lnSpc>
              <a:spcBef>
                <a:spcPts val="0"/>
              </a:spcBef>
              <a:spcAft>
                <a:spcPts val="500"/>
              </a:spcAft>
            </a:pPr>
            <a:r>
              <a:rPr sz="1250" b="0" i="0">
                <a:solidFill>
                  <a:srgbClr val="2B4C7E"/>
                </a:solidFill>
                <a:latin typeface="Consolas"/>
              </a:rPr>
              <a:t>shares = softmax(network output over the selected cells)</a:t>
            </a:r>
          </a:p>
          <a:p>
            <a:pPr>
              <a:lnSpc>
                <a:spcPct val="126000"/>
              </a:lnSpc>
              <a:spcBef>
                <a:spcPts val="0"/>
              </a:spcBef>
              <a:spcAft>
                <a:spcPts val="0"/>
              </a:spcAft>
            </a:pPr>
            <a:r>
              <a:rPr sz="1050" b="0" i="1">
                <a:solidFill>
                  <a:srgbClr val="6B6B76"/>
                </a:solidFill>
                <a:latin typeface="Segoe UI"/>
              </a:rPr>
              <a:t>A second flow-matching network produces one number per selected cell. Softmax turns those into positive fractions that sum to exactly 1.</a:t>
            </a:r>
          </a:p>
        </p:txBody>
      </p:sp>
      <p:sp>
        <p:nvSpPr>
          <p:cNvPr id="8" name="TextBox 7"/>
          <p:cNvSpPr txBox="1"/>
          <p:nvPr/>
        </p:nvSpPr>
        <p:spPr>
          <a:xfrm>
            <a:off x="868680" y="3090672"/>
            <a:ext cx="10454335" cy="2990088"/>
          </a:xfrm>
          <a:prstGeom prst="rect">
            <a:avLst/>
          </a:prstGeom>
          <a:noFill/>
        </p:spPr>
        <p:txBody>
          <a:bodyPr wrap="square" lIns="0" rIns="0" tIns="0" bIns="0">
            <a:spAutoFit/>
          </a:bodyPr>
          <a:lstStyle/>
          <a:p>
            <a:pPr>
              <a:lnSpc>
                <a:spcPct val="115000"/>
              </a:lnSpc>
              <a:spcBef>
                <a:spcPts val="0"/>
              </a:spcBef>
              <a:spcAft>
                <a:spcPts val="200"/>
              </a:spcAft>
            </a:pPr>
            <a:r>
              <a:rPr sz="1250" b="1" i="0">
                <a:solidFill>
                  <a:srgbClr val="16161D"/>
                </a:solidFill>
                <a:latin typeface="Segoe UI"/>
              </a:rPr>
              <a:t>Why this is a separate stage</a:t>
            </a:r>
          </a:p>
          <a:p>
            <a:pPr>
              <a:lnSpc>
                <a:spcPct val="134000"/>
              </a:lnSpc>
              <a:spcBef>
                <a:spcPts val="0"/>
              </a:spcBef>
              <a:spcAft>
                <a:spcPts val="1100"/>
              </a:spcAft>
            </a:pPr>
            <a:r>
              <a:rPr sz="1150" b="0" i="0">
                <a:solidFill>
                  <a:srgbClr val="6B6B76"/>
                </a:solidFill>
                <a:latin typeface="Segoe UI"/>
              </a:rPr>
              <a:t>Choosing which cells are hit and deciding how uneven the energy is are different physical questions. Keeping them apart stops the magnitude of the energy from interfering with the sparse selection.</a:t>
            </a:r>
          </a:p>
          <a:p>
            <a:pPr>
              <a:lnSpc>
                <a:spcPct val="115000"/>
              </a:lnSpc>
              <a:spcBef>
                <a:spcPts val="400"/>
              </a:spcBef>
              <a:spcAft>
                <a:spcPts val="200"/>
              </a:spcAft>
            </a:pPr>
            <a:r>
              <a:rPr sz="1250" b="1" i="0">
                <a:solidFill>
                  <a:srgbClr val="16161D"/>
                </a:solidFill>
                <a:latin typeface="Segoe UI"/>
              </a:rPr>
              <a:t>What it controls</a:t>
            </a:r>
          </a:p>
          <a:p>
            <a:pPr>
              <a:lnSpc>
                <a:spcPct val="134000"/>
              </a:lnSpc>
              <a:spcBef>
                <a:spcPts val="0"/>
              </a:spcBef>
              <a:spcAft>
                <a:spcPts val="1100"/>
              </a:spcAft>
            </a:pPr>
            <a:r>
              <a:rPr sz="1150" b="0" i="0">
                <a:solidFill>
                  <a:srgbClr val="6B6B76"/>
                </a:solidFill>
                <a:latin typeface="Segoe UI"/>
              </a:rPr>
              <a:t>This stage decides whether a layer's energy sits mostly in one hot core cell or is spread evenly across all of them. That makes it directly responsible for how concentrated a shower looks — which will matter when we get to the results.</a:t>
            </a:r>
          </a:p>
          <a:p>
            <a:pPr>
              <a:lnSpc>
                <a:spcPct val="115000"/>
              </a:lnSpc>
              <a:spcBef>
                <a:spcPts val="400"/>
              </a:spcBef>
              <a:spcAft>
                <a:spcPts val="200"/>
              </a:spcAft>
            </a:pPr>
            <a:r>
              <a:rPr sz="1250" b="1" i="0">
                <a:solidFill>
                  <a:srgbClr val="16161D"/>
                </a:solidFill>
                <a:latin typeface="Segoe UI"/>
              </a:rPr>
              <a:t>Same machinery as step 5</a:t>
            </a:r>
          </a:p>
          <a:p>
            <a:pPr>
              <a:lnSpc>
                <a:spcPct val="134000"/>
              </a:lnSpc>
              <a:spcBef>
                <a:spcPts val="0"/>
              </a:spcBef>
              <a:spcAft>
                <a:spcPts val="1100"/>
              </a:spcAft>
            </a:pPr>
            <a:r>
              <a:rPr sz="1150" b="0" i="0">
                <a:solidFill>
                  <a:srgbClr val="6B6B76"/>
                </a:solidFill>
                <a:latin typeface="Segoe UI"/>
              </a:rPr>
              <a:t>Start from noise, take 8 steps along a learned velocity field, softmax the result. The only difference is that this operates over selected cells within a layer rather than over layers.</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Splitting each layer's energy between its cells</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THE DECODER</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The step that makes dust arithmetically impossible</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3930092"/>
          </a:xfrm>
          <a:prstGeom prst="rect">
            <a:avLst/>
          </a:prstGeom>
          <a:noFill/>
        </p:spPr>
        <p:txBody>
          <a:bodyPr wrap="square" lIns="0" rIns="0" tIns="0" bIns="0">
            <a:spAutoFit/>
          </a:bodyPr>
          <a:lstStyle/>
          <a:p>
            <a:pPr>
              <a:lnSpc>
                <a:spcPct val="132000"/>
              </a:lnSpc>
              <a:spcBef>
                <a:spcPts val="0"/>
              </a:spcBef>
              <a:spcAft>
                <a:spcPts val="1300"/>
              </a:spcAft>
            </a:pPr>
            <a:r>
              <a:rPr sz="1350" b="0" i="0">
                <a:solidFill>
                  <a:srgbClr val="6B6B76"/>
                </a:solidFill>
                <a:latin typeface="Segoe UI"/>
              </a:rPr>
              <a:t>Everything above is learned and probabilistic. The final step is plain arithmetic with no parameters, and it is where the guarantees come from.</a:t>
            </a:r>
          </a:p>
          <a:p>
            <a:pPr>
              <a:lnSpc>
                <a:spcPct val="115000"/>
              </a:lnSpc>
              <a:spcBef>
                <a:spcPts val="400"/>
              </a:spcBef>
              <a:spcAft>
                <a:spcPts val="200"/>
              </a:spcAft>
            </a:pPr>
            <a:r>
              <a:rPr sz="1250" b="1" i="0">
                <a:solidFill>
                  <a:srgbClr val="16161D"/>
                </a:solidFill>
                <a:latin typeface="Segoe UI"/>
              </a:rPr>
              <a:t>What it does</a:t>
            </a:r>
          </a:p>
          <a:p>
            <a:pPr>
              <a:lnSpc>
                <a:spcPct val="134000"/>
              </a:lnSpc>
              <a:spcBef>
                <a:spcPts val="0"/>
              </a:spcBef>
              <a:spcAft>
                <a:spcPts val="1100"/>
              </a:spcAft>
            </a:pPr>
            <a:r>
              <a:rPr sz="1150" b="0" i="0">
                <a:solidFill>
                  <a:srgbClr val="6B6B76"/>
                </a:solidFill>
                <a:latin typeface="Segoe UI"/>
              </a:rPr>
              <a:t>For a selected cell, its energy is the layer's energy multiplied by its share. For every unselected cell, its energy is zero. Not small — zero.</a:t>
            </a:r>
          </a:p>
          <a:p>
            <a:pPr>
              <a:lnSpc>
                <a:spcPct val="115000"/>
              </a:lnSpc>
              <a:spcBef>
                <a:spcPts val="400"/>
              </a:spcBef>
              <a:spcAft>
                <a:spcPts val="200"/>
              </a:spcAft>
            </a:pPr>
            <a:r>
              <a:rPr sz="1250" b="1" i="0">
                <a:solidFill>
                  <a:srgbClr val="16161D"/>
                </a:solidFill>
                <a:latin typeface="Segoe UI"/>
              </a:rPr>
              <a:t>Why the sums close exactly</a:t>
            </a:r>
          </a:p>
          <a:p>
            <a:pPr>
              <a:lnSpc>
                <a:spcPct val="134000"/>
              </a:lnSpc>
              <a:spcBef>
                <a:spcPts val="0"/>
              </a:spcBef>
              <a:spcAft>
                <a:spcPts val="1100"/>
              </a:spcAft>
            </a:pPr>
            <a:r>
              <a:rPr sz="1150" b="0" i="0">
                <a:solidFill>
                  <a:srgbClr val="6B6B76"/>
                </a:solidFill>
                <a:latin typeface="Segoe UI"/>
              </a:rPr>
              <a:t>The shares in a layer sum to 1 because softmax makes them. So the cell energies in a layer sum to the layer energy. The layer fractions sum to 1 for the same reason, so the layer energies sum to the total budget. Conservation is not a penalty term the model is nudged toward; it is a property of the arithmetic.</a:t>
            </a:r>
          </a:p>
          <a:p>
            <a:pPr>
              <a:lnSpc>
                <a:spcPct val="115000"/>
              </a:lnSpc>
              <a:spcBef>
                <a:spcPts val="400"/>
              </a:spcBef>
              <a:spcAft>
                <a:spcPts val="200"/>
              </a:spcAft>
            </a:pPr>
            <a:r>
              <a:rPr sz="1250" b="1" i="0">
                <a:solidFill>
                  <a:srgbClr val="16161D"/>
                </a:solidFill>
                <a:latin typeface="Segoe UI"/>
              </a:rPr>
              <a:t>What this does and does not buy us</a:t>
            </a:r>
          </a:p>
          <a:p>
            <a:pPr>
              <a:lnSpc>
                <a:spcPct val="134000"/>
              </a:lnSpc>
              <a:spcBef>
                <a:spcPts val="0"/>
              </a:spcBef>
              <a:spcAft>
                <a:spcPts val="1100"/>
              </a:spcAft>
            </a:pPr>
            <a:r>
              <a:rPr sz="1150" b="0" i="0">
                <a:solidFill>
                  <a:srgbClr val="6B6B76"/>
                </a:solidFill>
                <a:latin typeface="Segoe UI"/>
              </a:rPr>
              <a:t>It guarantees no dust, exact hit counts, no negative energies, and exact energy accounting — verified numerically to better than 2e-5 GeV per event. It guarantees nothing about whether the numbers are physically right. A structurally perfect event can still be a bad shower.</a:t>
            </a:r>
          </a:p>
        </p:txBody>
      </p:sp>
      <p:sp>
        <p:nvSpPr>
          <p:cNvPr id="6" name="Rectangle 5"/>
          <p:cNvSpPr/>
          <p:nvPr/>
        </p:nvSpPr>
        <p:spPr>
          <a:xfrm>
            <a:off x="868680" y="5813756"/>
            <a:ext cx="10454335" cy="477316"/>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5813756"/>
            <a:ext cx="38100" cy="477316"/>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5932628"/>
            <a:ext cx="10051999" cy="294436"/>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sum over all cells of Y = sum over layers of D = T.  Exactly, by construction.</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The step that makes dust arithmetically impossible</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TRAINING</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Nine questions means nine losses</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361688"/>
          </a:xfrm>
          <a:prstGeom prst="rect">
            <a:avLst/>
          </a:prstGeom>
          <a:noFill/>
        </p:spPr>
        <p:txBody>
          <a:bodyPr wrap="square" lIns="0" rIns="0" tIns="0" bIns="0">
            <a:spAutoFit/>
          </a:bodyPr>
          <a:lstStyle/>
          <a:p>
            <a:pPr>
              <a:lnSpc>
                <a:spcPct val="132000"/>
              </a:lnSpc>
              <a:spcBef>
                <a:spcPts val="0"/>
              </a:spcBef>
              <a:spcAft>
                <a:spcPts val="1300"/>
              </a:spcAft>
            </a:pPr>
            <a:r>
              <a:rPr sz="1350" b="0" i="0">
                <a:solidFill>
                  <a:srgbClr val="6B6B76"/>
                </a:solidFill>
                <a:latin typeface="Segoe UI"/>
              </a:rPr>
              <a:t>Each stage is scored separately, and the total training signal is a weighted sum of the nine. Understanding one thing about these numbers prevents most misreadings.</a:t>
            </a:r>
          </a:p>
          <a:p>
            <a:pPr>
              <a:lnSpc>
                <a:spcPct val="115000"/>
              </a:lnSpc>
              <a:spcBef>
                <a:spcPts val="400"/>
              </a:spcBef>
              <a:spcAft>
                <a:spcPts val="200"/>
              </a:spcAft>
            </a:pPr>
            <a:r>
              <a:rPr sz="1250" b="1" i="0">
                <a:solidFill>
                  <a:srgbClr val="16161D"/>
                </a:solidFill>
                <a:latin typeface="Segoe UI"/>
              </a:rPr>
              <a:t>They are not on a common scale</a:t>
            </a:r>
          </a:p>
          <a:p>
            <a:pPr>
              <a:lnSpc>
                <a:spcPct val="134000"/>
              </a:lnSpc>
              <a:spcBef>
                <a:spcPts val="0"/>
              </a:spcBef>
              <a:spcAft>
                <a:spcPts val="1100"/>
              </a:spcAft>
            </a:pPr>
            <a:r>
              <a:rPr sz="1150" b="0" i="0">
                <a:solidFill>
                  <a:srgbClr val="6B6B76"/>
                </a:solidFill>
                <a:latin typeface="Segoe UI"/>
              </a:rPr>
              <a:t>Some are classification log-losses, one is a likelihood over a probability distribution, two are squared errors on a velocity field. A value of 1 in one of them means nothing like a value of 1 in another. Only compare a loss with itself over time.</a:t>
            </a:r>
          </a:p>
          <a:p>
            <a:pPr>
              <a:lnSpc>
                <a:spcPct val="115000"/>
              </a:lnSpc>
              <a:spcBef>
                <a:spcPts val="400"/>
              </a:spcBef>
              <a:spcAft>
                <a:spcPts val="200"/>
              </a:spcAft>
            </a:pPr>
            <a:r>
              <a:rPr sz="1250" b="1" i="0">
                <a:solidFill>
                  <a:srgbClr val="16161D"/>
                </a:solidFill>
                <a:latin typeface="Segoe UI"/>
              </a:rPr>
              <a:t>They should not reach zero</a:t>
            </a:r>
          </a:p>
          <a:p>
            <a:pPr>
              <a:lnSpc>
                <a:spcPct val="134000"/>
              </a:lnSpc>
              <a:spcBef>
                <a:spcPts val="0"/>
              </a:spcBef>
              <a:spcAft>
                <a:spcPts val="1100"/>
              </a:spcAft>
            </a:pPr>
            <a:r>
              <a:rPr sz="1150" b="0" i="0">
                <a:solidFill>
                  <a:srgbClr val="6B6B76"/>
                </a:solidFill>
                <a:latin typeface="Segoe UI"/>
              </a:rPr>
              <a:t>The targets are genuinely random. A perfect model of a coin flip still has non-zero loss. Some of these components can even be legitimately negative. 'Loss went down' is the only reading that is safe, and even then it is a statement about optimisation, not about physics.</a:t>
            </a:r>
          </a:p>
          <a:p>
            <a:pPr>
              <a:lnSpc>
                <a:spcPct val="115000"/>
              </a:lnSpc>
              <a:spcBef>
                <a:spcPts val="400"/>
              </a:spcBef>
              <a:spcAft>
                <a:spcPts val="200"/>
              </a:spcAft>
            </a:pPr>
            <a:r>
              <a:rPr sz="1250" b="1" i="0">
                <a:solidFill>
                  <a:srgbClr val="16161D"/>
                </a:solidFill>
                <a:latin typeface="Segoe UI"/>
              </a:rPr>
              <a:t>Falling loss is not fidelity</a:t>
            </a:r>
          </a:p>
          <a:p>
            <a:pPr>
              <a:lnSpc>
                <a:spcPct val="134000"/>
              </a:lnSpc>
              <a:spcBef>
                <a:spcPts val="0"/>
              </a:spcBef>
              <a:spcAft>
                <a:spcPts val="1100"/>
              </a:spcAft>
            </a:pPr>
            <a:r>
              <a:rPr sz="1150" b="0" i="0">
                <a:solidFill>
                  <a:srgbClr val="6B6B76"/>
                </a:solidFill>
                <a:latin typeface="Segoe UI"/>
              </a:rPr>
              <a:t>This is the single most important caveat in the deck. The loss can improve while the showers get no more Geant4-like. That is precisely why we built an independent test, which is the second half of this talk.</a:t>
            </a:r>
          </a:p>
        </p:txBody>
      </p:sp>
      <p:sp>
        <p:nvSpPr>
          <p:cNvPr id="6" name="TextBox 5"/>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Nine questions means nine losses</a:t>
            </a:r>
          </a:p>
        </p:txBody>
      </p:sp>
      <p:sp>
        <p:nvSpPr>
          <p:cNvPr id="7" name="TextBox 6"/>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TRAINING</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How the nine weights were chosen</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699516"/>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Not by hand and not by looking at results. At a fixed checkpoint, we measured how hard each loss pulls on the shared neutron encoder over 64 batches, then set each weight inversely to that pull, clipped to a factor of 16 and normalised to average 1.</a:t>
            </a:r>
          </a:p>
        </p:txBody>
      </p:sp>
      <p:sp>
        <p:nvSpPr>
          <p:cNvPr id="6" name="TextBox 5"/>
          <p:cNvSpPr txBox="1"/>
          <p:nvPr/>
        </p:nvSpPr>
        <p:spPr>
          <a:xfrm>
            <a:off x="868680" y="2619756"/>
            <a:ext cx="10454335" cy="219456"/>
          </a:xfrm>
          <a:prstGeom prst="rect">
            <a:avLst/>
          </a:prstGeom>
          <a:noFill/>
        </p:spPr>
        <p:txBody>
          <a:bodyPr wrap="square" lIns="0" rIns="0" tIns="0" bIns="0">
            <a:spAutoFit/>
          </a:bodyPr>
          <a:lstStyle/>
          <a:p>
            <a:pPr>
              <a:spcAft>
                <a:spcPts val="0"/>
              </a:spcAft>
            </a:pPr>
            <a:r>
              <a:rPr sz="1000" b="1" i="0">
                <a:solidFill>
                  <a:srgbClr val="9A9AA4"/>
                </a:solidFill>
                <a:latin typeface="Segoe UI"/>
              </a:rPr>
              <a:t>Loss</a:t>
            </a:r>
          </a:p>
        </p:txBody>
      </p:sp>
      <p:sp>
        <p:nvSpPr>
          <p:cNvPr id="7" name="TextBox 6"/>
          <p:cNvSpPr txBox="1"/>
          <p:nvPr/>
        </p:nvSpPr>
        <p:spPr>
          <a:xfrm>
            <a:off x="5074920" y="2619756"/>
            <a:ext cx="2834640" cy="219456"/>
          </a:xfrm>
          <a:prstGeom prst="rect">
            <a:avLst/>
          </a:prstGeom>
          <a:noFill/>
        </p:spPr>
        <p:txBody>
          <a:bodyPr wrap="square" lIns="0" rIns="0" tIns="0" bIns="0">
            <a:spAutoFit/>
          </a:bodyPr>
          <a:lstStyle/>
          <a:p>
            <a:pPr>
              <a:lnSpc>
                <a:spcPct val="125000"/>
              </a:lnSpc>
              <a:spcBef>
                <a:spcPts val="0"/>
              </a:spcBef>
              <a:spcAft>
                <a:spcPts val="0"/>
              </a:spcAft>
            </a:pPr>
            <a:r>
              <a:rPr sz="1000" b="1" i="0">
                <a:solidFill>
                  <a:srgbClr val="9A9AA4"/>
                </a:solidFill>
                <a:latin typeface="Segoe UI"/>
              </a:rPr>
              <a:t>Measured pull</a:t>
            </a:r>
          </a:p>
        </p:txBody>
      </p:sp>
      <p:sp>
        <p:nvSpPr>
          <p:cNvPr id="8" name="TextBox 7"/>
          <p:cNvSpPr txBox="1"/>
          <p:nvPr/>
        </p:nvSpPr>
        <p:spPr>
          <a:xfrm>
            <a:off x="8001000" y="2619756"/>
            <a:ext cx="2834640" cy="219456"/>
          </a:xfrm>
          <a:prstGeom prst="rect">
            <a:avLst/>
          </a:prstGeom>
          <a:noFill/>
        </p:spPr>
        <p:txBody>
          <a:bodyPr wrap="square" lIns="0" rIns="0" tIns="0" bIns="0">
            <a:spAutoFit/>
          </a:bodyPr>
          <a:lstStyle/>
          <a:p>
            <a:pPr>
              <a:lnSpc>
                <a:spcPct val="125000"/>
              </a:lnSpc>
              <a:spcBef>
                <a:spcPts val="0"/>
              </a:spcBef>
              <a:spcAft>
                <a:spcPts val="0"/>
              </a:spcAft>
            </a:pPr>
            <a:r>
              <a:rPr sz="1000" b="1" i="0">
                <a:solidFill>
                  <a:srgbClr val="9A9AA4"/>
                </a:solidFill>
                <a:latin typeface="Segoe UI"/>
              </a:rPr>
              <a:t>Final weight</a:t>
            </a:r>
          </a:p>
        </p:txBody>
      </p:sp>
      <p:sp>
        <p:nvSpPr>
          <p:cNvPr id="9" name="Rectangle 8"/>
          <p:cNvSpPr/>
          <p:nvPr/>
        </p:nvSpPr>
        <p:spPr>
          <a:xfrm>
            <a:off x="868680" y="2875788"/>
            <a:ext cx="1045433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98551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Visibility</a:t>
            </a:r>
          </a:p>
        </p:txBody>
      </p:sp>
      <p:sp>
        <p:nvSpPr>
          <p:cNvPr id="11" name="TextBox 10"/>
          <p:cNvSpPr txBox="1"/>
          <p:nvPr/>
        </p:nvSpPr>
        <p:spPr>
          <a:xfrm>
            <a:off x="5074920" y="298551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0.219</a:t>
            </a:r>
          </a:p>
        </p:txBody>
      </p:sp>
      <p:sp>
        <p:nvSpPr>
          <p:cNvPr id="12" name="TextBox 11"/>
          <p:cNvSpPr txBox="1"/>
          <p:nvPr/>
        </p:nvSpPr>
        <p:spPr>
          <a:xfrm>
            <a:off x="8001000" y="298551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2.574</a:t>
            </a:r>
          </a:p>
        </p:txBody>
      </p:sp>
      <p:sp>
        <p:nvSpPr>
          <p:cNvPr id="13" name="Rectangle 12"/>
          <p:cNvSpPr/>
          <p:nvPr/>
        </p:nvSpPr>
        <p:spPr>
          <a:xfrm>
            <a:off x="758952" y="3204870"/>
            <a:ext cx="10673791" cy="255930"/>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24144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Total response</a:t>
            </a:r>
          </a:p>
        </p:txBody>
      </p:sp>
      <p:sp>
        <p:nvSpPr>
          <p:cNvPr id="15" name="TextBox 14"/>
          <p:cNvSpPr txBox="1"/>
          <p:nvPr/>
        </p:nvSpPr>
        <p:spPr>
          <a:xfrm>
            <a:off x="5074920" y="324144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15.723</a:t>
            </a:r>
          </a:p>
        </p:txBody>
      </p:sp>
      <p:sp>
        <p:nvSpPr>
          <p:cNvPr id="16" name="TextBox 15"/>
          <p:cNvSpPr txBox="1"/>
          <p:nvPr/>
        </p:nvSpPr>
        <p:spPr>
          <a:xfrm>
            <a:off x="8001000" y="324144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0.161</a:t>
            </a:r>
          </a:p>
        </p:txBody>
      </p:sp>
      <p:sp>
        <p:nvSpPr>
          <p:cNvPr id="17" name="TextBox 16"/>
          <p:cNvSpPr txBox="1"/>
          <p:nvPr/>
        </p:nvSpPr>
        <p:spPr>
          <a:xfrm>
            <a:off x="868680" y="349737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First layer</a:t>
            </a:r>
          </a:p>
        </p:txBody>
      </p:sp>
      <p:sp>
        <p:nvSpPr>
          <p:cNvPr id="18" name="TextBox 17"/>
          <p:cNvSpPr txBox="1"/>
          <p:nvPr/>
        </p:nvSpPr>
        <p:spPr>
          <a:xfrm>
            <a:off x="5074920" y="349737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0.791</a:t>
            </a:r>
          </a:p>
        </p:txBody>
      </p:sp>
      <p:sp>
        <p:nvSpPr>
          <p:cNvPr id="19" name="TextBox 18"/>
          <p:cNvSpPr txBox="1"/>
          <p:nvPr/>
        </p:nvSpPr>
        <p:spPr>
          <a:xfrm>
            <a:off x="8001000" y="349737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2.159</a:t>
            </a:r>
          </a:p>
        </p:txBody>
      </p:sp>
      <p:sp>
        <p:nvSpPr>
          <p:cNvPr id="20" name="Rectangle 19"/>
          <p:cNvSpPr/>
          <p:nvPr/>
        </p:nvSpPr>
        <p:spPr>
          <a:xfrm>
            <a:off x="758952" y="3716730"/>
            <a:ext cx="10673791" cy="255930"/>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75330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Active layers</a:t>
            </a:r>
          </a:p>
        </p:txBody>
      </p:sp>
      <p:sp>
        <p:nvSpPr>
          <p:cNvPr id="22" name="TextBox 21"/>
          <p:cNvSpPr txBox="1"/>
          <p:nvPr/>
        </p:nvSpPr>
        <p:spPr>
          <a:xfrm>
            <a:off x="5074920" y="375330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3.184</a:t>
            </a:r>
          </a:p>
        </p:txBody>
      </p:sp>
      <p:sp>
        <p:nvSpPr>
          <p:cNvPr id="23" name="TextBox 22"/>
          <p:cNvSpPr txBox="1"/>
          <p:nvPr/>
        </p:nvSpPr>
        <p:spPr>
          <a:xfrm>
            <a:off x="8001000" y="375330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0.537</a:t>
            </a:r>
          </a:p>
        </p:txBody>
      </p:sp>
      <p:sp>
        <p:nvSpPr>
          <p:cNvPr id="24" name="TextBox 23"/>
          <p:cNvSpPr txBox="1"/>
          <p:nvPr/>
        </p:nvSpPr>
        <p:spPr>
          <a:xfrm>
            <a:off x="868680" y="400923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Profile flow</a:t>
            </a:r>
          </a:p>
        </p:txBody>
      </p:sp>
      <p:sp>
        <p:nvSpPr>
          <p:cNvPr id="25" name="TextBox 24"/>
          <p:cNvSpPr txBox="1"/>
          <p:nvPr/>
        </p:nvSpPr>
        <p:spPr>
          <a:xfrm>
            <a:off x="5074920" y="400923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11.052</a:t>
            </a:r>
          </a:p>
        </p:txBody>
      </p:sp>
      <p:sp>
        <p:nvSpPr>
          <p:cNvPr id="26" name="TextBox 25"/>
          <p:cNvSpPr txBox="1"/>
          <p:nvPr/>
        </p:nvSpPr>
        <p:spPr>
          <a:xfrm>
            <a:off x="8001000" y="400923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0.161</a:t>
            </a:r>
          </a:p>
        </p:txBody>
      </p:sp>
      <p:sp>
        <p:nvSpPr>
          <p:cNvPr id="27" name="Rectangle 26"/>
          <p:cNvSpPr/>
          <p:nvPr/>
        </p:nvSpPr>
        <p:spPr>
          <a:xfrm>
            <a:off x="758952" y="4228590"/>
            <a:ext cx="10673791" cy="255930"/>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26516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Hit counts</a:t>
            </a:r>
          </a:p>
        </p:txBody>
      </p:sp>
      <p:sp>
        <p:nvSpPr>
          <p:cNvPr id="29" name="TextBox 28"/>
          <p:cNvSpPr txBox="1"/>
          <p:nvPr/>
        </p:nvSpPr>
        <p:spPr>
          <a:xfrm>
            <a:off x="5074920" y="426516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11.952</a:t>
            </a:r>
          </a:p>
        </p:txBody>
      </p:sp>
      <p:sp>
        <p:nvSpPr>
          <p:cNvPr id="30" name="TextBox 29"/>
          <p:cNvSpPr txBox="1"/>
          <p:nvPr/>
        </p:nvSpPr>
        <p:spPr>
          <a:xfrm>
            <a:off x="8001000" y="426516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0.161</a:t>
            </a:r>
          </a:p>
        </p:txBody>
      </p:sp>
      <p:sp>
        <p:nvSpPr>
          <p:cNvPr id="31" name="TextBox 30"/>
          <p:cNvSpPr txBox="1"/>
          <p:nvPr/>
        </p:nvSpPr>
        <p:spPr>
          <a:xfrm>
            <a:off x="868680" y="452109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Support (classification)</a:t>
            </a:r>
          </a:p>
        </p:txBody>
      </p:sp>
      <p:sp>
        <p:nvSpPr>
          <p:cNvPr id="32" name="TextBox 31"/>
          <p:cNvSpPr txBox="1"/>
          <p:nvPr/>
        </p:nvSpPr>
        <p:spPr>
          <a:xfrm>
            <a:off x="5074920" y="452109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1.291</a:t>
            </a:r>
          </a:p>
        </p:txBody>
      </p:sp>
      <p:sp>
        <p:nvSpPr>
          <p:cNvPr id="33" name="TextBox 32"/>
          <p:cNvSpPr txBox="1"/>
          <p:nvPr/>
        </p:nvSpPr>
        <p:spPr>
          <a:xfrm>
            <a:off x="8001000" y="452109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1.324</a:t>
            </a:r>
          </a:p>
        </p:txBody>
      </p:sp>
      <p:sp>
        <p:nvSpPr>
          <p:cNvPr id="34" name="Rectangle 33"/>
          <p:cNvSpPr/>
          <p:nvPr/>
        </p:nvSpPr>
        <p:spPr>
          <a:xfrm>
            <a:off x="758952" y="4740450"/>
            <a:ext cx="10673791" cy="255930"/>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77702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Support (ranking)</a:t>
            </a:r>
          </a:p>
        </p:txBody>
      </p:sp>
      <p:sp>
        <p:nvSpPr>
          <p:cNvPr id="36" name="TextBox 35"/>
          <p:cNvSpPr txBox="1"/>
          <p:nvPr/>
        </p:nvSpPr>
        <p:spPr>
          <a:xfrm>
            <a:off x="5074920" y="477702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1.156</a:t>
            </a:r>
          </a:p>
        </p:txBody>
      </p:sp>
      <p:sp>
        <p:nvSpPr>
          <p:cNvPr id="37" name="TextBox 36"/>
          <p:cNvSpPr txBox="1"/>
          <p:nvPr/>
        </p:nvSpPr>
        <p:spPr>
          <a:xfrm>
            <a:off x="8001000" y="477702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1.478</a:t>
            </a:r>
          </a:p>
        </p:txBody>
      </p:sp>
      <p:sp>
        <p:nvSpPr>
          <p:cNvPr id="38" name="TextBox 37"/>
          <p:cNvSpPr txBox="1"/>
          <p:nvPr/>
        </p:nvSpPr>
        <p:spPr>
          <a:xfrm>
            <a:off x="868680" y="5032956"/>
            <a:ext cx="4114800" cy="255930"/>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Energy shares</a:t>
            </a:r>
          </a:p>
        </p:txBody>
      </p:sp>
      <p:sp>
        <p:nvSpPr>
          <p:cNvPr id="39" name="TextBox 38"/>
          <p:cNvSpPr txBox="1"/>
          <p:nvPr/>
        </p:nvSpPr>
        <p:spPr>
          <a:xfrm>
            <a:off x="5074920" y="503295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3.840</a:t>
            </a:r>
          </a:p>
        </p:txBody>
      </p:sp>
      <p:sp>
        <p:nvSpPr>
          <p:cNvPr id="40" name="TextBox 39"/>
          <p:cNvSpPr txBox="1"/>
          <p:nvPr/>
        </p:nvSpPr>
        <p:spPr>
          <a:xfrm>
            <a:off x="8001000" y="5032956"/>
            <a:ext cx="2880360" cy="255930"/>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0.445</a:t>
            </a:r>
          </a:p>
        </p:txBody>
      </p:sp>
      <p:sp>
        <p:nvSpPr>
          <p:cNvPr id="41" name="Rectangle 40"/>
          <p:cNvSpPr/>
          <p:nvPr/>
        </p:nvSpPr>
        <p:spPr>
          <a:xfrm>
            <a:off x="868680" y="5407764"/>
            <a:ext cx="10454335" cy="883308"/>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8680" y="5407764"/>
            <a:ext cx="38100" cy="883308"/>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69848" y="5526636"/>
            <a:ext cx="10051999" cy="700428"/>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What this achieves: no single loss dominates just because its numbers happen to be bigger. What it does not achieve: any statement about which loss matters more for physics. Remember this table — it returns at the end of the deck.</a:t>
            </a:r>
          </a:p>
        </p:txBody>
      </p:sp>
      <p:sp>
        <p:nvSpPr>
          <p:cNvPr id="44" name="TextBox 43"/>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How the nine weights were chosen</a:t>
            </a:r>
          </a:p>
        </p:txBody>
      </p:sp>
      <p:sp>
        <p:nvSpPr>
          <p:cNvPr id="45" name="TextBox 44"/>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STATUS</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Where we actually are: epoch 4</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This is the most important context for everything that follows. The models are barely trained, and the results should be read as an early snapshot, not a verdict on the architecture.</a:t>
            </a:r>
          </a:p>
        </p:txBody>
      </p:sp>
      <p:sp>
        <p:nvSpPr>
          <p:cNvPr id="6" name="TextBox 5"/>
          <p:cNvSpPr txBox="1"/>
          <p:nvPr/>
        </p:nvSpPr>
        <p:spPr>
          <a:xfrm>
            <a:off x="868680" y="2404872"/>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Epochs completed</a:t>
            </a:r>
          </a:p>
        </p:txBody>
      </p:sp>
      <p:sp>
        <p:nvSpPr>
          <p:cNvPr id="7" name="TextBox 6"/>
          <p:cNvSpPr txBox="1"/>
          <p:nvPr/>
        </p:nvSpPr>
        <p:spPr>
          <a:xfrm>
            <a:off x="5074920" y="2404872"/>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4</a:t>
            </a:r>
          </a:p>
        </p:txBody>
      </p:sp>
      <p:sp>
        <p:nvSpPr>
          <p:cNvPr id="8" name="Rectangle 7"/>
          <p:cNvSpPr/>
          <p:nvPr/>
        </p:nvSpPr>
        <p:spPr>
          <a:xfrm>
            <a:off x="758952" y="2674620"/>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711196"/>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Training bank used</a:t>
            </a:r>
          </a:p>
        </p:txBody>
      </p:sp>
      <p:sp>
        <p:nvSpPr>
          <p:cNvPr id="10" name="TextBox 9"/>
          <p:cNvSpPr txBox="1"/>
          <p:nvPr/>
        </p:nvSpPr>
        <p:spPr>
          <a:xfrm>
            <a:off x="5074920" y="2711196"/>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26,624 events of 612,482 available (~4.3%)</a:t>
            </a:r>
          </a:p>
        </p:txBody>
      </p:sp>
      <p:sp>
        <p:nvSpPr>
          <p:cNvPr id="11" name="TextBox 10"/>
          <p:cNvSpPr txBox="1"/>
          <p:nvPr/>
        </p:nvSpPr>
        <p:spPr>
          <a:xfrm>
            <a:off x="868680" y="3017520"/>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Validation bank</a:t>
            </a:r>
          </a:p>
        </p:txBody>
      </p:sp>
      <p:sp>
        <p:nvSpPr>
          <p:cNvPr id="12" name="TextBox 11"/>
          <p:cNvSpPr txBox="1"/>
          <p:nvPr/>
        </p:nvSpPr>
        <p:spPr>
          <a:xfrm>
            <a:off x="5074920" y="3017520"/>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6,656 events</a:t>
            </a:r>
          </a:p>
        </p:txBody>
      </p:sp>
      <p:sp>
        <p:nvSpPr>
          <p:cNvPr id="13" name="Rectangle 12"/>
          <p:cNvSpPr/>
          <p:nvPr/>
        </p:nvSpPr>
        <p:spPr>
          <a:xfrm>
            <a:off x="758952" y="3287268"/>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323844"/>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Test events used in training</a:t>
            </a:r>
          </a:p>
        </p:txBody>
      </p:sp>
      <p:sp>
        <p:nvSpPr>
          <p:cNvPr id="15" name="TextBox 14"/>
          <p:cNvSpPr txBox="1"/>
          <p:nvPr/>
        </p:nvSpPr>
        <p:spPr>
          <a:xfrm>
            <a:off x="5074920" y="3323844"/>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0 — the split is sealed</a:t>
            </a:r>
          </a:p>
        </p:txBody>
      </p:sp>
      <p:sp>
        <p:nvSpPr>
          <p:cNvPr id="16" name="TextBox 15"/>
          <p:cNvSpPr txBox="1"/>
          <p:nvPr/>
        </p:nvSpPr>
        <p:spPr>
          <a:xfrm>
            <a:off x="868680" y="3630168"/>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Precision / hardware</a:t>
            </a:r>
          </a:p>
        </p:txBody>
      </p:sp>
      <p:sp>
        <p:nvSpPr>
          <p:cNvPr id="17" name="TextBox 16"/>
          <p:cNvSpPr txBox="1"/>
          <p:nvPr/>
        </p:nvSpPr>
        <p:spPr>
          <a:xfrm>
            <a:off x="5074920" y="3630168"/>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FP32 on a single NVIDIA T4</a:t>
            </a:r>
          </a:p>
        </p:txBody>
      </p:sp>
      <p:sp>
        <p:nvSpPr>
          <p:cNvPr id="18" name="Rectangle 17"/>
          <p:cNvSpPr/>
          <p:nvPr/>
        </p:nvSpPr>
        <p:spPr>
          <a:xfrm>
            <a:off x="758952" y="3899916"/>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936492"/>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Optimiser</a:t>
            </a:r>
          </a:p>
        </p:txBody>
      </p:sp>
      <p:sp>
        <p:nvSpPr>
          <p:cNvPr id="20" name="TextBox 19"/>
          <p:cNvSpPr txBox="1"/>
          <p:nvPr/>
        </p:nvSpPr>
        <p:spPr>
          <a:xfrm>
            <a:off x="5074920" y="3936492"/>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AdamW, cosine schedule, gradient clipping at 1.0</a:t>
            </a:r>
          </a:p>
        </p:txBody>
      </p:sp>
      <p:sp>
        <p:nvSpPr>
          <p:cNvPr id="21" name="TextBox 20"/>
          <p:cNvSpPr txBox="1"/>
          <p:nvPr/>
        </p:nvSpPr>
        <p:spPr>
          <a:xfrm>
            <a:off x="868680" y="4242816"/>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Effective batch</a:t>
            </a:r>
          </a:p>
        </p:txBody>
      </p:sp>
      <p:sp>
        <p:nvSpPr>
          <p:cNvPr id="22" name="TextBox 21"/>
          <p:cNvSpPr txBox="1"/>
          <p:nvPr/>
        </p:nvSpPr>
        <p:spPr>
          <a:xfrm>
            <a:off x="5074920" y="4242816"/>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24 for three families, 12 for the half-batch control</a:t>
            </a:r>
          </a:p>
        </p:txBody>
      </p:sp>
      <p:sp>
        <p:nvSpPr>
          <p:cNvPr id="23" name="Rectangle 22"/>
          <p:cNvSpPr/>
          <p:nvPr/>
        </p:nvSpPr>
        <p:spPr>
          <a:xfrm>
            <a:off x="758952" y="4512564"/>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549140"/>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Variants trained</a:t>
            </a:r>
          </a:p>
        </p:txBody>
      </p:sp>
      <p:sp>
        <p:nvSpPr>
          <p:cNvPr id="25" name="TextBox 24"/>
          <p:cNvSpPr txBox="1"/>
          <p:nvPr/>
        </p:nvSpPr>
        <p:spPr>
          <a:xfrm>
            <a:off x="5074920" y="4549140"/>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4, differing only in learning rate and batch size</a:t>
            </a:r>
          </a:p>
        </p:txBody>
      </p:sp>
      <p:sp>
        <p:nvSpPr>
          <p:cNvPr id="26" name="Rectangle 25"/>
          <p:cNvSpPr/>
          <p:nvPr/>
        </p:nvSpPr>
        <p:spPr>
          <a:xfrm>
            <a:off x="868680" y="5610760"/>
            <a:ext cx="10454335" cy="680312"/>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8680" y="5610760"/>
            <a:ext cx="38100" cy="680312"/>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 y="5729632"/>
            <a:ext cx="10051999" cy="497432"/>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Roughly 4% of the available training data, seen four times. Any conclusion below is provisional in exactly that sense.</a:t>
            </a:r>
          </a:p>
        </p:txBody>
      </p:sp>
      <p:sp>
        <p:nvSpPr>
          <p:cNvPr id="29" name="TextBox 2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Where we actually are: epoch 4</a:t>
            </a:r>
          </a:p>
        </p:txBody>
      </p:sp>
      <p:sp>
        <p:nvSpPr>
          <p:cNvPr id="30" name="TextBox 2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PART 2  ·  DOES IT WORK?</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How do you test a generator honestly?</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361688"/>
          </a:xfrm>
          <a:prstGeom prst="rect">
            <a:avLst/>
          </a:prstGeom>
          <a:noFill/>
        </p:spPr>
        <p:txBody>
          <a:bodyPr wrap="square" lIns="0" rIns="0" tIns="0" bIns="0">
            <a:spAutoFit/>
          </a:bodyPr>
          <a:lstStyle/>
          <a:p>
            <a:pPr>
              <a:lnSpc>
                <a:spcPct val="132000"/>
              </a:lnSpc>
              <a:spcBef>
                <a:spcPts val="0"/>
              </a:spcBef>
              <a:spcAft>
                <a:spcPts val="1300"/>
              </a:spcAft>
            </a:pPr>
            <a:r>
              <a:rPr sz="1350" b="0" i="0">
                <a:solidFill>
                  <a:srgbClr val="6B6B76"/>
                </a:solidFill>
                <a:latin typeface="Segoe UI"/>
              </a:rPr>
              <a:t>Structural correctness is proven; physics fidelity is a separate question. Comparing a few histograms is weak — you only find the discrepancies you thought to plot. Instead, ask a machine to find any discrepancy at all.</a:t>
            </a:r>
          </a:p>
          <a:p>
            <a:pPr>
              <a:lnSpc>
                <a:spcPct val="115000"/>
              </a:lnSpc>
              <a:spcBef>
                <a:spcPts val="400"/>
              </a:spcBef>
              <a:spcAft>
                <a:spcPts val="200"/>
              </a:spcAft>
            </a:pPr>
            <a:r>
              <a:rPr sz="1250" b="1" i="0">
                <a:solidFill>
                  <a:srgbClr val="16161D"/>
                </a:solidFill>
                <a:latin typeface="Segoe UI"/>
              </a:rPr>
              <a:t>The classifier two-sample test</a:t>
            </a:r>
          </a:p>
          <a:p>
            <a:pPr>
              <a:lnSpc>
                <a:spcPct val="134000"/>
              </a:lnSpc>
              <a:spcBef>
                <a:spcPts val="0"/>
              </a:spcBef>
              <a:spcAft>
                <a:spcPts val="1100"/>
              </a:spcAft>
            </a:pPr>
            <a:r>
              <a:rPr sz="1150" b="0" i="0">
                <a:solidFill>
                  <a:srgbClr val="6B6B76"/>
                </a:solidFill>
                <a:latin typeface="Segoe UI"/>
              </a:rPr>
              <a:t>Mix real Geant4 events and generated events together, label which is which, and train a completely separate classifier to tell them apart. Then score it on data it has never seen.</a:t>
            </a:r>
          </a:p>
          <a:p>
            <a:pPr>
              <a:lnSpc>
                <a:spcPct val="115000"/>
              </a:lnSpc>
              <a:spcBef>
                <a:spcPts val="400"/>
              </a:spcBef>
              <a:spcAft>
                <a:spcPts val="200"/>
              </a:spcAft>
            </a:pPr>
            <a:r>
              <a:rPr sz="1250" b="1" i="0">
                <a:solidFill>
                  <a:srgbClr val="16161D"/>
                </a:solidFill>
                <a:latin typeface="Segoe UI"/>
              </a:rPr>
              <a:t>How to read the score</a:t>
            </a:r>
          </a:p>
          <a:p>
            <a:pPr>
              <a:lnSpc>
                <a:spcPct val="134000"/>
              </a:lnSpc>
              <a:spcBef>
                <a:spcPts val="0"/>
              </a:spcBef>
              <a:spcAft>
                <a:spcPts val="1100"/>
              </a:spcAft>
            </a:pPr>
            <a:r>
              <a:rPr sz="1150" b="0" i="0">
                <a:solidFill>
                  <a:srgbClr val="6B6B76"/>
                </a:solidFill>
                <a:latin typeface="Segoe UI"/>
              </a:rPr>
              <a:t>The measure is AUROC. 0.5 means the classifier does no better than a coin flip — the two sets are indistinguishable to it. 1.0 means it separates them perfectly. This is standard practice in fast-calorimeter-simulation work, and it was the primary metric of the CaloChallenge 2022 community comparison.</a:t>
            </a:r>
          </a:p>
          <a:p>
            <a:pPr>
              <a:lnSpc>
                <a:spcPct val="115000"/>
              </a:lnSpc>
              <a:spcBef>
                <a:spcPts val="400"/>
              </a:spcBef>
              <a:spcAft>
                <a:spcPts val="200"/>
              </a:spcAft>
            </a:pPr>
            <a:r>
              <a:rPr sz="1250" b="1" i="0">
                <a:solidFill>
                  <a:srgbClr val="16161D"/>
                </a:solidFill>
                <a:latin typeface="Segoe UI"/>
              </a:rPr>
              <a:t>The asymmetry that matters</a:t>
            </a:r>
          </a:p>
          <a:p>
            <a:pPr>
              <a:lnSpc>
                <a:spcPct val="134000"/>
              </a:lnSpc>
              <a:spcBef>
                <a:spcPts val="0"/>
              </a:spcBef>
              <a:spcAft>
                <a:spcPts val="1100"/>
              </a:spcAft>
            </a:pPr>
            <a:r>
              <a:rPr sz="1150" b="0" i="0">
                <a:solidFill>
                  <a:srgbClr val="6B6B76"/>
                </a:solidFill>
                <a:latin typeface="Segoe UI"/>
              </a:rPr>
              <a:t>A high score is a proof of failure: the distributions provably differ, and you can ask the classifier where. A low score is only weak evidence of success — it says this particular classifier failed to find a difference, not that none exists. We report under that asymmetry throughout.</a:t>
            </a:r>
          </a:p>
        </p:txBody>
      </p:sp>
      <p:sp>
        <p:nvSpPr>
          <p:cNvPr id="6" name="TextBox 5"/>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How do you test a generator honestly?</a:t>
            </a:r>
          </a:p>
        </p:txBody>
      </p:sp>
      <p:sp>
        <p:nvSpPr>
          <p:cNvPr id="7" name="TextBox 6"/>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THE TEST</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What we actually ran</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40,000 real events against 40,000 generated ones, with the classifier seeing the full detector readout plus the incident four-momentum.</a:t>
            </a:r>
          </a:p>
        </p:txBody>
      </p:sp>
      <p:sp>
        <p:nvSpPr>
          <p:cNvPr id="6" name="TextBox 5"/>
          <p:cNvSpPr txBox="1"/>
          <p:nvPr/>
        </p:nvSpPr>
        <p:spPr>
          <a:xfrm>
            <a:off x="868680" y="2404872"/>
            <a:ext cx="10454335" cy="219456"/>
          </a:xfrm>
          <a:prstGeom prst="rect">
            <a:avLst/>
          </a:prstGeom>
          <a:noFill/>
        </p:spPr>
        <p:txBody>
          <a:bodyPr wrap="square" lIns="0" rIns="0" tIns="0" bIns="0">
            <a:spAutoFit/>
          </a:bodyPr>
          <a:lstStyle/>
          <a:p>
            <a:pPr>
              <a:spcAft>
                <a:spcPts val="0"/>
              </a:spcAft>
            </a:pPr>
            <a:r>
              <a:rPr sz="1000" b="1" i="0">
                <a:solidFill>
                  <a:srgbClr val="9A9AA4"/>
                </a:solidFill>
                <a:latin typeface="Segoe UI"/>
              </a:rPr>
              <a:t>Element</a:t>
            </a:r>
          </a:p>
        </p:txBody>
      </p:sp>
      <p:sp>
        <p:nvSpPr>
          <p:cNvPr id="7" name="TextBox 6"/>
          <p:cNvSpPr txBox="1"/>
          <p:nvPr/>
        </p:nvSpPr>
        <p:spPr>
          <a:xfrm>
            <a:off x="5074920" y="2404872"/>
            <a:ext cx="2834640" cy="219456"/>
          </a:xfrm>
          <a:prstGeom prst="rect">
            <a:avLst/>
          </a:prstGeom>
          <a:noFill/>
        </p:spPr>
        <p:txBody>
          <a:bodyPr wrap="square" lIns="0" rIns="0" tIns="0" bIns="0">
            <a:spAutoFit/>
          </a:bodyPr>
          <a:lstStyle/>
          <a:p>
            <a:pPr>
              <a:lnSpc>
                <a:spcPct val="125000"/>
              </a:lnSpc>
              <a:spcBef>
                <a:spcPts val="0"/>
              </a:spcBef>
              <a:spcAft>
                <a:spcPts val="0"/>
              </a:spcAft>
            </a:pPr>
            <a:r>
              <a:rPr sz="1000" b="1" i="0">
                <a:solidFill>
                  <a:srgbClr val="9A9AA4"/>
                </a:solidFill>
                <a:latin typeface="Segoe UI"/>
              </a:rPr>
              <a:t>Choice</a:t>
            </a:r>
          </a:p>
        </p:txBody>
      </p:sp>
      <p:sp>
        <p:nvSpPr>
          <p:cNvPr id="8" name="Rectangle 7"/>
          <p:cNvSpPr/>
          <p:nvPr/>
        </p:nvSpPr>
        <p:spPr>
          <a:xfrm>
            <a:off x="868680" y="2660904"/>
            <a:ext cx="10454335" cy="12700"/>
          </a:xfrm>
          <a:prstGeom prst="rect">
            <a:avLst/>
          </a:prstGeom>
          <a:solidFill>
            <a:srgbClr val="DC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770632"/>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Geant4 events</a:t>
            </a:r>
          </a:p>
        </p:txBody>
      </p:sp>
      <p:sp>
        <p:nvSpPr>
          <p:cNvPr id="10" name="TextBox 9"/>
          <p:cNvSpPr txBox="1"/>
          <p:nvPr/>
        </p:nvSpPr>
        <p:spPr>
          <a:xfrm>
            <a:off x="5074920" y="2770632"/>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40,000 from the sealed test split</a:t>
            </a:r>
          </a:p>
        </p:txBody>
      </p:sp>
      <p:sp>
        <p:nvSpPr>
          <p:cNvPr id="11" name="Rectangle 10"/>
          <p:cNvSpPr/>
          <p:nvPr/>
        </p:nvSpPr>
        <p:spPr>
          <a:xfrm>
            <a:off x="758952" y="3040380"/>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76956"/>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Fast-MC events</a:t>
            </a:r>
          </a:p>
        </p:txBody>
      </p:sp>
      <p:sp>
        <p:nvSpPr>
          <p:cNvPr id="13" name="TextBox 12"/>
          <p:cNvSpPr txBox="1"/>
          <p:nvPr/>
        </p:nvSpPr>
        <p:spPr>
          <a:xfrm>
            <a:off x="5074920" y="3076956"/>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40,000 — 10,000 from each of the four trained variants</a:t>
            </a:r>
          </a:p>
        </p:txBody>
      </p:sp>
      <p:sp>
        <p:nvSpPr>
          <p:cNvPr id="14" name="TextBox 13"/>
          <p:cNvSpPr txBox="1"/>
          <p:nvPr/>
        </p:nvSpPr>
        <p:spPr>
          <a:xfrm>
            <a:off x="868680" y="3383280"/>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Classifier input</a:t>
            </a:r>
          </a:p>
        </p:txBody>
      </p:sp>
      <p:sp>
        <p:nvSpPr>
          <p:cNvPr id="15" name="TextBox 14"/>
          <p:cNvSpPr txBox="1"/>
          <p:nvPr/>
        </p:nvSpPr>
        <p:spPr>
          <a:xfrm>
            <a:off x="5074920" y="3383280"/>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all 6,790 channel energies, the geometry, and the four-momentum</a:t>
            </a:r>
          </a:p>
        </p:txBody>
      </p:sp>
      <p:sp>
        <p:nvSpPr>
          <p:cNvPr id="16" name="Rectangle 15"/>
          <p:cNvSpPr/>
          <p:nvPr/>
        </p:nvSpPr>
        <p:spPr>
          <a:xfrm>
            <a:off x="758952" y="3653028"/>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689604"/>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Split</a:t>
            </a:r>
          </a:p>
        </p:txBody>
      </p:sp>
      <p:sp>
        <p:nvSpPr>
          <p:cNvPr id="18" name="TextBox 17"/>
          <p:cNvSpPr txBox="1"/>
          <p:nvPr/>
        </p:nvSpPr>
        <p:spPr>
          <a:xfrm>
            <a:off x="5074920" y="3689604"/>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70% train / 15% validation / 15% scored once</a:t>
            </a:r>
          </a:p>
        </p:txBody>
      </p:sp>
      <p:sp>
        <p:nvSpPr>
          <p:cNvPr id="19" name="TextBox 18"/>
          <p:cNvSpPr txBox="1"/>
          <p:nvPr/>
        </p:nvSpPr>
        <p:spPr>
          <a:xfrm>
            <a:off x="868680" y="3995928"/>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Repeats</a:t>
            </a:r>
          </a:p>
        </p:txBody>
      </p:sp>
      <p:sp>
        <p:nvSpPr>
          <p:cNvPr id="20" name="TextBox 19"/>
          <p:cNvSpPr txBox="1"/>
          <p:nvPr/>
        </p:nvSpPr>
        <p:spPr>
          <a:xfrm>
            <a:off x="5074920" y="3995928"/>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5 independent trainings, reported as mean +/- spread</a:t>
            </a:r>
          </a:p>
        </p:txBody>
      </p:sp>
      <p:sp>
        <p:nvSpPr>
          <p:cNvPr id="21" name="Rectangle 20"/>
          <p:cNvSpPr/>
          <p:nvPr/>
        </p:nvSpPr>
        <p:spPr>
          <a:xfrm>
            <a:off x="758952" y="4265676"/>
            <a:ext cx="10673791" cy="30632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302252"/>
            <a:ext cx="4114800" cy="306324"/>
          </a:xfrm>
          <a:prstGeom prst="rect">
            <a:avLst/>
          </a:prstGeom>
          <a:noFill/>
        </p:spPr>
        <p:txBody>
          <a:bodyPr wrap="square" lIns="0" rIns="0" tIns="0" bIns="0">
            <a:spAutoFit/>
          </a:bodyPr>
          <a:lstStyle/>
          <a:p>
            <a:pPr>
              <a:lnSpc>
                <a:spcPct val="115000"/>
              </a:lnSpc>
              <a:spcBef>
                <a:spcPts val="0"/>
              </a:spcBef>
              <a:spcAft>
                <a:spcPts val="0"/>
              </a:spcAft>
            </a:pPr>
            <a:r>
              <a:rPr sz="1200" b="1" i="0">
                <a:solidFill>
                  <a:srgbClr val="16161D"/>
                </a:solidFill>
                <a:latin typeface="Segoe UI"/>
              </a:rPr>
              <a:t>Controls</a:t>
            </a:r>
          </a:p>
        </p:txBody>
      </p:sp>
      <p:sp>
        <p:nvSpPr>
          <p:cNvPr id="23" name="TextBox 22"/>
          <p:cNvSpPr txBox="1"/>
          <p:nvPr/>
        </p:nvSpPr>
        <p:spPr>
          <a:xfrm>
            <a:off x="5074920" y="4302252"/>
            <a:ext cx="2880360" cy="306324"/>
          </a:xfrm>
          <a:prstGeom prst="rect">
            <a:avLst/>
          </a:prstGeom>
          <a:noFill/>
        </p:spPr>
        <p:txBody>
          <a:bodyPr wrap="square" lIns="0" rIns="0" tIns="0" bIns="0">
            <a:spAutoFit/>
          </a:bodyPr>
          <a:lstStyle/>
          <a:p>
            <a:pPr>
              <a:lnSpc>
                <a:spcPct val="115000"/>
              </a:lnSpc>
              <a:spcBef>
                <a:spcPts val="0"/>
              </a:spcBef>
              <a:spcAft>
                <a:spcPts val="0"/>
              </a:spcAft>
            </a:pPr>
            <a:r>
              <a:rPr sz="1200" b="0" i="0">
                <a:solidFill>
                  <a:srgbClr val="6B6B76"/>
                </a:solidFill>
                <a:latin typeface="Segoe UI"/>
              </a:rPr>
              <a:t>3 further classifiers, including one that sees only the four-momentum</a:t>
            </a:r>
          </a:p>
        </p:txBody>
      </p:sp>
      <p:sp>
        <p:nvSpPr>
          <p:cNvPr id="24" name="Rectangle 23"/>
          <p:cNvSpPr/>
          <p:nvPr/>
        </p:nvSpPr>
        <p:spPr>
          <a:xfrm>
            <a:off x="868680" y="5610760"/>
            <a:ext cx="10454335" cy="680312"/>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8680" y="5610760"/>
            <a:ext cx="38100" cy="680312"/>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9848" y="5729632"/>
            <a:ext cx="10051999" cy="497432"/>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The control that sees only the four-momentum is the critical one. If it can separate the two sets, then the real and generated events had mismatched inputs and the whole test is invalid.</a:t>
            </a:r>
          </a:p>
        </p:txBody>
      </p:sp>
      <p:sp>
        <p:nvSpPr>
          <p:cNvPr id="27" name="TextBox 26"/>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What we actually ran</a:t>
            </a:r>
          </a:p>
        </p:txBody>
      </p:sp>
      <p:sp>
        <p:nvSpPr>
          <p:cNvPr id="28" name="TextBox 27"/>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RESULT</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The classifier separates them almost perfectly</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1810512"/>
            <a:ext cx="10454335" cy="1417320"/>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011680"/>
            <a:ext cx="10454335" cy="1005840"/>
          </a:xfrm>
          <a:prstGeom prst="rect">
            <a:avLst/>
          </a:prstGeom>
          <a:noFill/>
        </p:spPr>
        <p:txBody>
          <a:bodyPr wrap="square" lIns="0" rIns="0" tIns="0" bIns="0">
            <a:spAutoFit/>
          </a:bodyPr>
          <a:lstStyle/>
          <a:p>
            <a:pPr algn="ctr">
              <a:spcAft>
                <a:spcPts val="400"/>
              </a:spcAft>
            </a:pPr>
            <a:r>
              <a:rPr sz="4600" b="1" i="0">
                <a:solidFill>
                  <a:srgbClr val="D1495B"/>
                </a:solidFill>
                <a:latin typeface="Segoe UI"/>
              </a:rPr>
              <a:t>AUROC  0.99945</a:t>
            </a:r>
          </a:p>
          <a:p>
            <a:pPr algn="ctr"/>
            <a:r>
              <a:rPr sz="1250" b="0" i="0">
                <a:solidFill>
                  <a:srgbClr val="6B6B76"/>
                </a:solidFill>
                <a:latin typeface="Segoe UI"/>
              </a:rPr>
              <a:t>+/- 0.00009 over 5 independent trainings   (0.5 = indistinguishable)</a:t>
            </a:r>
          </a:p>
        </p:txBody>
      </p:sp>
      <p:sp>
        <p:nvSpPr>
          <p:cNvPr id="7" name="TextBox 6"/>
          <p:cNvSpPr txBox="1"/>
          <p:nvPr/>
        </p:nvSpPr>
        <p:spPr>
          <a:xfrm>
            <a:off x="868680" y="3502152"/>
            <a:ext cx="10454335" cy="2578608"/>
          </a:xfrm>
          <a:prstGeom prst="rect">
            <a:avLst/>
          </a:prstGeom>
          <a:noFill/>
        </p:spPr>
        <p:txBody>
          <a:bodyPr wrap="square" lIns="0" rIns="0" tIns="0" bIns="0">
            <a:spAutoFit/>
          </a:bodyPr>
          <a:lstStyle/>
          <a:p>
            <a:pPr>
              <a:lnSpc>
                <a:spcPct val="115000"/>
              </a:lnSpc>
              <a:spcBef>
                <a:spcPts val="0"/>
              </a:spcBef>
              <a:spcAft>
                <a:spcPts val="200"/>
              </a:spcAft>
            </a:pPr>
            <a:r>
              <a:rPr sz="1250" b="1" i="0">
                <a:solidFill>
                  <a:srgbClr val="16161D"/>
                </a:solidFill>
                <a:latin typeface="Segoe UI"/>
              </a:rPr>
              <a:t>In plain terms</a:t>
            </a:r>
          </a:p>
          <a:p>
            <a:pPr>
              <a:lnSpc>
                <a:spcPct val="134000"/>
              </a:lnSpc>
              <a:spcBef>
                <a:spcPts val="0"/>
              </a:spcBef>
              <a:spcAft>
                <a:spcPts val="1100"/>
              </a:spcAft>
            </a:pPr>
            <a:r>
              <a:rPr sz="1150" b="0" i="0">
                <a:solidFill>
                  <a:srgbClr val="6B6B76"/>
                </a:solidFill>
                <a:latin typeface="Segoe UI"/>
              </a:rPr>
              <a:t>Hand the classifier one event. It tells you whether it came from Geant4 or from the Fast-MC, and it is right essentially every time. At epoch 4 the two sources are trivially distinguishable.</a:t>
            </a:r>
          </a:p>
          <a:p>
            <a:pPr>
              <a:lnSpc>
                <a:spcPct val="115000"/>
              </a:lnSpc>
              <a:spcBef>
                <a:spcPts val="400"/>
              </a:spcBef>
              <a:spcAft>
                <a:spcPts val="200"/>
              </a:spcAft>
            </a:pPr>
            <a:r>
              <a:rPr sz="1250" b="1" i="0">
                <a:solidFill>
                  <a:srgbClr val="16161D"/>
                </a:solidFill>
                <a:latin typeface="Segoe UI"/>
              </a:rPr>
              <a:t>This is a useful result, not a disappointment</a:t>
            </a:r>
          </a:p>
          <a:p>
            <a:pPr>
              <a:lnSpc>
                <a:spcPct val="134000"/>
              </a:lnSpc>
              <a:spcBef>
                <a:spcPts val="0"/>
              </a:spcBef>
              <a:spcAft>
                <a:spcPts val="1100"/>
              </a:spcAft>
            </a:pPr>
            <a:r>
              <a:rPr sz="1150" b="0" i="0">
                <a:solidFill>
                  <a:srgbClr val="6B6B76"/>
                </a:solidFill>
                <a:latin typeface="Segoe UI"/>
              </a:rPr>
              <a:t>It is a falsification with a return address. Because the classifier is this confident, we can interrogate it and find out exactly which physical features give the game away — which is worth far more than a borderline score would have been.</a:t>
            </a:r>
          </a:p>
        </p:txBody>
      </p:sp>
      <p:sp>
        <p:nvSpPr>
          <p:cNvPr id="8" name="TextBox 7"/>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The classifier separates them almost perfectly</a:t>
            </a:r>
          </a:p>
        </p:txBody>
      </p:sp>
      <p:sp>
        <p:nvSpPr>
          <p:cNvPr id="9" name="TextBox 8"/>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RESULT</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Is the result real? The controls say yes</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A classifier that sees only the incident four-momentum scores 0.5036 — chance. Its loss came out at 0.69316 against ln 2 = 0.69315.</a:t>
            </a:r>
          </a:p>
        </p:txBody>
      </p:sp>
      <p:pic>
        <p:nvPicPr>
          <p:cNvPr id="6" name="Picture 5" descr="results_fig01_roc_curves.png"/>
          <p:cNvPicPr>
            <a:picLocks noChangeAspect="1"/>
          </p:cNvPicPr>
          <p:nvPr/>
        </p:nvPicPr>
        <p:blipFill>
          <a:blip r:embed="rId2"/>
          <a:stretch>
            <a:fillRect/>
          </a:stretch>
        </p:blipFill>
        <p:spPr>
          <a:xfrm>
            <a:off x="868680" y="2450592"/>
            <a:ext cx="3603894" cy="3675887"/>
          </a:xfrm>
          <a:prstGeom prst="rect">
            <a:avLst/>
          </a:prstGeom>
        </p:spPr>
      </p:pic>
      <p:sp>
        <p:nvSpPr>
          <p:cNvPr id="7" name="Rectangle 6"/>
          <p:cNvSpPr/>
          <p:nvPr/>
        </p:nvSpPr>
        <p:spPr>
          <a:xfrm>
            <a:off x="7818120" y="2478024"/>
            <a:ext cx="384048"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679192"/>
            <a:ext cx="3504895" cy="3493008"/>
          </a:xfrm>
          <a:prstGeom prst="rect">
            <a:avLst/>
          </a:prstGeom>
          <a:noFill/>
        </p:spPr>
        <p:txBody>
          <a:bodyPr wrap="square" lIns="0" rIns="0" tIns="0" bIns="0">
            <a:spAutoFit/>
          </a:bodyPr>
          <a:lstStyle/>
          <a:p>
            <a:pPr>
              <a:lnSpc>
                <a:spcPct val="134000"/>
              </a:lnSpc>
              <a:spcBef>
                <a:spcPts val="0"/>
              </a:spcBef>
              <a:spcAft>
                <a:spcPts val="1100"/>
              </a:spcAft>
            </a:pPr>
            <a:r>
              <a:rPr sz="1150" b="0" i="0">
                <a:solidFill>
                  <a:srgbClr val="16161D"/>
                </a:solidFill>
                <a:latin typeface="Segoe UI"/>
              </a:rPr>
              <a:t>The four-momentum alone carries no information about which generator made the event, so the separation is genuinely in the calorimeter deposits.</a:t>
            </a:r>
          </a:p>
          <a:p>
            <a:pPr>
              <a:lnSpc>
                <a:spcPct val="134000"/>
              </a:lnSpc>
              <a:spcBef>
                <a:spcPts val="0"/>
              </a:spcBef>
              <a:spcAft>
                <a:spcPts val="1100"/>
              </a:spcAft>
            </a:pPr>
            <a:r>
              <a:rPr sz="1150" b="0" i="0">
                <a:solidFill>
                  <a:srgbClr val="16161D"/>
                </a:solidFill>
                <a:latin typeface="Segoe UI"/>
              </a:rPr>
              <a:t>A geometry-blind classifier on the raw 6,790 channels reaches 0.9962; one using only 15 physics summary variables reaches 0.9852. The difference is visible at every level of detail.</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Is the result real? The controls say yes</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DIAGNOSIS</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What the model gets right, and what it gets wrong</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269748"/>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Scoring each physical observable on its own turns one number into a diagnosis. The pattern is remarkably clean.</a:t>
            </a:r>
          </a:p>
        </p:txBody>
      </p:sp>
      <p:sp>
        <p:nvSpPr>
          <p:cNvPr id="6" name="Rectangle 5"/>
          <p:cNvSpPr/>
          <p:nvPr/>
        </p:nvSpPr>
        <p:spPr>
          <a:xfrm>
            <a:off x="868680" y="2189988"/>
            <a:ext cx="4952847" cy="31750"/>
          </a:xfrm>
          <a:prstGeom prst="rect">
            <a:avLst/>
          </a:prstGeom>
          <a:solidFill>
            <a:srgbClr val="2B4C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336292"/>
            <a:ext cx="4952847" cy="292608"/>
          </a:xfrm>
          <a:prstGeom prst="rect">
            <a:avLst/>
          </a:prstGeom>
          <a:noFill/>
        </p:spPr>
        <p:txBody>
          <a:bodyPr wrap="square" lIns="0" rIns="0" tIns="0" bIns="0">
            <a:spAutoFit/>
          </a:bodyPr>
          <a:lstStyle/>
          <a:p>
            <a:pPr>
              <a:lnSpc>
                <a:spcPct val="125000"/>
              </a:lnSpc>
              <a:spcBef>
                <a:spcPts val="0"/>
              </a:spcBef>
              <a:spcAft>
                <a:spcPts val="0"/>
              </a:spcAft>
            </a:pPr>
            <a:r>
              <a:rPr sz="1400" b="1" i="0">
                <a:solidFill>
                  <a:srgbClr val="2B4C7E"/>
                </a:solidFill>
                <a:latin typeface="Segoe UI"/>
              </a:rPr>
              <a:t>Essentially correct</a:t>
            </a:r>
          </a:p>
        </p:txBody>
      </p:sp>
      <p:sp>
        <p:nvSpPr>
          <p:cNvPr id="8" name="TextBox 7"/>
          <p:cNvSpPr txBox="1"/>
          <p:nvPr/>
        </p:nvSpPr>
        <p:spPr>
          <a:xfrm>
            <a:off x="868680" y="2756916"/>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Total deposited energy</a:t>
            </a:r>
          </a:p>
        </p:txBody>
      </p:sp>
      <p:sp>
        <p:nvSpPr>
          <p:cNvPr id="9" name="TextBox 8"/>
          <p:cNvSpPr txBox="1"/>
          <p:nvPr/>
        </p:nvSpPr>
        <p:spPr>
          <a:xfrm>
            <a:off x="4404207" y="2756916"/>
            <a:ext cx="1417320" cy="310896"/>
          </a:xfrm>
          <a:prstGeom prst="rect">
            <a:avLst/>
          </a:prstGeom>
          <a:noFill/>
        </p:spPr>
        <p:txBody>
          <a:bodyPr wrap="square" lIns="0" rIns="0" tIns="0" bIns="0">
            <a:spAutoFit/>
          </a:bodyPr>
          <a:lstStyle/>
          <a:p>
            <a:pPr algn="r">
              <a:spcAft>
                <a:spcPts val="0"/>
              </a:spcAft>
            </a:pPr>
            <a:r>
              <a:rPr sz="1200" b="1" i="0">
                <a:solidFill>
                  <a:srgbClr val="2B4C7E"/>
                </a:solidFill>
                <a:latin typeface="Consolas"/>
              </a:rPr>
              <a:t>+3.0%</a:t>
            </a:r>
          </a:p>
        </p:txBody>
      </p:sp>
      <p:sp>
        <p:nvSpPr>
          <p:cNvPr id="10" name="Rectangle 9"/>
          <p:cNvSpPr/>
          <p:nvPr/>
        </p:nvSpPr>
        <p:spPr>
          <a:xfrm>
            <a:off x="777240" y="3049524"/>
            <a:ext cx="5135727" cy="32918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086100"/>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Number of cells hit</a:t>
            </a:r>
          </a:p>
        </p:txBody>
      </p:sp>
      <p:sp>
        <p:nvSpPr>
          <p:cNvPr id="12" name="TextBox 11"/>
          <p:cNvSpPr txBox="1"/>
          <p:nvPr/>
        </p:nvSpPr>
        <p:spPr>
          <a:xfrm>
            <a:off x="4404207" y="3086100"/>
            <a:ext cx="1417320" cy="310896"/>
          </a:xfrm>
          <a:prstGeom prst="rect">
            <a:avLst/>
          </a:prstGeom>
          <a:noFill/>
        </p:spPr>
        <p:txBody>
          <a:bodyPr wrap="square" lIns="0" rIns="0" tIns="0" bIns="0">
            <a:spAutoFit/>
          </a:bodyPr>
          <a:lstStyle/>
          <a:p>
            <a:pPr algn="r">
              <a:spcAft>
                <a:spcPts val="0"/>
              </a:spcAft>
            </a:pPr>
            <a:r>
              <a:rPr sz="1200" b="1" i="0">
                <a:solidFill>
                  <a:srgbClr val="2B4C7E"/>
                </a:solidFill>
                <a:latin typeface="Consolas"/>
              </a:rPr>
              <a:t>-1.4%</a:t>
            </a:r>
          </a:p>
        </p:txBody>
      </p:sp>
      <p:sp>
        <p:nvSpPr>
          <p:cNvPr id="13" name="TextBox 12"/>
          <p:cNvSpPr txBox="1"/>
          <p:nvPr/>
        </p:nvSpPr>
        <p:spPr>
          <a:xfrm>
            <a:off x="868680" y="3415284"/>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ECAL energy fraction</a:t>
            </a:r>
          </a:p>
        </p:txBody>
      </p:sp>
      <p:sp>
        <p:nvSpPr>
          <p:cNvPr id="14" name="TextBox 13"/>
          <p:cNvSpPr txBox="1"/>
          <p:nvPr/>
        </p:nvSpPr>
        <p:spPr>
          <a:xfrm>
            <a:off x="4404207" y="3415284"/>
            <a:ext cx="1417320" cy="310896"/>
          </a:xfrm>
          <a:prstGeom prst="rect">
            <a:avLst/>
          </a:prstGeom>
          <a:noFill/>
        </p:spPr>
        <p:txBody>
          <a:bodyPr wrap="square" lIns="0" rIns="0" tIns="0" bIns="0">
            <a:spAutoFit/>
          </a:bodyPr>
          <a:lstStyle/>
          <a:p>
            <a:pPr algn="r">
              <a:spcAft>
                <a:spcPts val="0"/>
              </a:spcAft>
            </a:pPr>
            <a:r>
              <a:rPr sz="1200" b="1" i="0">
                <a:solidFill>
                  <a:srgbClr val="2B4C7E"/>
                </a:solidFill>
                <a:latin typeface="Consolas"/>
              </a:rPr>
              <a:t>-0.00003%</a:t>
            </a:r>
          </a:p>
        </p:txBody>
      </p:sp>
      <p:sp>
        <p:nvSpPr>
          <p:cNvPr id="15" name="Rectangle 14"/>
          <p:cNvSpPr/>
          <p:nvPr/>
        </p:nvSpPr>
        <p:spPr>
          <a:xfrm>
            <a:off x="777240" y="3707892"/>
            <a:ext cx="5135727" cy="32918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44468"/>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Shower depth centroid</a:t>
            </a:r>
          </a:p>
        </p:txBody>
      </p:sp>
      <p:sp>
        <p:nvSpPr>
          <p:cNvPr id="17" name="TextBox 16"/>
          <p:cNvSpPr txBox="1"/>
          <p:nvPr/>
        </p:nvSpPr>
        <p:spPr>
          <a:xfrm>
            <a:off x="4404207" y="3744468"/>
            <a:ext cx="1417320" cy="310896"/>
          </a:xfrm>
          <a:prstGeom prst="rect">
            <a:avLst/>
          </a:prstGeom>
          <a:noFill/>
        </p:spPr>
        <p:txBody>
          <a:bodyPr wrap="square" lIns="0" rIns="0" tIns="0" bIns="0">
            <a:spAutoFit/>
          </a:bodyPr>
          <a:lstStyle/>
          <a:p>
            <a:pPr algn="r">
              <a:spcAft>
                <a:spcPts val="0"/>
              </a:spcAft>
            </a:pPr>
            <a:r>
              <a:rPr sz="1200" b="1" i="0">
                <a:solidFill>
                  <a:srgbClr val="2B4C7E"/>
                </a:solidFill>
                <a:latin typeface="Consolas"/>
              </a:rPr>
              <a:t>-4.0%</a:t>
            </a:r>
          </a:p>
        </p:txBody>
      </p:sp>
      <p:sp>
        <p:nvSpPr>
          <p:cNvPr id="18" name="TextBox 17"/>
          <p:cNvSpPr txBox="1"/>
          <p:nvPr/>
        </p:nvSpPr>
        <p:spPr>
          <a:xfrm>
            <a:off x="868680" y="4073652"/>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Number of active layers</a:t>
            </a:r>
          </a:p>
        </p:txBody>
      </p:sp>
      <p:sp>
        <p:nvSpPr>
          <p:cNvPr id="19" name="TextBox 18"/>
          <p:cNvSpPr txBox="1"/>
          <p:nvPr/>
        </p:nvSpPr>
        <p:spPr>
          <a:xfrm>
            <a:off x="4404207" y="4073652"/>
            <a:ext cx="1417320" cy="310896"/>
          </a:xfrm>
          <a:prstGeom prst="rect">
            <a:avLst/>
          </a:prstGeom>
          <a:noFill/>
        </p:spPr>
        <p:txBody>
          <a:bodyPr wrap="square" lIns="0" rIns="0" tIns="0" bIns="0">
            <a:spAutoFit/>
          </a:bodyPr>
          <a:lstStyle/>
          <a:p>
            <a:pPr algn="r">
              <a:spcAft>
                <a:spcPts val="0"/>
              </a:spcAft>
            </a:pPr>
            <a:r>
              <a:rPr sz="1200" b="1" i="0">
                <a:solidFill>
                  <a:srgbClr val="2B4C7E"/>
                </a:solidFill>
                <a:latin typeface="Consolas"/>
              </a:rPr>
              <a:t>-2%</a:t>
            </a:r>
          </a:p>
        </p:txBody>
      </p:sp>
      <p:sp>
        <p:nvSpPr>
          <p:cNvPr id="20" name="Rectangle 19"/>
          <p:cNvSpPr/>
          <p:nvPr/>
        </p:nvSpPr>
        <p:spPr>
          <a:xfrm>
            <a:off x="6370167" y="2189988"/>
            <a:ext cx="4952847"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0167" y="2336292"/>
            <a:ext cx="4952847" cy="292608"/>
          </a:xfrm>
          <a:prstGeom prst="rect">
            <a:avLst/>
          </a:prstGeom>
          <a:noFill/>
        </p:spPr>
        <p:txBody>
          <a:bodyPr wrap="square" lIns="0" rIns="0" tIns="0" bIns="0">
            <a:spAutoFit/>
          </a:bodyPr>
          <a:lstStyle/>
          <a:p>
            <a:pPr>
              <a:lnSpc>
                <a:spcPct val="125000"/>
              </a:lnSpc>
              <a:spcBef>
                <a:spcPts val="0"/>
              </a:spcBef>
              <a:spcAft>
                <a:spcPts val="0"/>
              </a:spcAft>
            </a:pPr>
            <a:r>
              <a:rPr sz="1400" b="1" i="0">
                <a:solidFill>
                  <a:srgbClr val="D1495B"/>
                </a:solidFill>
                <a:latin typeface="Segoe UI"/>
              </a:rPr>
              <a:t>Systematically wrong</a:t>
            </a:r>
          </a:p>
        </p:txBody>
      </p:sp>
      <p:sp>
        <p:nvSpPr>
          <p:cNvPr id="22" name="TextBox 21"/>
          <p:cNvSpPr txBox="1"/>
          <p:nvPr/>
        </p:nvSpPr>
        <p:spPr>
          <a:xfrm>
            <a:off x="6370167" y="2756916"/>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Transverse shower width</a:t>
            </a:r>
          </a:p>
        </p:txBody>
      </p:sp>
      <p:sp>
        <p:nvSpPr>
          <p:cNvPr id="23" name="TextBox 22"/>
          <p:cNvSpPr txBox="1"/>
          <p:nvPr/>
        </p:nvSpPr>
        <p:spPr>
          <a:xfrm>
            <a:off x="9905695" y="2756916"/>
            <a:ext cx="1417320" cy="310896"/>
          </a:xfrm>
          <a:prstGeom prst="rect">
            <a:avLst/>
          </a:prstGeom>
          <a:noFill/>
        </p:spPr>
        <p:txBody>
          <a:bodyPr wrap="square" lIns="0" rIns="0" tIns="0" bIns="0">
            <a:spAutoFit/>
          </a:bodyPr>
          <a:lstStyle/>
          <a:p>
            <a:pPr algn="r">
              <a:spcAft>
                <a:spcPts val="0"/>
              </a:spcAft>
            </a:pPr>
            <a:r>
              <a:rPr sz="1200" b="1" i="0">
                <a:solidFill>
                  <a:srgbClr val="D1495B"/>
                </a:solidFill>
                <a:latin typeface="Consolas"/>
              </a:rPr>
              <a:t>+22% to +27%</a:t>
            </a:r>
          </a:p>
        </p:txBody>
      </p:sp>
      <p:sp>
        <p:nvSpPr>
          <p:cNvPr id="24" name="Rectangle 23"/>
          <p:cNvSpPr/>
          <p:nvPr/>
        </p:nvSpPr>
        <p:spPr>
          <a:xfrm>
            <a:off x="6278727" y="3049524"/>
            <a:ext cx="5135727" cy="32918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70167" y="3086100"/>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Hottest-cell energy share</a:t>
            </a:r>
          </a:p>
        </p:txBody>
      </p:sp>
      <p:sp>
        <p:nvSpPr>
          <p:cNvPr id="26" name="TextBox 25"/>
          <p:cNvSpPr txBox="1"/>
          <p:nvPr/>
        </p:nvSpPr>
        <p:spPr>
          <a:xfrm>
            <a:off x="9905695" y="3086100"/>
            <a:ext cx="1417320" cy="310896"/>
          </a:xfrm>
          <a:prstGeom prst="rect">
            <a:avLst/>
          </a:prstGeom>
          <a:noFill/>
        </p:spPr>
        <p:txBody>
          <a:bodyPr wrap="square" lIns="0" rIns="0" tIns="0" bIns="0">
            <a:spAutoFit/>
          </a:bodyPr>
          <a:lstStyle/>
          <a:p>
            <a:pPr algn="r">
              <a:spcAft>
                <a:spcPts val="0"/>
              </a:spcAft>
            </a:pPr>
            <a:r>
              <a:rPr sz="1200" b="1" i="0">
                <a:solidFill>
                  <a:srgbClr val="D1495B"/>
                </a:solidFill>
                <a:latin typeface="Consolas"/>
              </a:rPr>
              <a:t>-41% to -56%</a:t>
            </a:r>
          </a:p>
        </p:txBody>
      </p:sp>
      <p:sp>
        <p:nvSpPr>
          <p:cNvPr id="27" name="TextBox 26"/>
          <p:cNvSpPr txBox="1"/>
          <p:nvPr/>
        </p:nvSpPr>
        <p:spPr>
          <a:xfrm>
            <a:off x="6370167" y="3415284"/>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Top-5 cell energy share</a:t>
            </a:r>
          </a:p>
        </p:txBody>
      </p:sp>
      <p:sp>
        <p:nvSpPr>
          <p:cNvPr id="28" name="TextBox 27"/>
          <p:cNvSpPr txBox="1"/>
          <p:nvPr/>
        </p:nvSpPr>
        <p:spPr>
          <a:xfrm>
            <a:off x="9905695" y="3415284"/>
            <a:ext cx="1417320" cy="310896"/>
          </a:xfrm>
          <a:prstGeom prst="rect">
            <a:avLst/>
          </a:prstGeom>
          <a:noFill/>
        </p:spPr>
        <p:txBody>
          <a:bodyPr wrap="square" lIns="0" rIns="0" tIns="0" bIns="0">
            <a:spAutoFit/>
          </a:bodyPr>
          <a:lstStyle/>
          <a:p>
            <a:pPr algn="r">
              <a:spcAft>
                <a:spcPts val="0"/>
              </a:spcAft>
            </a:pPr>
            <a:r>
              <a:rPr sz="1200" b="1" i="0">
                <a:solidFill>
                  <a:srgbClr val="D1495B"/>
                </a:solidFill>
                <a:latin typeface="Consolas"/>
              </a:rPr>
              <a:t>-27% to -39%</a:t>
            </a:r>
          </a:p>
        </p:txBody>
      </p:sp>
      <p:sp>
        <p:nvSpPr>
          <p:cNvPr id="29" name="Rectangle 28"/>
          <p:cNvSpPr/>
          <p:nvPr/>
        </p:nvSpPr>
        <p:spPr>
          <a:xfrm>
            <a:off x="6278727" y="3707892"/>
            <a:ext cx="5135727" cy="329184"/>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70167" y="3744468"/>
            <a:ext cx="3535527" cy="310896"/>
          </a:xfrm>
          <a:prstGeom prst="rect">
            <a:avLst/>
          </a:prstGeom>
          <a:noFill/>
        </p:spPr>
        <p:txBody>
          <a:bodyPr wrap="square" lIns="0" rIns="0" tIns="0" bIns="0">
            <a:spAutoFit/>
          </a:bodyPr>
          <a:lstStyle/>
          <a:p>
            <a:pPr>
              <a:lnSpc>
                <a:spcPct val="110000"/>
              </a:lnSpc>
              <a:spcBef>
                <a:spcPts val="0"/>
              </a:spcBef>
              <a:spcAft>
                <a:spcPts val="0"/>
              </a:spcAft>
            </a:pPr>
            <a:r>
              <a:rPr sz="1200" b="0" i="0">
                <a:solidFill>
                  <a:srgbClr val="16161D"/>
                </a:solidFill>
                <a:latin typeface="Segoe UI"/>
              </a:rPr>
              <a:t>Late-shower energy</a:t>
            </a:r>
          </a:p>
        </p:txBody>
      </p:sp>
      <p:sp>
        <p:nvSpPr>
          <p:cNvPr id="31" name="TextBox 30"/>
          <p:cNvSpPr txBox="1"/>
          <p:nvPr/>
        </p:nvSpPr>
        <p:spPr>
          <a:xfrm>
            <a:off x="9905695" y="3744468"/>
            <a:ext cx="1417320" cy="310896"/>
          </a:xfrm>
          <a:prstGeom prst="rect">
            <a:avLst/>
          </a:prstGeom>
          <a:noFill/>
        </p:spPr>
        <p:txBody>
          <a:bodyPr wrap="square" lIns="0" rIns="0" tIns="0" bIns="0">
            <a:spAutoFit/>
          </a:bodyPr>
          <a:lstStyle/>
          <a:p>
            <a:pPr algn="r">
              <a:spcAft>
                <a:spcPts val="0"/>
              </a:spcAft>
            </a:pPr>
            <a:r>
              <a:rPr sz="1200" b="1" i="0">
                <a:solidFill>
                  <a:srgbClr val="D1495B"/>
                </a:solidFill>
                <a:latin typeface="Consolas"/>
              </a:rPr>
              <a:t>-35% to -59%</a:t>
            </a:r>
          </a:p>
        </p:txBody>
      </p:sp>
      <p:sp>
        <p:nvSpPr>
          <p:cNvPr id="32" name="Rectangle 31"/>
          <p:cNvSpPr/>
          <p:nvPr/>
        </p:nvSpPr>
        <p:spPr>
          <a:xfrm>
            <a:off x="868680" y="5610760"/>
            <a:ext cx="10454335" cy="680312"/>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8680" y="5610760"/>
            <a:ext cx="38100" cy="680312"/>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69848" y="5729632"/>
            <a:ext cx="10051999" cy="497432"/>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The model gets the accounting right and the geography wrong. It puts the right total energy into the right number of cells across the right layers — and then spreads it too thinly and too widely inside each layer.</a:t>
            </a:r>
          </a:p>
        </p:txBody>
      </p:sp>
      <p:sp>
        <p:nvSpPr>
          <p:cNvPr id="35" name="TextBox 34"/>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What the model gets right, and what it gets wrong</a:t>
            </a:r>
          </a:p>
        </p:txBody>
      </p:sp>
      <p:sp>
        <p:nvSpPr>
          <p:cNvPr id="36" name="TextBox 35"/>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DIAGNOSIS</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The single clearest picture</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Energy density against distance from the shower centre, at three incident energies. The core is 2.5-3x too weak; beyond about one cell width the tail is 1.5-2x too strong.</a:t>
            </a:r>
          </a:p>
        </p:txBody>
      </p:sp>
      <p:pic>
        <p:nvPicPr>
          <p:cNvPr id="6" name="Picture 5" descr="exhibition_13_radial_energy_density.png"/>
          <p:cNvPicPr>
            <a:picLocks noChangeAspect="1"/>
          </p:cNvPicPr>
          <p:nvPr/>
        </p:nvPicPr>
        <p:blipFill>
          <a:blip r:embed="rId2"/>
          <a:stretch>
            <a:fillRect/>
          </a:stretch>
        </p:blipFill>
        <p:spPr>
          <a:xfrm>
            <a:off x="2332177" y="2450592"/>
            <a:ext cx="7527340" cy="2304288"/>
          </a:xfrm>
          <a:prstGeom prst="rect">
            <a:avLst/>
          </a:prstGeom>
        </p:spPr>
      </p:pic>
      <p:sp>
        <p:nvSpPr>
          <p:cNvPr id="7" name="Rectangle 6"/>
          <p:cNvSpPr/>
          <p:nvPr/>
        </p:nvSpPr>
        <p:spPr>
          <a:xfrm>
            <a:off x="868680" y="5029200"/>
            <a:ext cx="384048"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5212080"/>
            <a:ext cx="10454335" cy="960120"/>
          </a:xfrm>
          <a:prstGeom prst="rect">
            <a:avLst/>
          </a:prstGeom>
          <a:noFill/>
        </p:spPr>
        <p:txBody>
          <a:bodyPr wrap="square" lIns="0" rIns="0" tIns="0" bIns="0">
            <a:spAutoFit/>
          </a:bodyPr>
          <a:lstStyle/>
          <a:p>
            <a:pPr>
              <a:lnSpc>
                <a:spcPct val="132000"/>
              </a:lnSpc>
              <a:spcBef>
                <a:spcPts val="0"/>
              </a:spcBef>
              <a:spcAft>
                <a:spcPts val="800"/>
              </a:spcAft>
            </a:pPr>
            <a:r>
              <a:rPr sz="1150" b="0" i="0">
                <a:solidFill>
                  <a:srgbClr val="16161D"/>
                </a:solidFill>
                <a:latin typeface="Segoe UI"/>
              </a:rPr>
              <a:t>Energy is being taken out of the middle of the shower and scattered around the edges.</a:t>
            </a:r>
          </a:p>
          <a:p>
            <a:pPr>
              <a:lnSpc>
                <a:spcPct val="132000"/>
              </a:lnSpc>
              <a:spcBef>
                <a:spcPts val="0"/>
              </a:spcBef>
              <a:spcAft>
                <a:spcPts val="800"/>
              </a:spcAft>
            </a:pPr>
            <a:r>
              <a:rPr sz="1150" b="0" i="0">
                <a:solidFill>
                  <a:srgbClr val="16161D"/>
                </a:solidFill>
                <a:latin typeface="Segoe UI"/>
              </a:rPr>
              <a:t>The total is still right, which is why the energy-sum checks all pass. It is the arrangement that is wrong.</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The single clearest picture</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DIAGNOSIS</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The same story at every energy</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269748"/>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Every observable against every incident-energy bin. Red is too high, blue too low, white is agreement.</a:t>
            </a:r>
          </a:p>
        </p:txBody>
      </p:sp>
      <p:pic>
        <p:nvPicPr>
          <p:cNvPr id="6" name="Picture 5" descr="exhibition_17_relative_bias_heatmap.png"/>
          <p:cNvPicPr>
            <a:picLocks noChangeAspect="1"/>
          </p:cNvPicPr>
          <p:nvPr/>
        </p:nvPicPr>
        <p:blipFill>
          <a:blip r:embed="rId2"/>
          <a:stretch>
            <a:fillRect/>
          </a:stretch>
        </p:blipFill>
        <p:spPr>
          <a:xfrm>
            <a:off x="868680" y="2235708"/>
            <a:ext cx="6284775" cy="3890771"/>
          </a:xfrm>
          <a:prstGeom prst="rect">
            <a:avLst/>
          </a:prstGeom>
        </p:spPr>
      </p:pic>
      <p:sp>
        <p:nvSpPr>
          <p:cNvPr id="7" name="Rectangle 6"/>
          <p:cNvSpPr/>
          <p:nvPr/>
        </p:nvSpPr>
        <p:spPr>
          <a:xfrm>
            <a:off x="7818120" y="2263140"/>
            <a:ext cx="384048"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464308"/>
            <a:ext cx="3504895" cy="3707892"/>
          </a:xfrm>
          <a:prstGeom prst="rect">
            <a:avLst/>
          </a:prstGeom>
          <a:noFill/>
        </p:spPr>
        <p:txBody>
          <a:bodyPr wrap="square" lIns="0" rIns="0" tIns="0" bIns="0">
            <a:spAutoFit/>
          </a:bodyPr>
          <a:lstStyle/>
          <a:p>
            <a:pPr>
              <a:lnSpc>
                <a:spcPct val="134000"/>
              </a:lnSpc>
              <a:spcBef>
                <a:spcPts val="0"/>
              </a:spcBef>
              <a:spcAft>
                <a:spcPts val="1100"/>
              </a:spcAft>
            </a:pPr>
            <a:r>
              <a:rPr sz="1150" b="0" i="0">
                <a:solidFill>
                  <a:srgbClr val="16161D"/>
                </a:solidFill>
                <a:latin typeface="Segoe UI"/>
              </a:rPr>
              <a:t>The transverse-width excess is flat at +22% to +27% across the whole 0-300 GeV range.</a:t>
            </a:r>
          </a:p>
          <a:p>
            <a:pPr>
              <a:lnSpc>
                <a:spcPct val="134000"/>
              </a:lnSpc>
              <a:spcBef>
                <a:spcPts val="0"/>
              </a:spcBef>
              <a:spcAft>
                <a:spcPts val="1100"/>
              </a:spcAft>
            </a:pPr>
            <a:r>
              <a:rPr sz="1150" b="0" i="0">
                <a:solidFill>
                  <a:srgbClr val="16161D"/>
                </a:solidFill>
                <a:latin typeface="Segoe UI"/>
              </a:rPr>
              <a:t>The hottest-cell deficit gets steadily worse with energy, from -45% to -56%. Both patterns point at the same cause, which is the next-to-last slide.</a:t>
            </a:r>
          </a:p>
          <a:p>
            <a:pPr>
              <a:lnSpc>
                <a:spcPct val="134000"/>
              </a:lnSpc>
              <a:spcBef>
                <a:spcPts val="0"/>
              </a:spcBef>
              <a:spcAft>
                <a:spcPts val="1100"/>
              </a:spcAft>
            </a:pPr>
            <a:r>
              <a:rPr sz="1150" b="0" i="0">
                <a:solidFill>
                  <a:srgbClr val="16161D"/>
                </a:solidFill>
                <a:latin typeface="Segoe UI"/>
              </a:rPr>
              <a:t>The bottom two rows have unstable ratios at low energy because their reference values pass through zero; read their absolute values, not the percentages.</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The same story at every energy</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COMPARISON</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Do the four trained variants differ?</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Yes, consistently — and the ordering follows the training loss. But the differences are tiny next to the gap to Geant4.</a:t>
            </a:r>
          </a:p>
        </p:txBody>
      </p:sp>
      <p:pic>
        <p:nvPicPr>
          <p:cNvPr id="6" name="Picture 5" descr="results_fig02_per_family_auroc.png"/>
          <p:cNvPicPr>
            <a:picLocks noChangeAspect="1"/>
          </p:cNvPicPr>
          <p:nvPr/>
        </p:nvPicPr>
        <p:blipFill>
          <a:blip r:embed="rId2"/>
          <a:stretch>
            <a:fillRect/>
          </a:stretch>
        </p:blipFill>
        <p:spPr>
          <a:xfrm>
            <a:off x="868680" y="2450592"/>
            <a:ext cx="6537960" cy="3268980"/>
          </a:xfrm>
          <a:prstGeom prst="rect">
            <a:avLst/>
          </a:prstGeom>
        </p:spPr>
      </p:pic>
      <p:sp>
        <p:nvSpPr>
          <p:cNvPr id="7" name="Rectangle 6"/>
          <p:cNvSpPr/>
          <p:nvPr/>
        </p:nvSpPr>
        <p:spPr>
          <a:xfrm>
            <a:off x="7818120" y="2478024"/>
            <a:ext cx="384048"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679192"/>
            <a:ext cx="3504895" cy="3493008"/>
          </a:xfrm>
          <a:prstGeom prst="rect">
            <a:avLst/>
          </a:prstGeom>
          <a:noFill/>
        </p:spPr>
        <p:txBody>
          <a:bodyPr wrap="square" lIns="0" rIns="0" tIns="0" bIns="0">
            <a:spAutoFit/>
          </a:bodyPr>
          <a:lstStyle/>
          <a:p>
            <a:pPr>
              <a:lnSpc>
                <a:spcPct val="134000"/>
              </a:lnSpc>
              <a:spcBef>
                <a:spcPts val="0"/>
              </a:spcBef>
              <a:spcAft>
                <a:spcPts val="1100"/>
              </a:spcAft>
            </a:pPr>
            <a:r>
              <a:rPr sz="1150" b="0" i="0">
                <a:solidFill>
                  <a:srgbClr val="16161D"/>
                </a:solidFill>
                <a:latin typeface="Segoe UI"/>
              </a:rPr>
              <a:t>Three independent classifiers rank the four variants in the same order, and that order matches their validation losses. The best-trained variant is the hardest to detect.</a:t>
            </a:r>
          </a:p>
          <a:p>
            <a:pPr>
              <a:lnSpc>
                <a:spcPct val="134000"/>
              </a:lnSpc>
              <a:spcBef>
                <a:spcPts val="0"/>
              </a:spcBef>
              <a:spcAft>
                <a:spcPts val="1100"/>
              </a:spcAft>
            </a:pPr>
            <a:r>
              <a:rPr sz="1150" b="0" i="0">
                <a:solidFill>
                  <a:srgbClr val="16161D"/>
                </a:solidFill>
                <a:latin typeface="Segoe UI"/>
              </a:rPr>
              <a:t>All four sit between 0.977 and 0.9998. Better training does buy a slightly less detectable generator — but on this slope, optimising the current objective alone will not close the gap.</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Do the four trained variants differ?</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RESULT</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How much blurring hides the difference?</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Treat each cell's energy as a cloud of particles and let them diffuse. How far must they spread before the classifier is fooled?</a:t>
            </a:r>
          </a:p>
        </p:txBody>
      </p:sp>
      <p:pic>
        <p:nvPicPr>
          <p:cNvPr id="6" name="Picture 5" descr="results_fig04_diffusion_equivalence.png"/>
          <p:cNvPicPr>
            <a:picLocks noChangeAspect="1"/>
          </p:cNvPicPr>
          <p:nvPr/>
        </p:nvPicPr>
        <p:blipFill>
          <a:blip r:embed="rId2"/>
          <a:stretch>
            <a:fillRect/>
          </a:stretch>
        </p:blipFill>
        <p:spPr>
          <a:xfrm>
            <a:off x="868680" y="2450592"/>
            <a:ext cx="5594443" cy="3675888"/>
          </a:xfrm>
          <a:prstGeom prst="rect">
            <a:avLst/>
          </a:prstGeom>
        </p:spPr>
      </p:pic>
      <p:sp>
        <p:nvSpPr>
          <p:cNvPr id="7" name="Rectangle 6"/>
          <p:cNvSpPr/>
          <p:nvPr/>
        </p:nvSpPr>
        <p:spPr>
          <a:xfrm>
            <a:off x="7818120" y="2478024"/>
            <a:ext cx="384048"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679192"/>
            <a:ext cx="3504895" cy="3493008"/>
          </a:xfrm>
          <a:prstGeom prst="rect">
            <a:avLst/>
          </a:prstGeom>
          <a:noFill/>
        </p:spPr>
        <p:txBody>
          <a:bodyPr wrap="square" lIns="0" rIns="0" tIns="0" bIns="0">
            <a:spAutoFit/>
          </a:bodyPr>
          <a:lstStyle/>
          <a:p>
            <a:pPr>
              <a:lnSpc>
                <a:spcPct val="134000"/>
              </a:lnSpc>
              <a:spcBef>
                <a:spcPts val="0"/>
              </a:spcBef>
              <a:spcAft>
                <a:spcPts val="1100"/>
              </a:spcAft>
            </a:pPr>
            <a:r>
              <a:rPr sz="1150" b="0" i="0">
                <a:solidFill>
                  <a:srgbClr val="16161D"/>
                </a:solidFill>
                <a:latin typeface="Segoe UI"/>
              </a:rPr>
              <a:t>A frozen classifier is blinded by about one channel width, 36.8 mm, of diffusion.</a:t>
            </a:r>
          </a:p>
          <a:p>
            <a:pPr>
              <a:lnSpc>
                <a:spcPct val="134000"/>
              </a:lnSpc>
              <a:spcBef>
                <a:spcPts val="0"/>
              </a:spcBef>
              <a:spcAft>
                <a:spcPts val="1100"/>
              </a:spcAft>
            </a:pPr>
            <a:r>
              <a:rPr sz="1150" b="0" i="0">
                <a:solidFill>
                  <a:srgbClr val="16161D"/>
                </a:solidFill>
                <a:latin typeface="Segoe UI"/>
              </a:rPr>
              <a:t>But a classifier retrained on the blurred data still scores 0.984 at that same blurring. The difference was never erased — the frozen classifier merely lost the features it had learned.</a:t>
            </a:r>
          </a:p>
          <a:p>
            <a:pPr>
              <a:lnSpc>
                <a:spcPct val="134000"/>
              </a:lnSpc>
              <a:spcBef>
                <a:spcPts val="0"/>
              </a:spcBef>
              <a:spcAft>
                <a:spcPts val="1100"/>
              </a:spcAft>
            </a:pPr>
            <a:r>
              <a:rPr sz="1150" b="0" i="0">
                <a:solidFill>
                  <a:srgbClr val="16161D"/>
                </a:solidFill>
                <a:latin typeface="Segoe UI"/>
              </a:rPr>
              <a:t>Blurring cannot fix this defect in principle: it adds the same spread to both sets, so a ratio difference in width survives, and it conserves energy exactly by construction.</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How much blurring hides the difference?</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ROOT CAUSE</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Why: the cell-selection step is drowning in its own noise</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84632"/>
          </a:xfrm>
          <a:prstGeom prst="rect">
            <a:avLst/>
          </a:prstGeom>
          <a:noFill/>
        </p:spPr>
        <p:txBody>
          <a:bodyPr wrap="square" lIns="0" rIns="0" tIns="0" bIns="0">
            <a:spAutoFit/>
          </a:bodyPr>
          <a:lstStyle/>
          <a:p>
            <a:pPr>
              <a:lnSpc>
                <a:spcPct val="132000"/>
              </a:lnSpc>
              <a:spcBef>
                <a:spcPts val="0"/>
              </a:spcBef>
              <a:spcAft>
                <a:spcPts val="0"/>
              </a:spcAft>
            </a:pPr>
            <a:r>
              <a:rPr sz="1350" b="0" i="0">
                <a:solidFill>
                  <a:srgbClr val="6B6B76"/>
                </a:solidFill>
                <a:latin typeface="Segoe UI"/>
              </a:rPr>
              <a:t>Step 7 adds random noise to the network's cell scores before taking the top K. We measured how much of the network's learned preference survives that noise.</a:t>
            </a:r>
          </a:p>
        </p:txBody>
      </p:sp>
      <p:pic>
        <p:nvPicPr>
          <p:cNvPr id="6" name="Picture 5" descr="exhibition_18_gumbel_selection_sharpness.png"/>
          <p:cNvPicPr>
            <a:picLocks noChangeAspect="1"/>
          </p:cNvPicPr>
          <p:nvPr/>
        </p:nvPicPr>
        <p:blipFill>
          <a:blip r:embed="rId2"/>
          <a:stretch>
            <a:fillRect/>
          </a:stretch>
        </p:blipFill>
        <p:spPr>
          <a:xfrm>
            <a:off x="868680" y="2450592"/>
            <a:ext cx="5453073" cy="3675888"/>
          </a:xfrm>
          <a:prstGeom prst="rect">
            <a:avLst/>
          </a:prstGeom>
        </p:spPr>
      </p:pic>
      <p:sp>
        <p:nvSpPr>
          <p:cNvPr id="7" name="Rectangle 6"/>
          <p:cNvSpPr/>
          <p:nvPr/>
        </p:nvSpPr>
        <p:spPr>
          <a:xfrm>
            <a:off x="7818120" y="2478024"/>
            <a:ext cx="384048"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679192"/>
            <a:ext cx="3504895" cy="3493008"/>
          </a:xfrm>
          <a:prstGeom prst="rect">
            <a:avLst/>
          </a:prstGeom>
          <a:noFill/>
        </p:spPr>
        <p:txBody>
          <a:bodyPr wrap="square" lIns="0" rIns="0" tIns="0" bIns="0">
            <a:spAutoFit/>
          </a:bodyPr>
          <a:lstStyle/>
          <a:p>
            <a:pPr>
              <a:lnSpc>
                <a:spcPct val="134000"/>
              </a:lnSpc>
              <a:spcBef>
                <a:spcPts val="0"/>
              </a:spcBef>
              <a:spcAft>
                <a:spcPts val="900"/>
              </a:spcAft>
            </a:pPr>
            <a:r>
              <a:rPr sz="1100" b="0" i="0">
                <a:solidFill>
                  <a:srgbClr val="16161D"/>
                </a:solidFill>
                <a:latin typeface="Segoe UI"/>
              </a:rPr>
              <a:t>Sharpness of 1 means the learned ranking is followed exactly; 0 means the cells might as well have been picked at random within the layer. The current setting measures 0.466.</a:t>
            </a:r>
          </a:p>
          <a:p>
            <a:pPr>
              <a:lnSpc>
                <a:spcPct val="134000"/>
              </a:lnSpc>
              <a:spcBef>
                <a:spcPts val="0"/>
              </a:spcBef>
              <a:spcAft>
                <a:spcPts val="900"/>
              </a:spcAft>
            </a:pPr>
            <a:r>
              <a:rPr sz="1100" b="0" i="0">
                <a:solidFill>
                  <a:srgbClr val="16161D"/>
                </a:solidFill>
                <a:latin typeface="Segoe UI"/>
              </a:rPr>
              <a:t>The noise added is about fifty times larger than the score gap it is disturbing. So roughly one selected cell in two is placed by chance rather than by the geometry network.</a:t>
            </a:r>
          </a:p>
          <a:p>
            <a:pPr>
              <a:lnSpc>
                <a:spcPct val="134000"/>
              </a:lnSpc>
              <a:spcBef>
                <a:spcPts val="0"/>
              </a:spcBef>
              <a:spcAft>
                <a:spcPts val="900"/>
              </a:spcAft>
            </a:pPr>
            <a:r>
              <a:rPr sz="1100" b="0" i="0">
                <a:solidFill>
                  <a:srgbClr val="16161D"/>
                </a:solidFill>
                <a:latin typeface="Segoe UI"/>
              </a:rPr>
              <a:t>Those stray cells land away from the core, and because the decoder enforces an exact energy budget, the core must give up energy to fill them. That is precisely the observed picture.</a:t>
            </a:r>
          </a:p>
          <a:p>
            <a:pPr>
              <a:lnSpc>
                <a:spcPct val="134000"/>
              </a:lnSpc>
              <a:spcBef>
                <a:spcPts val="0"/>
              </a:spcBef>
              <a:spcAft>
                <a:spcPts val="900"/>
              </a:spcAft>
            </a:pPr>
            <a:r>
              <a:rPr sz="1100" b="0" i="0">
                <a:solidFill>
                  <a:srgbClr val="16161D"/>
                </a:solidFill>
                <a:latin typeface="Segoe UI"/>
              </a:rPr>
              <a:t>It also explains both energy trends: the fraction of stray cells is constant, so the width excess is flat, while their number grows with energy, so the core deficit worsens.</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Why: the cell-selection step is drowning in its own noise</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NEXT</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What we would change, in order</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4361688"/>
          </a:xfrm>
          <a:prstGeom prst="rect">
            <a:avLst/>
          </a:prstGeom>
          <a:noFill/>
        </p:spPr>
        <p:txBody>
          <a:bodyPr wrap="square" lIns="0" rIns="0" tIns="0" bIns="0">
            <a:spAutoFit/>
          </a:bodyPr>
          <a:lstStyle/>
          <a:p>
            <a:pPr>
              <a:lnSpc>
                <a:spcPct val="132000"/>
              </a:lnSpc>
              <a:spcBef>
                <a:spcPts val="0"/>
              </a:spcBef>
              <a:spcAft>
                <a:spcPts val="1300"/>
              </a:spcAft>
            </a:pPr>
            <a:r>
              <a:rPr sz="1350" b="0" i="0">
                <a:solidFill>
                  <a:srgbClr val="6B6B76"/>
                </a:solidFill>
                <a:latin typeface="Segoe UI"/>
              </a:rPr>
              <a:t>The diagnosis points at specific, testable changes rather than 'train a bigger model'.</a:t>
            </a:r>
          </a:p>
          <a:p>
            <a:pPr>
              <a:lnSpc>
                <a:spcPct val="115000"/>
              </a:lnSpc>
              <a:spcBef>
                <a:spcPts val="400"/>
              </a:spcBef>
              <a:spcAft>
                <a:spcPts val="200"/>
              </a:spcAft>
            </a:pPr>
            <a:r>
              <a:rPr sz="1250" b="1" i="0">
                <a:solidFill>
                  <a:srgbClr val="16161D"/>
                </a:solidFill>
                <a:latin typeface="Segoe UI"/>
              </a:rPr>
              <a:t>1. Turn down the selection noise</a:t>
            </a:r>
          </a:p>
          <a:p>
            <a:pPr>
              <a:lnSpc>
                <a:spcPct val="134000"/>
              </a:lnSpc>
              <a:spcBef>
                <a:spcPts val="0"/>
              </a:spcBef>
              <a:spcAft>
                <a:spcPts val="1100"/>
              </a:spcAft>
            </a:pPr>
            <a:r>
              <a:rPr sz="1150" b="0" i="0">
                <a:solidFill>
                  <a:srgbClr val="6B6B76"/>
                </a:solidFill>
                <a:latin typeface="Segoe UI"/>
              </a:rPr>
              <a:t>A single temperature parameter on the cell scores. Our measurement says a value around 0.25-0.35 roughly doubles how much of the learned ranking survives. It can be tested on an existing checkpoint without retraining anything — under an hour. It must be calibrated, not minimised: real showers genuinely are stochastic in which cells fire.</a:t>
            </a:r>
          </a:p>
          <a:p>
            <a:pPr>
              <a:lnSpc>
                <a:spcPct val="115000"/>
              </a:lnSpc>
              <a:spcBef>
                <a:spcPts val="400"/>
              </a:spcBef>
              <a:spcAft>
                <a:spcPts val="200"/>
              </a:spcAft>
            </a:pPr>
            <a:r>
              <a:rPr sz="1250" b="1" i="0">
                <a:solidFill>
                  <a:srgbClr val="16161D"/>
                </a:solidFill>
                <a:latin typeface="Segoe UI"/>
              </a:rPr>
              <a:t>2. Train properly</a:t>
            </a:r>
          </a:p>
          <a:p>
            <a:pPr>
              <a:lnSpc>
                <a:spcPct val="134000"/>
              </a:lnSpc>
              <a:spcBef>
                <a:spcPts val="0"/>
              </a:spcBef>
              <a:spcAft>
                <a:spcPts val="1100"/>
              </a:spcAft>
            </a:pPr>
            <a:r>
              <a:rPr sz="1150" b="0" i="0">
                <a:solidFill>
                  <a:srgbClr val="6B6B76"/>
                </a:solidFill>
                <a:latin typeface="Segoe UI"/>
              </a:rPr>
              <a:t>These models have seen about 4% of the available data, four times. A full training run on the complete split is the honest control before blaming the architecture for anything.</a:t>
            </a:r>
          </a:p>
          <a:p>
            <a:pPr>
              <a:lnSpc>
                <a:spcPct val="115000"/>
              </a:lnSpc>
              <a:spcBef>
                <a:spcPts val="400"/>
              </a:spcBef>
              <a:spcAft>
                <a:spcPts val="200"/>
              </a:spcAft>
            </a:pPr>
            <a:r>
              <a:rPr sz="1250" b="1" i="0">
                <a:solidFill>
                  <a:srgbClr val="16161D"/>
                </a:solidFill>
                <a:latin typeface="Segoe UI"/>
              </a:rPr>
              <a:t>3. Tell the network where the shower axis is</a:t>
            </a:r>
          </a:p>
          <a:p>
            <a:pPr>
              <a:lnSpc>
                <a:spcPct val="134000"/>
              </a:lnSpc>
              <a:spcBef>
                <a:spcPts val="0"/>
              </a:spcBef>
              <a:spcAft>
                <a:spcPts val="1100"/>
              </a:spcAft>
            </a:pPr>
            <a:r>
              <a:rPr sz="1150" b="0" i="0">
                <a:solidFill>
                  <a:srgbClr val="6B6B76"/>
                </a:solidFill>
                <a:latin typeface="Segoe UI"/>
              </a:rPr>
              <a:t>The cell features are purely static detector coordinates. Nothing tells a cell how far it is from this particular event's shower axis, which moves by several cell widths across the detector depth depending on the incident direction. Adding that coordinate removes a real handicap on the transverse profile.</a:t>
            </a:r>
          </a:p>
          <a:p>
            <a:pPr>
              <a:lnSpc>
                <a:spcPct val="115000"/>
              </a:lnSpc>
              <a:spcBef>
                <a:spcPts val="400"/>
              </a:spcBef>
              <a:spcAft>
                <a:spcPts val="200"/>
              </a:spcAft>
            </a:pPr>
            <a:r>
              <a:rPr sz="1250" b="1" i="0">
                <a:solidFill>
                  <a:srgbClr val="16161D"/>
                </a:solidFill>
                <a:latin typeface="Segoe UI"/>
              </a:rPr>
              <a:t>4. Revisit the loss weights</a:t>
            </a:r>
          </a:p>
          <a:p>
            <a:pPr>
              <a:lnSpc>
                <a:spcPct val="134000"/>
              </a:lnSpc>
              <a:spcBef>
                <a:spcPts val="0"/>
              </a:spcBef>
              <a:spcAft>
                <a:spcPts val="1100"/>
              </a:spcAft>
            </a:pPr>
            <a:r>
              <a:rPr sz="1150" b="0" i="0">
                <a:solidFill>
                  <a:srgbClr val="6B6B76"/>
                </a:solidFill>
                <a:latin typeface="Segoe UI"/>
              </a:rPr>
              <a:t>Recall the weights table: the two components governing energy sharing and shower depth carry the lowest weights, and they govern exactly the two things that are wrong. The weights balance numerical gradient size, not physical importance — the protocol's own final step, selecting on physics metrics, has not yet been run.</a:t>
            </a:r>
          </a:p>
        </p:txBody>
      </p:sp>
      <p:sp>
        <p:nvSpPr>
          <p:cNvPr id="6" name="TextBox 5"/>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What we would change, in order</a:t>
            </a:r>
          </a:p>
        </p:txBody>
      </p:sp>
      <p:sp>
        <p:nvSpPr>
          <p:cNvPr id="7" name="TextBox 6"/>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68680" y="566928"/>
            <a:ext cx="10454335" cy="237744"/>
          </a:xfrm>
          <a:prstGeom prst="rect">
            <a:avLst/>
          </a:prstGeom>
          <a:noFill/>
        </p:spPr>
        <p:txBody>
          <a:bodyPr wrap="square" lIns="0" rIns="0" tIns="0" bIns="0">
            <a:spAutoFit/>
          </a:bodyPr>
          <a:lstStyle/>
          <a:p>
            <a:pPr>
              <a:lnSpc>
                <a:spcPct val="125000"/>
              </a:lnSpc>
              <a:spcBef>
                <a:spcPts val="0"/>
              </a:spcBef>
              <a:spcAft>
                <a:spcPts val="0"/>
              </a:spcAft>
            </a:pPr>
            <a:r>
              <a:rPr sz="1050" b="1" i="0">
                <a:solidFill>
                  <a:srgbClr val="D1495B"/>
                </a:solidFill>
                <a:latin typeface="Segoe UI"/>
              </a:rPr>
              <a:t>BOUNDARY</a:t>
            </a:r>
          </a:p>
        </p:txBody>
      </p:sp>
      <p:sp>
        <p:nvSpPr>
          <p:cNvPr id="3" name="TextBox 2"/>
          <p:cNvSpPr txBox="1"/>
          <p:nvPr/>
        </p:nvSpPr>
        <p:spPr>
          <a:xfrm>
            <a:off x="868680" y="841248"/>
            <a:ext cx="10454335" cy="566928"/>
          </a:xfrm>
          <a:prstGeom prst="rect">
            <a:avLst/>
          </a:prstGeom>
          <a:noFill/>
        </p:spPr>
        <p:txBody>
          <a:bodyPr wrap="square" lIns="0" rIns="0" tIns="0" bIns="0">
            <a:spAutoFit/>
          </a:bodyPr>
          <a:lstStyle/>
          <a:p>
            <a:pPr>
              <a:lnSpc>
                <a:spcPct val="105000"/>
              </a:lnSpc>
              <a:spcBef>
                <a:spcPts val="0"/>
              </a:spcBef>
              <a:spcAft>
                <a:spcPts val="0"/>
              </a:spcAft>
            </a:pPr>
            <a:r>
              <a:rPr sz="2700" b="1" i="0">
                <a:solidFill>
                  <a:srgbClr val="16161D"/>
                </a:solidFill>
                <a:latin typeface="Segoe UI"/>
              </a:rPr>
              <a:t>What we can and cannot claim today</a:t>
            </a:r>
          </a:p>
        </p:txBody>
      </p:sp>
      <p:sp>
        <p:nvSpPr>
          <p:cNvPr id="4" name="Rectangle 3"/>
          <p:cNvSpPr/>
          <p:nvPr/>
        </p:nvSpPr>
        <p:spPr>
          <a:xfrm>
            <a:off x="868680" y="1499616"/>
            <a:ext cx="1005840" cy="3175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719072"/>
            <a:ext cx="10454335" cy="3727096"/>
          </a:xfrm>
          <a:prstGeom prst="rect">
            <a:avLst/>
          </a:prstGeom>
          <a:noFill/>
        </p:spPr>
        <p:txBody>
          <a:bodyPr wrap="square" lIns="0" rIns="0" tIns="0" bIns="0">
            <a:spAutoFit/>
          </a:bodyPr>
          <a:lstStyle/>
          <a:p>
            <a:pPr>
              <a:lnSpc>
                <a:spcPct val="132000"/>
              </a:lnSpc>
              <a:spcBef>
                <a:spcPts val="0"/>
              </a:spcBef>
              <a:spcAft>
                <a:spcPts val="1300"/>
              </a:spcAft>
            </a:pPr>
            <a:r>
              <a:rPr sz="1350" b="0" i="0">
                <a:solidFill>
                  <a:srgbClr val="6B6B76"/>
                </a:solidFill>
                <a:latin typeface="Segoe UI"/>
              </a:rPr>
              <a:t>Stated plainly, because the difference between these two columns is the whole scientific discipline of the project.</a:t>
            </a:r>
          </a:p>
          <a:p>
            <a:pPr>
              <a:lnSpc>
                <a:spcPct val="115000"/>
              </a:lnSpc>
              <a:spcBef>
                <a:spcPts val="400"/>
              </a:spcBef>
              <a:spcAft>
                <a:spcPts val="200"/>
              </a:spcAft>
            </a:pPr>
            <a:r>
              <a:rPr sz="1250" b="1" i="0">
                <a:solidFill>
                  <a:srgbClr val="16161D"/>
                </a:solidFill>
                <a:latin typeface="Segoe UI"/>
              </a:rPr>
              <a:t>Established</a:t>
            </a:r>
          </a:p>
          <a:p>
            <a:pPr>
              <a:lnSpc>
                <a:spcPct val="134000"/>
              </a:lnSpc>
              <a:spcBef>
                <a:spcPts val="0"/>
              </a:spcBef>
              <a:spcAft>
                <a:spcPts val="1100"/>
              </a:spcAft>
            </a:pPr>
            <a:r>
              <a:rPr sz="1150" b="0" i="0">
                <a:solidFill>
                  <a:srgbClr val="6B6B76"/>
                </a:solidFill>
                <a:latin typeface="Segoe UI"/>
              </a:rPr>
              <a:t>Production data conversion and a frozen, hashed geometry. End-to-end GPU training with full checkpoint and recovery. Zero structural-invariant failures: no negative energies, no dust, exact hit counts, exact energy conservation to better than 2e-5 GeV. Four variants trained and independently verified. A working, reproducible fidelity test.</a:t>
            </a:r>
          </a:p>
          <a:p>
            <a:pPr>
              <a:lnSpc>
                <a:spcPct val="115000"/>
              </a:lnSpc>
              <a:spcBef>
                <a:spcPts val="400"/>
              </a:spcBef>
              <a:spcAft>
                <a:spcPts val="200"/>
              </a:spcAft>
            </a:pPr>
            <a:r>
              <a:rPr sz="1250" b="1" i="0">
                <a:solidFill>
                  <a:srgbClr val="16161D"/>
                </a:solidFill>
                <a:latin typeface="Segoe UI"/>
              </a:rPr>
              <a:t>Not established</a:t>
            </a:r>
          </a:p>
          <a:p>
            <a:pPr>
              <a:lnSpc>
                <a:spcPct val="134000"/>
              </a:lnSpc>
              <a:spcBef>
                <a:spcPts val="0"/>
              </a:spcBef>
              <a:spcAft>
                <a:spcPts val="1100"/>
              </a:spcAft>
            </a:pPr>
            <a:r>
              <a:rPr sz="1150" b="0" i="0">
                <a:solidFill>
                  <a:srgbClr val="6B6B76"/>
                </a:solidFill>
                <a:latin typeface="Segoe UI"/>
              </a:rPr>
              <a:t>Geant4 fidelity. Three-seed final behaviour. Any performance number on the untouched test split. Downstream reconstruction. Diversity and memorisation checks. Publication-scale timing.</a:t>
            </a:r>
          </a:p>
          <a:p>
            <a:pPr>
              <a:lnSpc>
                <a:spcPct val="115000"/>
              </a:lnSpc>
              <a:spcBef>
                <a:spcPts val="400"/>
              </a:spcBef>
              <a:spcAft>
                <a:spcPts val="200"/>
              </a:spcAft>
            </a:pPr>
            <a:r>
              <a:rPr sz="1250" b="1" i="0">
                <a:solidFill>
                  <a:srgbClr val="16161D"/>
                </a:solidFill>
                <a:latin typeface="Segoe UI"/>
              </a:rPr>
              <a:t>The honest summary</a:t>
            </a:r>
          </a:p>
          <a:p>
            <a:pPr>
              <a:lnSpc>
                <a:spcPct val="134000"/>
              </a:lnSpc>
              <a:spcBef>
                <a:spcPts val="0"/>
              </a:spcBef>
              <a:spcAft>
                <a:spcPts val="1100"/>
              </a:spcAft>
            </a:pPr>
            <a:r>
              <a:rPr sz="1150" b="0" i="0">
                <a:solidFill>
                  <a:srgbClr val="6B6B76"/>
                </a:solidFill>
                <a:latin typeface="Segoe UI"/>
              </a:rPr>
              <a:t>We have built something that provably obeys the physics accounting rules, and we have built an instrument sensitive enough to prove it is not yet Geant4. At epoch 4, on 4% of the data, that is the expected and useful place to be. The instrument now tells us exactly what to fix.</a:t>
            </a:r>
          </a:p>
        </p:txBody>
      </p:sp>
      <p:sp>
        <p:nvSpPr>
          <p:cNvPr id="6" name="Rectangle 5"/>
          <p:cNvSpPr/>
          <p:nvPr/>
        </p:nvSpPr>
        <p:spPr>
          <a:xfrm>
            <a:off x="868680" y="5610760"/>
            <a:ext cx="10454335" cy="680312"/>
          </a:xfrm>
          <a:prstGeom prst="rect">
            <a:avLst/>
          </a:prstGeom>
          <a:solidFill>
            <a:srgbClr val="F6F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68680" y="5610760"/>
            <a:ext cx="38100" cy="680312"/>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5729632"/>
            <a:ext cx="10051999" cy="497432"/>
          </a:xfrm>
          <a:prstGeom prst="rect">
            <a:avLst/>
          </a:prstGeom>
          <a:noFill/>
        </p:spPr>
        <p:txBody>
          <a:bodyPr wrap="square" lIns="0" rIns="0" tIns="0" bIns="0">
            <a:spAutoFit/>
          </a:bodyPr>
          <a:lstStyle/>
          <a:p>
            <a:pPr>
              <a:lnSpc>
                <a:spcPct val="130000"/>
              </a:lnSpc>
              <a:spcBef>
                <a:spcPts val="0"/>
              </a:spcBef>
              <a:spcAft>
                <a:spcPts val="0"/>
              </a:spcAft>
            </a:pPr>
            <a:r>
              <a:rPr sz="1250" b="0" i="0">
                <a:solidFill>
                  <a:srgbClr val="16161D"/>
                </a:solidFill>
                <a:latin typeface="Segoe UI"/>
              </a:rPr>
              <a:t>A falling training loss is not evidence of physics fidelity. Everything in Part 2 exists because of that sentence.</a:t>
            </a:r>
          </a:p>
        </p:txBody>
      </p:sp>
      <p:sp>
        <p:nvSpPr>
          <p:cNvPr id="9" name="TextBox 8"/>
          <p:cNvSpPr txBox="1"/>
          <p:nvPr/>
        </p:nvSpPr>
        <p:spPr>
          <a:xfrm>
            <a:off x="868680" y="6382512"/>
            <a:ext cx="9814255" cy="256032"/>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9A9AA4"/>
                </a:solidFill>
                <a:latin typeface="Segoe UI"/>
              </a:rPr>
              <a:t>What we can and cannot claim today</a:t>
            </a:r>
          </a:p>
        </p:txBody>
      </p:sp>
      <p:sp>
        <p:nvSpPr>
          <p:cNvPr id="10" name="TextBox 9"/>
          <p:cNvSpPr txBox="1"/>
          <p:nvPr/>
        </p:nvSpPr>
        <p:spPr>
          <a:xfrm>
            <a:off x="10682935" y="6382512"/>
            <a:ext cx="640080" cy="256032"/>
          </a:xfrm>
          <a:prstGeom prst="rect">
            <a:avLst/>
          </a:prstGeom>
          <a:noFill/>
        </p:spPr>
        <p:txBody>
          <a:bodyPr wrap="square" lIns="0" rIns="0" tIns="0" bIns="0">
            <a:spAutoFit/>
          </a:bodyPr>
          <a:lstStyle/>
          <a:p>
            <a:pPr algn="r"/>
            <a:r>
              <a:rPr sz="900" b="0" i="0">
                <a:solidFill>
                  <a:srgbClr val="9A9AA4"/>
                </a:solidFill>
                <a:latin typeface="Segoe UI"/>
              </a:rPr>
              <a:t>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