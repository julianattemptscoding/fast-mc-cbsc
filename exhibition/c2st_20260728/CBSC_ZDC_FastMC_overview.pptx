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783080"/>
            <a:ext cx="100885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5000" b="1" i="0">
                <a:solidFill>
                  <a:srgbClr val="16161D"/>
                </a:solidFill>
                <a:latin typeface="Segoe UI"/>
              </a:rPr>
              <a:t>CBSC-ZDC Fast Monte Carlo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55560"/>
                </a:solidFill>
                <a:latin typeface="Segoe UI"/>
              </a:rPr>
              <a:t>Constrained Budgeted Stochastic Cascade v2.2 â€” construction, objective, and measured state at epoch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977639"/>
            <a:ext cx="2011680" cy="19050"/>
          </a:xfrm>
          <a:prstGeom prst="rect">
            <a:avLst/>
          </a:prstGeom>
          <a:solidFill>
            <a:srgbClr val="DC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9e9d43e69da593d06b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270247"/>
            <a:ext cx="7476743" cy="167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4620767"/>
            <a:ext cx="1008857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State: epoch 4, 26,624 of 612,482 train events (4.3%)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931663"/>
            <a:ext cx="1008857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All quoted values traceable to hashed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What is being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Under squared error a model reduces its loss by placing ε&gt;0 in every empty channel: 6,790 hits instead of 1,512. The architecture must make Y_i=0 attainable exactly, not approximately.</a:t>
            </a:r>
          </a:p>
        </p:txBody>
      </p:sp>
      <p:pic>
        <p:nvPicPr>
          <p:cNvPr id="8" name="Picture 7" descr="eq_cbd455b1fb34e50b26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6272784" cy="371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173224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One event is 6,790 channel energies in GeV. The only conditioning input is the incident neutron four-momentum.</a:t>
            </a:r>
          </a:p>
        </p:txBody>
      </p:sp>
      <p:pic>
        <p:nvPicPr>
          <p:cNvPr id="10" name="Picture 9" descr="eq_6256303109b81b44a5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595499"/>
            <a:ext cx="3697223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988691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θ are the network parameters, G the frozen geometry and graph. The object being matched is a conditional distribution, not a single shower: identical p^μ gives different Geant4 events.</a:t>
            </a:r>
          </a:p>
        </p:txBody>
      </p:sp>
      <p:pic>
        <p:nvPicPr>
          <p:cNvPr id="12" name="Picture 11" descr="eq_195a1b42619bdc1834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650361"/>
            <a:ext cx="4206240" cy="3139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4046601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77.7% of channels are exactly zero in a typical event. The target is sparse, and the zeros are exact, not small.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Factorisation of the joint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One 6,790-dimensional distribution is replaced by nine low-dimensional conditional distributions, each with its own loss and its own hard feasibility constraints.</a:t>
            </a:r>
          </a:p>
        </p:txBody>
      </p:sp>
      <p:pic>
        <p:nvPicPr>
          <p:cNvPr id="8" name="Picture 7" descr="eq_617bfe95022d76f3c8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4413504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112264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The joint over the shower and all intermediate variables.</a:t>
            </a:r>
          </a:p>
        </p:txBody>
      </p:sp>
      <p:pic>
        <p:nvPicPr>
          <p:cNvPr id="10" name="Picture 9" descr="eq_358421b66732043b7b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534539"/>
            <a:ext cx="7418832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927731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Global variables first: visibility V, total energy T, first active layer L_0, activity mask A, layer energies D.</a:t>
            </a:r>
          </a:p>
        </p:txBody>
      </p:sp>
      <p:pic>
        <p:nvPicPr>
          <p:cNvPr id="12" name="Picture 11" descr="eq_403e688d26fa73870b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350006"/>
            <a:ext cx="6455664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3743198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Then per-layer hit counts K, the support set H, and the within-layer energy shares W.</a:t>
            </a:r>
          </a:p>
        </p:txBody>
      </p:sp>
      <p:pic>
        <p:nvPicPr>
          <p:cNvPr id="14" name="Picture 13" descr="eq_f00ef252d025af286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65473"/>
            <a:ext cx="3438144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4540377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The final map is deterministic and parameter-free. All randomness is upstream.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The cascade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0_cascad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10637215" cy="44822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Symbols and detector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Symbol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719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719072"/>
            <a:ext cx="53336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Value or 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0637215" cy="12700"/>
          </a:xfrm>
          <a:prstGeom prst="rect">
            <a:avLst/>
          </a:prstGeom>
          <a:solidFill>
            <a:srgbClr val="DC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57984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readout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57984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6,790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56410"/>
            <a:ext cx="10820095" cy="34414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02130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02130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longitudinal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502130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46276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N_l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846276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channels in layer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846276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400, then 63 x 100, then 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144702"/>
            <a:ext cx="10820095" cy="34414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90422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lambda(i)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190422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layer containing channel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190422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0 .. 64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34568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Y_i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534568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Geant4 energy in channel 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534568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GeV, &gt;=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832994"/>
            <a:ext cx="10820095" cy="34414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78714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878714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sum_i Y_i, total deposit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878714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median 2.87 GeV on 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22860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D_l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222860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sum over layer l of Y_i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222860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GeV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521286"/>
            <a:ext cx="10820095" cy="34414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567006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K_l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567006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hit count in layer 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567006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0 .. N_l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11152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H_i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4911152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1 if Y_i &gt;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911152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binary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209578"/>
            <a:ext cx="10820095" cy="34414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255298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K_inc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5255298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E - m_n, incident kinetic energy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255298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0 - 300 GeV train, 50 - 250 claim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599444"/>
            <a:ext cx="288036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edges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5599444"/>
            <a:ext cx="2148840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directed graph edges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5599444"/>
            <a:ext cx="5196535" cy="344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107,920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A4"/>
                </a:solidFill>
                <a:latin typeface="Segoe UI"/>
              </a:rPr>
              <a:t>Geometry SHA-256 e22d4cfb1e9293a33dd13151587910268ba64cd8â€¦  A hat denotes a generated quantity.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STAGE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Condition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c6ec4fd4d2c3e3bb93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7626096" cy="313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115312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Kinetic energy and unit direction. The quoted energy range refers to K_inc, not E.</a:t>
            </a:r>
          </a:p>
        </p:txBody>
      </p:sp>
      <p:pic>
        <p:nvPicPr>
          <p:cNvPr id="7" name="Picture 6" descr="eq_48babea4cfb32bbbfd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537587"/>
            <a:ext cx="6333744" cy="44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061843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Logarithms map a multiplicative range of ~ 300 onto an additive one; division by an explicit scale keeps the arguments dimensionless.</a:t>
            </a:r>
          </a:p>
        </p:txBody>
      </p:sp>
      <p:pic>
        <p:nvPicPr>
          <p:cNvPr id="9" name="Picture 8" descr="eq_f110be923dc6bf4083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723513"/>
            <a:ext cx="239268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4171569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Linear layer, SiLU, two residual blocks, LayerNorm. No loss of its own: it is trained entirely by gradients arriving from the nine downstream objectives.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STAGES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Visibility and total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c2db800aceae6c3b6c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4349496" cy="414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197608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σ maps an unbounded score to a probability. V=0 forces Y_i=0 for all i. Zero-response rate on train: 1.0022%.</a:t>
            </a:r>
          </a:p>
        </p:txBody>
      </p:sp>
      <p:pic>
        <p:nvPicPr>
          <p:cNvPr id="7" name="Picture 6" descr="eq_e6fd8420a360bcc6e1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557653"/>
            <a:ext cx="7485888" cy="7040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325749"/>
            <a:ext cx="10317175" cy="445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Four components let the response be multimodal and right-skewed. π_k=softmax(b)_k, σ_k=softplus(r_k)+0.05; the offset bounds σ_k away from zero.</a:t>
            </a:r>
          </a:p>
        </p:txBody>
      </p:sp>
      <p:pic>
        <p:nvPicPr>
          <p:cNvPr id="9" name="Picture 8" descr="eq_3285410eeab99101dd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908679"/>
            <a:ext cx="4456176" cy="563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4536567"/>
            <a:ext cx="10317175" cy="445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Negative log-likelihood, not squared error. It rewards placing probability mass where the event landed, so a correct spread scores well even when individual events sit far from the mean.</a:t>
            </a:r>
          </a:p>
        </p:txBody>
      </p:sp>
      <p:pic>
        <p:nvPicPr>
          <p:cNvPr id="11" name="Picture 10" descr="eq_c7cb2e006eae007ac8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5119497"/>
            <a:ext cx="692810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5537073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The cap is derived from the training-split audit only. It bounds rare draws from the log-normal tail; it is not a physical statement.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STAGES 3-4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Shower start and layer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ac4a26398cfbc13975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5971032" cy="393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194560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softmax(a)_j=e^a_j/sum_k e^a_k gives 65 probabilities summing to 1. Loss: categorical cross-entropy on visible events.</a:t>
            </a:r>
          </a:p>
        </p:txBody>
      </p:sp>
      <p:pic>
        <p:nvPicPr>
          <p:cNvPr id="7" name="Picture 6" descr="eq_28ecf0171f9d9cd04a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616835"/>
            <a:ext cx="5105400" cy="414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113659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Per-layer occupancy is modelled independently, so gaps and late restarts are representable.</a:t>
            </a:r>
          </a:p>
        </p:txBody>
      </p:sp>
      <p:pic>
        <p:nvPicPr>
          <p:cNvPr id="9" name="Picture 8" descr="eq_620000cdcfcac004e8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535934"/>
            <a:ext cx="6278880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4032758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These three are imposed by code after sampling, not learned. They remove configurations that are internally inconsistent.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Longitudinal profile by flow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D_ℓ is not constrained to decrease with depth. What decreases is the unspent budget R_ℓ=T-sum_j≤ℓD_j, since D_j≥0 gives R_ℓ+1≤ R_ℓ.</a:t>
            </a:r>
          </a:p>
        </p:txBody>
      </p:sp>
      <p:pic>
        <p:nvPicPr>
          <p:cNvPr id="8" name="Picture 7" descr="eq_9a163e881fe434e0b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5407152" cy="655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410968"/>
            <a:ext cx="10317175" cy="379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Target is the centred log share. Centring is required because softmax(z)=softmax(z+α1): the common offset is unidentifiable and would otherwise be an unconstrained direction.</a:t>
            </a:r>
          </a:p>
        </p:txBody>
      </p:sp>
      <p:pic>
        <p:nvPicPr>
          <p:cNvPr id="10" name="Picture 9" descr="eq_2c1cdffd88134ee4b2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863850"/>
            <a:ext cx="567842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235706"/>
            <a:ext cx="10317175" cy="379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Flow matching. A straight path is drawn from noise to the target; the exact velocity along it is known in closed form, so the network has a regression target at every point without simulating a diffusion.</a:t>
            </a:r>
          </a:p>
        </p:txBody>
      </p:sp>
      <p:pic>
        <p:nvPicPr>
          <p:cNvPr id="12" name="Picture 11" descr="eq_9d42514881eb43ac14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688588"/>
            <a:ext cx="2557272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4401820"/>
            <a:ext cx="10317175" cy="189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Masked mean squared error on the velocity field, not on layer energies.</a:t>
            </a:r>
          </a:p>
        </p:txBody>
      </p:sp>
      <p:pic>
        <p:nvPicPr>
          <p:cNvPr id="14" name="Picture 13" descr="eq_eeaa78e4c8fbd49a64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664837"/>
            <a:ext cx="3218688" cy="5760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5277485"/>
            <a:ext cx="10317175" cy="189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Generation integrates dot x=v_θ with 8 Euler steps at midpoints t_s=(s+tfrac12)/8. The masked softmax makes budget closure exact.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STAGE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Hit 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37a488e8144def3501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6120384" cy="710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511552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An unrestricted categorical distribution over counts. A Poisson would impose variance = mean, which the data does not obey.</a:t>
            </a:r>
          </a:p>
        </p:txBody>
      </p:sp>
      <p:pic>
        <p:nvPicPr>
          <p:cNvPr id="7" name="Picture 6" descr="eq_5e862d1066edc8a030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933827"/>
            <a:ext cx="6010656" cy="295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311779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Infeasible counts are masked before normalisation, so a layer can never be asked for more channels than it physically has.</a:t>
            </a:r>
          </a:p>
        </p:txBody>
      </p:sp>
      <p:pic>
        <p:nvPicPr>
          <p:cNvPr id="9" name="Picture 8" descr="eq_16e203972f3e7b972e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734054"/>
            <a:ext cx="5672328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4730750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Inactive layers dominate by count and carry the trivial target 0. Down-weighting to 1/5 retains them without letting them set the gradient.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STAGE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Support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ac14b52ffa1d8919e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8040624" cy="5547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356104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Three message-passing blocks over the frozen graph, so a channel score depends on its geometric neighbourhood. A bidirectional Transformer over the 65 layer means then supplies global context.</a:t>
            </a:r>
          </a:p>
        </p:txBody>
      </p:sp>
      <p:pic>
        <p:nvPicPr>
          <p:cNvPr id="7" name="Picture 6" descr="eq_5e9ce67b1d773d5659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017774"/>
            <a:ext cx="10347960" cy="313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414014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Class weighting is required because N_-/N_+≈3.5 and an unweighted BCE is minimised by predicting almost everything empty.</a:t>
            </a:r>
          </a:p>
        </p:txBody>
      </p:sp>
      <p:pic>
        <p:nvPicPr>
          <p:cNvPr id="9" name="Picture 8" descr="eq_35105020a3107720e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836289"/>
            <a:ext cx="45354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4250817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Pairwise ranking over up to 256 positive/negative pairs per event. BCE calibrates each channel; the decoder consumes an ordering, so the ordering is trained directly.</a:t>
            </a:r>
          </a:p>
        </p:txBody>
      </p:sp>
      <p:pic>
        <p:nvPicPr>
          <p:cNvPr id="11" name="Picture 10" descr="eq_96156d57f7265488c9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912487"/>
            <a:ext cx="7589520" cy="3931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5387975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Gumbel-Top-K converts the ranking into a sample without replacement, giving exactly K_ℓ channels. This is the only support stochasticity.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STAGE 8 AND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Energy shares, and why the sums close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Guaranteed: Y_i≥0; H_i=0⇒Y_i=0; |i∈ℓ:Y_i&gt;0|=K_ℓ; exact layer and event closure. Not guaranteed: that K_ℓ, D_ℓ or T match Geant4.</a:t>
            </a:r>
          </a:p>
        </p:txBody>
      </p:sp>
      <p:pic>
        <p:nvPicPr>
          <p:cNvPr id="8" name="Picture 7" descr="eq_d5c2930d03ecc1104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5614416" cy="326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109216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A second flow-matching field, same construction as stage 5, but over selected channels within a layer rather than over layers.</a:t>
            </a:r>
          </a:p>
        </p:txBody>
      </p:sp>
      <p:pic>
        <p:nvPicPr>
          <p:cNvPr id="10" name="Picture 9" descr="eq_c979b46d4f722028c8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469261"/>
            <a:ext cx="3727704" cy="694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228213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Softmax over the selected set. This identity is what produces every guarantee below.</a:t>
            </a:r>
          </a:p>
        </p:txBody>
      </p:sp>
      <p:pic>
        <p:nvPicPr>
          <p:cNvPr id="12" name="Picture 11" descr="eq_94cddbed35bcc3badc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588258"/>
            <a:ext cx="4596384" cy="3749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4027170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The decoder has no parameters.</a:t>
            </a:r>
          </a:p>
        </p:txBody>
      </p:sp>
      <p:pic>
        <p:nvPicPr>
          <p:cNvPr id="14" name="Picture 13" descr="eq_47a7fd1ed8213e03bb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387215"/>
            <a:ext cx="4550664" cy="5516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5002911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Closure is algebraic, not a penalty term. Measured residual over all accepted runs: below 2e-5 GeV per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The nine-term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L_total is comparable only between runs sharing the same λ_j. Default and calibrated configurations are therefore not comparable by objective value.</a:t>
            </a:r>
          </a:p>
        </p:txBody>
      </p:sp>
      <p:pic>
        <p:nvPicPr>
          <p:cNvPr id="8" name="Picture 7" descr="eq_bbbae2395974e9dca4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10314432" cy="298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100072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Nine objectives because there are nine conditional distributions.</a:t>
            </a:r>
          </a:p>
        </p:txBody>
      </p:sp>
      <p:pic>
        <p:nvPicPr>
          <p:cNvPr id="10" name="Picture 9" descr="eq_8bf27fcc25185621be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522347"/>
            <a:ext cx="8330183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909443"/>
            <a:ext cx="10317175" cy="239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The terms are not on a common scale and are not comparable by value. Only the trend of a term against itself is meaningful.</a:t>
            </a:r>
          </a:p>
        </p:txBody>
      </p:sp>
      <p:pic>
        <p:nvPicPr>
          <p:cNvPr id="12" name="Picture 11" descr="eq_e7afb456d331facca9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331718"/>
            <a:ext cx="2734056" cy="4480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3862070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Targets are stochastic. A correct model of a random variable retains non-zero loss; a differential-entropy term can be negative. Zero is not the optimum.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How the weights are derived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g_response/g_visible=15.7229/0.2186=71.9. The procedure removes that numerical disparity. It encodes no statement about physical importance.</a:t>
            </a:r>
          </a:p>
        </p:txBody>
      </p:sp>
      <p:pic>
        <p:nvPicPr>
          <p:cNvPr id="8" name="Picture 7" descr="eq_41e9ffae96c4b796fd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3081528" cy="356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125980"/>
            <a:ext cx="10317175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60"/>
                </a:solidFill>
                <a:latin typeface="Segoe UI"/>
              </a:rPr>
              <a:t>Gradient norm of each term on the shared condition encoder θ_c, at a fixed checkpoint, no optimiser steps. The encoder is the one component every term touches, so it is the common comparison point.</a:t>
            </a:r>
          </a:p>
        </p:txBody>
      </p:sp>
      <p:pic>
        <p:nvPicPr>
          <p:cNvPr id="10" name="Picture 9" descr="eq_b6109aca2479730d86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639314"/>
            <a:ext cx="3154680" cy="5151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204718"/>
            <a:ext cx="10317175" cy="20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60"/>
                </a:solidFill>
                <a:latin typeface="Segoe UI"/>
              </a:rPr>
              <a:t>Geometric mean, because the norms are positive and compared by ratio; it is also invariant to a common rescaling of every loss.</a:t>
            </a:r>
          </a:p>
        </p:txBody>
      </p:sp>
      <p:pic>
        <p:nvPicPr>
          <p:cNvPr id="12" name="Picture 11" descr="eq_e0253e363ef60eaab5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511677"/>
            <a:ext cx="4288536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3839337"/>
            <a:ext cx="10317175" cy="20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60"/>
                </a:solidFill>
                <a:latin typeface="Segoe UI"/>
              </a:rPr>
              <a:t>Inverse weighting would make every measured gradient norm identical.</a:t>
            </a:r>
          </a:p>
        </p:txBody>
      </p:sp>
      <p:pic>
        <p:nvPicPr>
          <p:cNvPr id="14" name="Picture 13" descr="eq_e1ecb01e23c68224c6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46296"/>
            <a:ext cx="6028944" cy="5151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4711700"/>
            <a:ext cx="10317175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60"/>
                </a:solidFill>
                <a:latin typeface="Segoe UI"/>
              </a:rPr>
              <a:t>Clipping bounds the correction to a factor of 16, so a saturated or temporarily solved term cannot acquire an extreme weight. Normalisation sets the mean weight to 1, so the overall gradient scale, and hence the effective learning rate, is unchanged.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The four calibration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1_loss_weight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10637215" cy="36492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551215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88375"/>
            <a:ext cx="10637215" cy="7855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Red bars in panel 3 were clipped: visible from 12.14 to 4, response from 0.169 to 0.25. Five of nine terms are unclipped and therefore exactly equalised at lambda_j g_j = 1.7088.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Training configuration and current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Every result that follows is measured at epoch 4 on 4.3% of the training data. It bounds what the architecture does so far, not what it can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719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19072"/>
            <a:ext cx="53336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011680"/>
            <a:ext cx="10637215" cy="12700"/>
          </a:xfrm>
          <a:prstGeom prst="rect">
            <a:avLst/>
          </a:prstGeom>
          <a:solidFill>
            <a:srgbClr val="DC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57984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Epochs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57984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157984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each epoch is one pass over the bounded bank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87817"/>
            <a:ext cx="10820095" cy="375553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33537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Train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533537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26,624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33537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4.3% of the 612,482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09090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Validation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09090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6,656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09090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checkpoint selection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238923"/>
            <a:ext cx="10820095" cy="375553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84643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Test events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284643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284643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split sealed during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60196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Optimiser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660196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AdamW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660196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lr 1e-4 to 1e-6 cosine, weight decay 0.01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990029"/>
            <a:ext cx="10820095" cy="375553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35749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Gradient clip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035749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035749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rescales g when ||g|| &gt;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411302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Effective batch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411302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24 (6 x 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411302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12 for the half-batch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741135"/>
            <a:ext cx="10820095" cy="375553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786855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4786855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FP32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786855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AMP disabled after nonfinite gradients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62408"/>
            <a:ext cx="288036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Solver steps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5162408"/>
            <a:ext cx="2148840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8 + 8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162408"/>
            <a:ext cx="5196535" cy="375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profile and share Euler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Weighted objective against epoch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3_loss_versus_epo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26" y="1719072"/>
            <a:ext cx="10166441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Four variants differing only in learning rate and effective batch. Epoch 3 regressed for two variants before epoch 4 recovered to a new minimum for all four. Range of final validation objective: 4.738041 to 4.897327, a spread of 3.4%.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The nine components separately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4_component_losses_versus_epo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464" y="1719072"/>
            <a:ext cx="5676765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Vertical scales differ by orders of magnitude. The response NLL is negative throughout, which is expected for a continuous density and is not an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Classifier two-sample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Asymmetry: high AUROC proves the distributions differ. Low AUROC shows only that this classifier, on this representation, at this sample size, found no difference.</a:t>
            </a:r>
          </a:p>
        </p:txBody>
      </p:sp>
      <p:pic>
        <p:nvPicPr>
          <p:cNvPr id="8" name="Picture 7" descr="eq_2490c9406cc0a96ba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539496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063496"/>
            <a:ext cx="10317175" cy="445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If the two sources are identical, no classifier can exceed chance on held-out data. This converts distribution comparison into a supervised problem.</a:t>
            </a:r>
          </a:p>
        </p:txBody>
      </p:sp>
      <p:pic>
        <p:nvPicPr>
          <p:cNvPr id="10" name="Picture 9" descr="eq_7e7b7ee273636de0b7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646426"/>
            <a:ext cx="4410456" cy="368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079242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Probability that a random Geant4 event scores above a random generated one. 0.5 under H_0, 1 for perfect separation, threshold-free.</a:t>
            </a:r>
          </a:p>
        </p:txBody>
      </p:sp>
      <p:pic>
        <p:nvPicPr>
          <p:cNvPr id="12" name="Picture 11" descr="eq_282756a0c46a10228c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439287"/>
            <a:ext cx="5529072" cy="3718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3875151"/>
            <a:ext cx="10317175" cy="222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Closed-form null for the accuracy statistic. Chance is rejected at 5% above 0.5089.</a:t>
            </a:r>
          </a:p>
        </p:txBody>
      </p:sp>
      <p:pic>
        <p:nvPicPr>
          <p:cNvPr id="14" name="Picture 13" descr="eq_117f526af2f1a8c259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235196"/>
            <a:ext cx="6074664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4579620"/>
            <a:ext cx="10317175" cy="445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60"/>
                </a:solidFill>
                <a:latin typeface="Segoe UI"/>
              </a:rPr>
              <a:t>Single-training AUROC varies more than its own analytic interval, so a single number is not reportable. CaloChallenge 2022 uses the same convention.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The condition-only control is the validity check: if the four-momentum alone separates the classes, the inputs were mismatched and the headline is void.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719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19072"/>
            <a:ext cx="53336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011680"/>
            <a:ext cx="10637215" cy="12700"/>
          </a:xfrm>
          <a:prstGeom prst="rect">
            <a:avLst/>
          </a:prstGeom>
          <a:solidFill>
            <a:srgbClr val="DC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57984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Geant4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5798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40,000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157984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drawn from the sealed test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96312"/>
            <a:ext cx="10820095" cy="384048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4203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Fast-MC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54203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40,000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42032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10,000 from each of the four variants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2608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train-split 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26080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prevents test conditions reaching the generator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264408"/>
            <a:ext cx="10820095" cy="384048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10128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Classifier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31012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6,790 + 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310128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full readout, geometry, four-momentum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9417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Partition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69417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70 / 15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694176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test partition scored once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032504"/>
            <a:ext cx="10820095" cy="384048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78224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Repeats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07822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078224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reported as mean +/- 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46227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46227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462272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condition-only, geometry-blind dense, feature GBM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Separability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637215" cy="1536192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D1495B"/>
                </a:solidFill>
                <a:latin typeface="Segoe UI"/>
              </a:rPr>
              <a:t>0.99945</a:t>
            </a:r>
          </a:p>
          <a:p>
            <a:pPr algn="ctr"/>
            <a:r>
              <a:rPr sz="1500" b="0" i="0">
                <a:solidFill>
                  <a:srgbClr val="555560"/>
                </a:solidFill>
                <a:latin typeface="Segoe UI"/>
              </a:rPr>
              <a:t>AUROC, mean +/- 0.00009 over 5 trainings.   Condition-only control: 0.50363</a:t>
            </a:r>
          </a:p>
        </p:txBody>
      </p:sp>
      <p:pic>
        <p:nvPicPr>
          <p:cNvPr id="7" name="Picture 6" descr="eq_faa681b92f081efe8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547872"/>
            <a:ext cx="9140952" cy="344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974592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Accuracy is 107 null standard deviations above chance. The permutation test reaches its resolution limit at 2000 permutations.</a:t>
            </a:r>
          </a:p>
        </p:txBody>
      </p:sp>
      <p:pic>
        <p:nvPicPr>
          <p:cNvPr id="9" name="Picture 8" descr="eq_ad6cb220a0d3c63163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636262"/>
            <a:ext cx="5465064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5023358"/>
            <a:ext cx="10317175" cy="478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60"/>
                </a:solidFill>
                <a:latin typeface="Segoe UI"/>
              </a:rPr>
              <a:t>The condition-only control sits at the exact chance loss to five decimals, so the separation resides in the calorimeter deposits.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ROC curves, primary and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ults_fig01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4590035" cy="46817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0" y="1755648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956816"/>
            <a:ext cx="3459175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Hybrid 0.9996 with hits, profile and condition.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Geometry-blind dense on raw channels 0.9962.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15 shower-shape features 0.9852.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Condition-only 0.5036, on the diagonal.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Separability survives every reduction of the representation, so it is not an artefact of one input encoding.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Single-observable separability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Each observable scored alone; AUROC folded above chance, so 0.5 carries no class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Pooled classifiers reach 0.985 and 0.9995 while no single observable exceeds 0.756, so the separation is multivariate. Global budget variables are at chance; the within-layer arrangement is not.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86177"/>
            <a:ext cx="4998567" cy="38100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50769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4C7E"/>
                </a:solidFill>
                <a:latin typeface="Segoe UI"/>
              </a:rPr>
              <a:t>At chance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62833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hit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5607" y="2862833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0.5024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3237737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65169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depth centroid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5607" y="3265169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0.5043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67505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ECAL fraction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5607" y="3667505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0.5063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042409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841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total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5607" y="4069841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0.5104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2186177"/>
            <a:ext cx="4998567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2350769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1495B"/>
                </a:solidFill>
                <a:latin typeface="Segoe UI"/>
              </a:rPr>
              <a:t>Separating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862833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radial 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2862833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0.7558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42735" y="3237737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5887" y="3265169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top-5 fraction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4255" y="3265169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0.6856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3667505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top-1 fraction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3667505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0.6422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2735" y="4042409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4069841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hit-energy Gini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4069841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0.6392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Transverse energy density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13_radial_energy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10637215" cy="32562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158242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295402"/>
            <a:ext cx="10637215" cy="1178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Core deficit factor 2.5 to 3; tail excess factor 1.5 to 2 beyond about 50 mm, which is roughly one HCAL channel width. Crossing point is energy-independent.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Radial RMS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7_dist_radial_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682" y="1719072"/>
            <a:ext cx="9214330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Mean shift +0.22 to +0.27 and width excess +0.31 to +0.38 across all four windows. Both the location and the spread of the distribution are wrong, not just the mean.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Hottest-channel energy fraction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8_dist_top1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68" y="1719072"/>
            <a:ext cx="9243358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Deficit deepens monotonically with energy: -0.413, -0.450, -0.490, -0.544. The Geant4 tail above 0.2 is largely absent, so the generated showers rarely concentrate energy in one channel.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Total response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5_dist_tot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599" y="1719072"/>
            <a:ext cx="9230496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Mean and width agree to a few percent in every window. The energy budget is reproduced; the failure is in how that budget is distributed.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Hit multiplicity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6_dist_hit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60" y="1719072"/>
            <a:ext cx="9282774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Bias between -1% and -3%. The count model and the exact-K decoder reproduce multiplicity, which isolates the defect to which channels are chosen and how much each receives.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Longitudinal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9_dist_depth_centr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126" y="1719072"/>
            <a:ext cx="9231441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Depth centroid agrees within 4%. Combined with the late-fraction deficit this places the longitudinal error in the tail of the profile rather than its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All observables, all energies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17_relative_bia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025" y="1719072"/>
            <a:ext cx="6239643" cy="3862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4784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01944"/>
            <a:ext cx="10637215" cy="572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Radial RMS is flat at +0.22 to +0.27 over 0-300 GeV. Top-1 fraction worsens monotonically from -0.45 to -0.56. The bottom two rows have vanishing denominators at low energy and should be read from absolute values elsewhere.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Per-variant separability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ults_fig02_per_family_au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685800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0" y="1755648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956816"/>
            <a:ext cx="3459175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Ordering matches validation loss on all three independent classifiers.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lr3e4: loss 4.738041, AUROC 0.99945.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lr3e5: loss 4.897327, AUROC 0.99983.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Extremes have non-overlapping 95% bootstrap intervals.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A 3.4% loss improvement moves the feature-classifier AUROC by 0.014, so this objective alone does not reach indistinguishability.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The support draw is noise-dominated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444871"/>
            <a:ext cx="10637215" cy="955929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444871"/>
            <a:ext cx="44450" cy="955929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554599"/>
            <a:ext cx="10216591" cy="7730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S=0.466 implies roughly one selected channel in two is placed by noise. Those channels lie away from the core, and the exact-budget decoder must fund them from the core. Constant misplacement fraction gives a flat radial bias; misplaced count grows with K, giving the energy-dependent top-1 deficit.</a:t>
            </a:r>
          </a:p>
        </p:txBody>
      </p:sp>
      <p:pic>
        <p:nvPicPr>
          <p:cNvPr id="8" name="Picture 7" descr="eq_c8988dea6091d0b894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19072"/>
            <a:ext cx="5775960" cy="307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2063496"/>
            <a:ext cx="10317175" cy="189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The Gumbel scale is fixed at 1. Whether it is negligible depends on the spread of the logits it perturbs, which no term in the objective constrains.</a:t>
            </a:r>
          </a:p>
        </p:txBody>
      </p:sp>
      <p:pic>
        <p:nvPicPr>
          <p:cNvPr id="10" name="Picture 9" descr="eq_309752bec408455a01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26513"/>
            <a:ext cx="5300472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637409"/>
            <a:ext cx="10317175" cy="189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Measured over 616 populated layers, 25-275 GeV. The second number is the logit gap at the selection boundary: the noise is 55 times the decision it disturbs.</a:t>
            </a:r>
          </a:p>
        </p:txBody>
      </p:sp>
      <p:pic>
        <p:nvPicPr>
          <p:cNvPr id="12" name="Picture 11" descr="eq_2cf822b60168894704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900426"/>
            <a:ext cx="2798064" cy="4663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3403346"/>
            <a:ext cx="10317175" cy="379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Selection sharpness. S=1 means the learned ranking is followed exactly; S=0 means the draw is indistinguishable from choosing K channels uniformly within the layer.</a:t>
            </a:r>
          </a:p>
        </p:txBody>
      </p:sp>
      <p:pic>
        <p:nvPicPr>
          <p:cNvPr id="14" name="Picture 13" descr="eq_5c96931add4395e208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856228"/>
            <a:ext cx="5708904" cy="295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4188460"/>
            <a:ext cx="10317175" cy="379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60"/>
                </a:solidFill>
                <a:latin typeface="Segoe UI"/>
              </a:rPr>
              <a:t>A temperature restores the ranking. τ must be calibrated against radial RMS and top-1 fraction, not minimised: real showers are stochastic in which channels fire.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Sharpness against temperature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18_gumbel_selection_sharp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6858000" cy="46229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0" y="1755648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956816"/>
            <a:ext cx="3459175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Current setting tau = 1 gives S = 0.466.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S = 0.647 at tau = 0.5.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S = 0.794 at tau = 0.25.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S = 0.908 at tau = 0.10.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Testable on an existing checkpoint at inference only, with no retraining.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Weight against the defect it governs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hibition_22_weight_versus_de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6858000" cy="39320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0" y="1755648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956816"/>
            <a:ext cx="3459175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share flow, lambda = 0.445, governs top-1 fraction, bias -0.476.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profile flow, lambda = 0.161, governs late fraction, bias -0.445.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visible, lambda = 2.574, governs a rate already correct to 0.010.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The calibration equalises gradient norm; it has no access to which observable each term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Diffusion equivalence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ults_fig04_diffusion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6858000" cy="450612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0" y="1755648"/>
            <a:ext cx="50292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956816"/>
            <a:ext cx="3459175" cy="4425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Frozen classifier reaches chance at lambda = 36.8 mm, one channel width.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Retrained classifier scores 0.9842 at the same lambda against 0.9852 undiffused.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Kernel is row-stochastic, so every event total is conserved exactly.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Common added variance leaves a width ratio nearly intact: 1.222 becomes 1.193.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6161D"/>
                </a:solidFill>
                <a:latin typeface="Segoe UI"/>
              </a:rPr>
              <a:t>No tested lambda up to 441.7 mm produces genuine equivalence.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Ranked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719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Predicted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719072"/>
            <a:ext cx="53336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A9AA4"/>
                </a:solidFill>
                <a:latin typeface="Segoe UI"/>
              </a:rPr>
              <a:t>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0637215" cy="12700"/>
          </a:xfrm>
          <a:prstGeom prst="rect">
            <a:avLst/>
          </a:prstGeom>
          <a:solidFill>
            <a:srgbClr val="DC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Support temperature tau ~ 0.25-0.35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5798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S from 0.466 to 0.73-0.79; targets radial RMS and top-1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57984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inference sweep, &lt; 1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96312"/>
            <a:ext cx="10820095" cy="384048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4203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Train on full 612,482-event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4203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separates undertraining from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542032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full training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2608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Add r_perp, log(1+r_perp), s_along node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2608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axis moves up to 5.8 HCAL cells across depth; currently unrepresented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926080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new geometry 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64408"/>
            <a:ext cx="10820095" cy="384048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10128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Raise lambda on share and profile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31012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targets top-1, Gini, late fraction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310128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validation-only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9417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Energy-weighted support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69417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privileges core channels in BCE and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694176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loss change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032504"/>
            <a:ext cx="10820095" cy="384048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78224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D"/>
                </a:solidFill>
                <a:latin typeface="Segoe UI"/>
              </a:rPr>
              <a:t>Post-hoc reweighting (DCTR)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07822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not viable: w = p/(1-p) degenerate at AUROC 0.9995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078224"/>
            <a:ext cx="5196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60"/>
                </a:solidFill>
                <a:latin typeface="Segoe UI"/>
              </a:rPr>
              <a:t>revisit below 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495B"/>
                </a:solidFill>
                <a:latin typeface="Segoe UI"/>
              </a:rPr>
              <a:t>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61D"/>
                </a:solidFill>
                <a:latin typeface="Segoe UI"/>
              </a:rPr>
              <a:t>Established and not established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143000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684266"/>
            <a:ext cx="10637215" cy="716534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84266"/>
            <a:ext cx="44450" cy="71653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5793994"/>
            <a:ext cx="10216591" cy="533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61D"/>
                </a:solidFill>
                <a:latin typeface="Segoe UI"/>
              </a:rPr>
              <a:t>A decreasing weighted objective is not evidence of physics fidelity. The separability measurement exists because the objective cannot answer that question.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4998567" cy="38100"/>
          </a:xfrm>
          <a:prstGeom prst="rect">
            <a:avLst/>
          </a:prstGeom>
          <a:solidFill>
            <a:srgbClr val="2B4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8366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4C7E"/>
                </a:solidFill>
                <a:latin typeface="Segoe UI"/>
              </a:rPr>
              <a:t>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structural 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5607" y="239572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0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2770632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98064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energy 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5607" y="2798064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&lt; 2e-5 GeV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exact hit 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5607" y="320040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0 mismatches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575304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optimisation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5607" y="360273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4 epochs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05072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separability measurement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5607" y="400507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2B4C7E"/>
                </a:solidFill>
                <a:latin typeface="Consolas"/>
              </a:rPr>
              <a:t>reproducible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5887" y="1719072"/>
            <a:ext cx="4998567" cy="381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188366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1495B"/>
                </a:solidFill>
                <a:latin typeface="Segoe UI"/>
              </a:rPr>
              <a:t>Not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395728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Geant4 fidelity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4255" y="239572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2735" y="2770632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2798064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three-seed behaviour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2798064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200400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untouched-test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255" y="320040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2735" y="3575304"/>
            <a:ext cx="5144871" cy="402336"/>
          </a:xfrm>
          <a:prstGeom prst="rect">
            <a:avLst/>
          </a:prstGeom>
          <a:solidFill>
            <a:srgbClr val="F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5887" y="3602736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downstream reconstruction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360273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5887" y="4005072"/>
            <a:ext cx="339836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61D"/>
                </a:solidFill>
                <a:latin typeface="Segoe UI"/>
              </a:rPr>
              <a:t>diversity and memorisation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4255" y="400507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Consolas"/>
              </a:rP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91495" y="6473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AA4"/>
                </a:solidFill>
                <a:latin typeface="Segoe UI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