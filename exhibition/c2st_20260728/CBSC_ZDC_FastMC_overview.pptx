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4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5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image" Target="../media/image61.png"/><Relationship Id="rId7" Type="http://schemas.openxmlformats.org/officeDocument/2006/relationships/image" Target="../media/image6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 Id="rId6" Type="http://schemas.openxmlformats.org/officeDocument/2006/relationships/image" Target="../media/image6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7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image" Target="../media/image76.png"/><Relationship Id="rId6" Type="http://schemas.openxmlformats.org/officeDocument/2006/relationships/image" Target="../media/image7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image" Target="../media/image81.png"/><Relationship Id="rId6" Type="http://schemas.openxmlformats.org/officeDocument/2006/relationships/image" Target="../media/image82.png"/><Relationship Id="rId7" Type="http://schemas.openxmlformats.org/officeDocument/2006/relationships/image" Target="../media/image8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 Id="rId3" Type="http://schemas.openxmlformats.org/officeDocument/2006/relationships/image" Target="../media/image88.png"/><Relationship Id="rId4" Type="http://schemas.openxmlformats.org/officeDocument/2006/relationships/image" Target="../media/image89.png"/><Relationship Id="rId5" Type="http://schemas.openxmlformats.org/officeDocument/2006/relationships/image" Target="../media/image9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 Id="rId3" Type="http://schemas.openxmlformats.org/officeDocument/2006/relationships/image" Target="../media/image9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image" Target="../media/image10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1783080"/>
            <a:ext cx="10088575" cy="1371600"/>
          </a:xfrm>
          <a:prstGeom prst="rect">
            <a:avLst/>
          </a:prstGeom>
          <a:noFill/>
        </p:spPr>
        <p:txBody>
          <a:bodyPr wrap="square" lIns="0" rIns="0" tIns="0" bIns="0">
            <a:spAutoFit/>
          </a:bodyPr>
          <a:lstStyle/>
          <a:p>
            <a:pPr>
              <a:lnSpc>
                <a:spcPct val="102000"/>
              </a:lnSpc>
              <a:spcBef>
                <a:spcPts val="0"/>
              </a:spcBef>
              <a:spcAft>
                <a:spcPts val="1000"/>
              </a:spcAft>
            </a:pPr>
            <a:r>
              <a:rPr sz="5000" b="1" i="0">
                <a:solidFill>
                  <a:srgbClr val="16161D"/>
                </a:solidFill>
                <a:latin typeface="Segoe UI"/>
              </a:rPr>
              <a:t>CBSC-ZDC Fast Monte Carlo</a:t>
            </a:r>
          </a:p>
          <a:p>
            <a:pPr>
              <a:lnSpc>
                <a:spcPct val="132000"/>
              </a:lnSpc>
              <a:spcBef>
                <a:spcPts val="0"/>
              </a:spcBef>
              <a:spcAft>
                <a:spcPts val="0"/>
              </a:spcAft>
            </a:pPr>
            <a:r>
              <a:rPr sz="1650" b="0" i="0">
                <a:solidFill>
                  <a:srgbClr val="555560"/>
                </a:solidFill>
                <a:latin typeface="Segoe UI"/>
              </a:rPr>
              <a:t>Constrained Budgeted Stochastic Cascade v2.2 — construction, objective, and measured state at epoch 4</a:t>
            </a:r>
          </a:p>
        </p:txBody>
      </p:sp>
      <p:sp>
        <p:nvSpPr>
          <p:cNvPr id="4" name="Rectangle 3"/>
          <p:cNvSpPr/>
          <p:nvPr/>
        </p:nvSpPr>
        <p:spPr>
          <a:xfrm>
            <a:off x="1143000" y="3977639"/>
            <a:ext cx="2011680" cy="19050"/>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4270247"/>
            <a:ext cx="10088575" cy="292608"/>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555560"/>
                </a:solidFill>
                <a:latin typeface="Segoe UI"/>
              </a:rPr>
              <a:t>Target:</a:t>
            </a:r>
          </a:p>
        </p:txBody>
      </p:sp>
      <p:pic>
        <p:nvPicPr>
          <p:cNvPr id="6" name="Picture 5" descr="eq_cbf9801d0f63f313d120.png"/>
          <p:cNvPicPr>
            <a:picLocks noChangeAspect="1"/>
          </p:cNvPicPr>
          <p:nvPr/>
        </p:nvPicPr>
        <p:blipFill>
          <a:blip r:embed="rId2"/>
          <a:stretch>
            <a:fillRect/>
          </a:stretch>
        </p:blipFill>
        <p:spPr>
          <a:xfrm>
            <a:off x="1143000" y="4581143"/>
            <a:ext cx="2977896" cy="353568"/>
          </a:xfrm>
          <a:prstGeom prst="rect">
            <a:avLst/>
          </a:prstGeom>
        </p:spPr>
      </p:pic>
      <p:sp>
        <p:nvSpPr>
          <p:cNvPr id="7" name="TextBox 6"/>
          <p:cNvSpPr txBox="1"/>
          <p:nvPr/>
        </p:nvSpPr>
        <p:spPr>
          <a:xfrm>
            <a:off x="1143000" y="5117591"/>
            <a:ext cx="10088575" cy="292608"/>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555560"/>
                </a:solidFill>
                <a:latin typeface="Segoe UI"/>
              </a:rPr>
              <a:t>State: epoch 4, 26,624 of 612,482 train events (4.3%)</a:t>
            </a:r>
          </a:p>
        </p:txBody>
      </p:sp>
      <p:sp>
        <p:nvSpPr>
          <p:cNvPr id="8" name="TextBox 7"/>
          <p:cNvSpPr txBox="1"/>
          <p:nvPr/>
        </p:nvSpPr>
        <p:spPr>
          <a:xfrm>
            <a:off x="1143000" y="5428487"/>
            <a:ext cx="10088575" cy="292608"/>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555560"/>
                </a:solidFill>
                <a:latin typeface="Segoe UI"/>
              </a:rPr>
              <a:t>All quoted values traceable to hashed artifacts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PROBLEM</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What is being learned</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5444871"/>
            <a:ext cx="10637215" cy="955929"/>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5444871"/>
            <a:ext cx="44450" cy="955929"/>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5554599"/>
            <a:ext cx="10216591" cy="773049"/>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16161D"/>
                </a:solidFill>
                <a:latin typeface="Segoe UI"/>
              </a:rPr>
              <a:t>Under an ordinary squared-error fit, a network can lower its score by placing a tiny positive energy in every empty channel: 6,790 hits instead of 1,512, a physically wrong but numerically cheaper answer. Every design choice below exists to make that outcome impossible, not merely discouraged.</a:t>
            </a:r>
          </a:p>
        </p:txBody>
      </p:sp>
      <p:pic>
        <p:nvPicPr>
          <p:cNvPr id="8" name="Picture 7" descr="eq_b3d909066bbd0890e7ed.png"/>
          <p:cNvPicPr>
            <a:picLocks noChangeAspect="1"/>
          </p:cNvPicPr>
          <p:nvPr/>
        </p:nvPicPr>
        <p:blipFill>
          <a:blip r:embed="rId2"/>
          <a:stretch>
            <a:fillRect/>
          </a:stretch>
        </p:blipFill>
        <p:spPr>
          <a:xfrm>
            <a:off x="832104" y="1591056"/>
            <a:ext cx="5766816" cy="426720"/>
          </a:xfrm>
          <a:prstGeom prst="rect">
            <a:avLst/>
          </a:prstGeom>
        </p:spPr>
      </p:pic>
      <p:sp>
        <p:nvSpPr>
          <p:cNvPr id="9" name="TextBox 8"/>
          <p:cNvSpPr txBox="1"/>
          <p:nvPr/>
        </p:nvSpPr>
        <p:spPr>
          <a:xfrm>
            <a:off x="1051560" y="2081784"/>
            <a:ext cx="10317175" cy="445770"/>
          </a:xfrm>
          <a:prstGeom prst="rect">
            <a:avLst/>
          </a:prstGeom>
          <a:noFill/>
        </p:spPr>
        <p:txBody>
          <a:bodyPr wrap="square" lIns="0" rIns="0" tIns="0" bIns="0">
            <a:spAutoFit/>
          </a:bodyPr>
          <a:lstStyle/>
          <a:p>
            <a:pPr>
              <a:lnSpc>
                <a:spcPct val="130000"/>
              </a:lnSpc>
              <a:spcBef>
                <a:spcPts val="0"/>
              </a:spcBef>
              <a:spcAft>
                <a:spcPts val="0"/>
              </a:spcAft>
            </a:pPr>
            <a:r>
              <a:rPr sz="1350" b="0" i="0">
                <a:solidFill>
                  <a:srgbClr val="555560"/>
                </a:solidFill>
                <a:latin typeface="Segoe UI"/>
              </a:rPr>
              <a:t>One event is 6,790 channel energies in GeV. The only conditioning input is the incident neutron four-momentum: total energy and three-momentum.</a:t>
            </a:r>
          </a:p>
        </p:txBody>
      </p:sp>
      <p:pic>
        <p:nvPicPr>
          <p:cNvPr id="10" name="Picture 9" descr="eq_03c10f2609b9f81e2a66.png"/>
          <p:cNvPicPr>
            <a:picLocks noChangeAspect="1"/>
          </p:cNvPicPr>
          <p:nvPr/>
        </p:nvPicPr>
        <p:blipFill>
          <a:blip r:embed="rId3"/>
          <a:stretch>
            <a:fillRect/>
          </a:stretch>
        </p:blipFill>
        <p:spPr>
          <a:xfrm>
            <a:off x="832104" y="2664714"/>
            <a:ext cx="3438144" cy="374904"/>
          </a:xfrm>
          <a:prstGeom prst="rect">
            <a:avLst/>
          </a:prstGeom>
        </p:spPr>
      </p:pic>
      <p:sp>
        <p:nvSpPr>
          <p:cNvPr id="11" name="TextBox 10"/>
          <p:cNvSpPr txBox="1"/>
          <p:nvPr/>
        </p:nvSpPr>
        <p:spPr>
          <a:xfrm>
            <a:off x="1051560" y="3103626"/>
            <a:ext cx="10317175" cy="445770"/>
          </a:xfrm>
          <a:prstGeom prst="rect">
            <a:avLst/>
          </a:prstGeom>
          <a:noFill/>
        </p:spPr>
        <p:txBody>
          <a:bodyPr wrap="square" lIns="0" rIns="0" tIns="0" bIns="0">
            <a:spAutoFit/>
          </a:bodyPr>
          <a:lstStyle/>
          <a:p>
            <a:pPr>
              <a:lnSpc>
                <a:spcPct val="130000"/>
              </a:lnSpc>
              <a:spcBef>
                <a:spcPts val="0"/>
              </a:spcBef>
              <a:spcAft>
                <a:spcPts val="0"/>
              </a:spcAft>
            </a:pPr>
            <a:r>
              <a:rPr sz="1350" b="0" i="0">
                <a:solidFill>
                  <a:srgbClr val="555560"/>
                </a:solidFill>
                <a:latin typeface="Segoe UI"/>
              </a:rPr>
              <a:t>θ are the network's adjustable numbers; G is the frozen detector geometry. The target is a probability distribution over showers, not one shower: two Geant4 events with the same incident neutron differ, because hadronic interactions are themselves random.</a:t>
            </a:r>
          </a:p>
        </p:txBody>
      </p:sp>
      <p:pic>
        <p:nvPicPr>
          <p:cNvPr id="12" name="Picture 11" descr="eq_a5c10abfe5576d72614e.png"/>
          <p:cNvPicPr>
            <a:picLocks noChangeAspect="1"/>
          </p:cNvPicPr>
          <p:nvPr/>
        </p:nvPicPr>
        <p:blipFill>
          <a:blip r:embed="rId4"/>
          <a:stretch>
            <a:fillRect/>
          </a:stretch>
        </p:blipFill>
        <p:spPr>
          <a:xfrm>
            <a:off x="832104" y="3686556"/>
            <a:ext cx="5544312" cy="377952"/>
          </a:xfrm>
          <a:prstGeom prst="rect">
            <a:avLst/>
          </a:prstGeom>
        </p:spPr>
      </p:pic>
      <p:sp>
        <p:nvSpPr>
          <p:cNvPr id="13" name="TextBox 12"/>
          <p:cNvSpPr txBox="1"/>
          <p:nvPr/>
        </p:nvSpPr>
        <p:spPr>
          <a:xfrm>
            <a:off x="1051560" y="4128516"/>
            <a:ext cx="10317175" cy="445770"/>
          </a:xfrm>
          <a:prstGeom prst="rect">
            <a:avLst/>
          </a:prstGeom>
          <a:noFill/>
        </p:spPr>
        <p:txBody>
          <a:bodyPr wrap="square" lIns="0" rIns="0" tIns="0" bIns="0">
            <a:spAutoFit/>
          </a:bodyPr>
          <a:lstStyle/>
          <a:p>
            <a:pPr>
              <a:lnSpc>
                <a:spcPct val="130000"/>
              </a:lnSpc>
              <a:spcBef>
                <a:spcPts val="0"/>
              </a:spcBef>
              <a:spcAft>
                <a:spcPts val="0"/>
              </a:spcAft>
            </a:pPr>
            <a:r>
              <a:rPr sz="1350" b="0" i="0">
                <a:solidFill>
                  <a:srgbClr val="555560"/>
                </a:solidFill>
                <a:latin typeface="Segoe UI"/>
              </a:rPr>
              <a:t>A typical event lights up about 22% of channels. The rest are exactly zero, not nearly zero — that distinction is what the architecture has to protect.</a:t>
            </a:r>
          </a:p>
        </p:txBody>
      </p:sp>
      <p:sp>
        <p:nvSpPr>
          <p:cNvPr id="14" name="TextBox 13"/>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2 / 46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FORM</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Nine simpler questions instead of one hard one</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5684266"/>
            <a:ext cx="10637215" cy="71653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5684266"/>
            <a:ext cx="44450" cy="716534"/>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5793994"/>
            <a:ext cx="10216591" cy="533654"/>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16161D"/>
                </a:solidFill>
                <a:latin typeface="Segoe UI"/>
              </a:rPr>
              <a:t>In plain terms: decide roughly first (did anything happen, how much energy), then decide precisely (which cells, exactly how the energy is split). Each later decision is only ever allowed to divide up what an earlier decision already fixed.</a:t>
            </a:r>
          </a:p>
        </p:txBody>
      </p:sp>
      <p:pic>
        <p:nvPicPr>
          <p:cNvPr id="8" name="Picture 7" descr="eq_617bfe95022d76f3c80a.png"/>
          <p:cNvPicPr>
            <a:picLocks noChangeAspect="1"/>
          </p:cNvPicPr>
          <p:nvPr/>
        </p:nvPicPr>
        <p:blipFill>
          <a:blip r:embed="rId2"/>
          <a:stretch>
            <a:fillRect/>
          </a:stretch>
        </p:blipFill>
        <p:spPr>
          <a:xfrm>
            <a:off x="832104" y="1591056"/>
            <a:ext cx="4504944" cy="402336"/>
          </a:xfrm>
          <a:prstGeom prst="rect">
            <a:avLst/>
          </a:prstGeom>
        </p:spPr>
      </p:pic>
      <p:sp>
        <p:nvSpPr>
          <p:cNvPr id="9" name="TextBox 8"/>
          <p:cNvSpPr txBox="1"/>
          <p:nvPr/>
        </p:nvSpPr>
        <p:spPr>
          <a:xfrm>
            <a:off x="1051560" y="2075688"/>
            <a:ext cx="10317175" cy="239395"/>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555560"/>
                </a:solidFill>
                <a:latin typeface="Segoe UI"/>
              </a:rPr>
              <a:t>The full joint distribution over the shower and every intermediate physical quantity used to build it.</a:t>
            </a:r>
          </a:p>
        </p:txBody>
      </p:sp>
      <p:pic>
        <p:nvPicPr>
          <p:cNvPr id="10" name="Picture 9" descr="eq_fcb88d8dcfdba03a1c91.png"/>
          <p:cNvPicPr>
            <a:picLocks noChangeAspect="1"/>
          </p:cNvPicPr>
          <p:nvPr/>
        </p:nvPicPr>
        <p:blipFill>
          <a:blip r:embed="rId3"/>
          <a:stretch>
            <a:fillRect/>
          </a:stretch>
        </p:blipFill>
        <p:spPr>
          <a:xfrm>
            <a:off x="832104" y="2497963"/>
            <a:ext cx="9820656" cy="326136"/>
          </a:xfrm>
          <a:prstGeom prst="rect">
            <a:avLst/>
          </a:prstGeom>
        </p:spPr>
      </p:pic>
      <p:sp>
        <p:nvSpPr>
          <p:cNvPr id="11" name="TextBox 10"/>
          <p:cNvSpPr txBox="1"/>
          <p:nvPr/>
        </p:nvSpPr>
        <p:spPr>
          <a:xfrm>
            <a:off x="1051560" y="2906395"/>
            <a:ext cx="10317175" cy="718185"/>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555560"/>
                </a:solidFill>
                <a:latin typeface="Segoe UI"/>
              </a:rPr>
              <a:t>One factor per physical question: did anything happen (V), how much energy in total (T), which layer starts it (L0), which layers are on (A), how the energy splits across layers (D), how many cells per layer (K), which exact cells (H), how energy splits across those cells (W). Every symbol is defined on the 'Symbols' slide.</a:t>
            </a:r>
          </a:p>
        </p:txBody>
      </p:sp>
      <p:pic>
        <p:nvPicPr>
          <p:cNvPr id="12" name="Picture 11" descr="eq_f00ef252d025af286811.png"/>
          <p:cNvPicPr>
            <a:picLocks noChangeAspect="1"/>
          </p:cNvPicPr>
          <p:nvPr/>
        </p:nvPicPr>
        <p:blipFill>
          <a:blip r:embed="rId4"/>
          <a:stretch>
            <a:fillRect/>
          </a:stretch>
        </p:blipFill>
        <p:spPr>
          <a:xfrm>
            <a:off x="832104" y="3807460"/>
            <a:ext cx="3529584" cy="384048"/>
          </a:xfrm>
          <a:prstGeom prst="rect">
            <a:avLst/>
          </a:prstGeom>
        </p:spPr>
      </p:pic>
      <p:sp>
        <p:nvSpPr>
          <p:cNvPr id="13" name="TextBox 12"/>
          <p:cNvSpPr txBox="1"/>
          <p:nvPr/>
        </p:nvSpPr>
        <p:spPr>
          <a:xfrm>
            <a:off x="1051560" y="4273804"/>
            <a:ext cx="10317175" cy="239395"/>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555560"/>
                </a:solidFill>
                <a:latin typeface="Segoe UI"/>
              </a:rPr>
              <a:t>The last factor is not learned: it is plain arithmetic that turns the choices above into the final 6,790 energies.</a:t>
            </a:r>
          </a:p>
        </p:txBody>
      </p:sp>
      <p:sp>
        <p:nvSpPr>
          <p:cNvPr id="14" name="TextBox 13"/>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3 / 46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FORM</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The cascade, as nine questions</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20_cascade_flowchart.png"/>
          <p:cNvPicPr>
            <a:picLocks noChangeAspect="1"/>
          </p:cNvPicPr>
          <p:nvPr/>
        </p:nvPicPr>
        <p:blipFill>
          <a:blip r:embed="rId2"/>
          <a:stretch>
            <a:fillRect/>
          </a:stretch>
        </p:blipFill>
        <p:spPr>
          <a:xfrm>
            <a:off x="777240" y="1591056"/>
            <a:ext cx="10637215" cy="4805685"/>
          </a:xfrm>
          <a:prstGeom prst="rect">
            <a:avLst/>
          </a:prstGeom>
        </p:spPr>
      </p:pic>
      <p:sp>
        <p:nvSpPr>
          <p:cNvPr id="6" name="TextBox 5"/>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4 / 46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NOTATION</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Symbols: the detector's fixed geometry</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91056"/>
            <a:ext cx="10637215" cy="365760"/>
          </a:xfrm>
          <a:prstGeom prst="rect">
            <a:avLst/>
          </a:prstGeom>
          <a:noFill/>
        </p:spPr>
        <p:txBody>
          <a:bodyPr wrap="square" lIns="0" rIns="0" tIns="0" bIns="0">
            <a:spAutoFit/>
          </a:bodyPr>
          <a:lstStyle/>
          <a:p>
            <a:pPr>
              <a:lnSpc>
                <a:spcPct val="130000"/>
              </a:lnSpc>
              <a:spcBef>
                <a:spcPts val="0"/>
              </a:spcBef>
              <a:spcAft>
                <a:spcPts val="0"/>
              </a:spcAft>
            </a:pPr>
            <a:r>
              <a:rPr sz="1500" b="0" i="0">
                <a:solidFill>
                  <a:srgbClr val="555560"/>
                </a:solidFill>
                <a:latin typeface="Segoe UI"/>
              </a:rPr>
              <a:t>These five are given directly by the frozen detector; nothing here is learned.</a:t>
            </a:r>
          </a:p>
        </p:txBody>
      </p:sp>
      <p:sp>
        <p:nvSpPr>
          <p:cNvPr id="6" name="TextBox 5"/>
          <p:cNvSpPr txBox="1"/>
          <p:nvPr/>
        </p:nvSpPr>
        <p:spPr>
          <a:xfrm>
            <a:off x="777240" y="2039874"/>
            <a:ext cx="1846617"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Symbol</a:t>
            </a:r>
          </a:p>
        </p:txBody>
      </p:sp>
      <p:sp>
        <p:nvSpPr>
          <p:cNvPr id="7" name="TextBox 6"/>
          <p:cNvSpPr txBox="1"/>
          <p:nvPr/>
        </p:nvSpPr>
        <p:spPr>
          <a:xfrm>
            <a:off x="2623857" y="2039874"/>
            <a:ext cx="5060172"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Meaning</a:t>
            </a:r>
          </a:p>
        </p:txBody>
      </p:sp>
      <p:sp>
        <p:nvSpPr>
          <p:cNvPr id="8" name="TextBox 7"/>
          <p:cNvSpPr txBox="1"/>
          <p:nvPr/>
        </p:nvSpPr>
        <p:spPr>
          <a:xfrm>
            <a:off x="7684029" y="2039874"/>
            <a:ext cx="3730425"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Value</a:t>
            </a:r>
          </a:p>
        </p:txBody>
      </p:sp>
      <p:sp>
        <p:nvSpPr>
          <p:cNvPr id="9" name="Rectangle 8"/>
          <p:cNvSpPr/>
          <p:nvPr/>
        </p:nvSpPr>
        <p:spPr>
          <a:xfrm>
            <a:off x="777240" y="2332482"/>
            <a:ext cx="10637215" cy="12700"/>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487930"/>
            <a:ext cx="1682025"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N</a:t>
            </a:r>
          </a:p>
        </p:txBody>
      </p:sp>
      <p:sp>
        <p:nvSpPr>
          <p:cNvPr id="11" name="TextBox 10"/>
          <p:cNvSpPr txBox="1"/>
          <p:nvPr/>
        </p:nvSpPr>
        <p:spPr>
          <a:xfrm>
            <a:off x="2623857" y="2487930"/>
            <a:ext cx="4895580"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readout channels</a:t>
            </a:r>
          </a:p>
        </p:txBody>
      </p:sp>
      <p:sp>
        <p:nvSpPr>
          <p:cNvPr id="12" name="TextBox 11"/>
          <p:cNvSpPr txBox="1"/>
          <p:nvPr/>
        </p:nvSpPr>
        <p:spPr>
          <a:xfrm>
            <a:off x="7684029" y="2487930"/>
            <a:ext cx="3565833"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6,790</a:t>
            </a:r>
          </a:p>
        </p:txBody>
      </p:sp>
      <p:sp>
        <p:nvSpPr>
          <p:cNvPr id="13" name="Rectangle 12"/>
          <p:cNvSpPr/>
          <p:nvPr/>
        </p:nvSpPr>
        <p:spPr>
          <a:xfrm>
            <a:off x="685800" y="2762250"/>
            <a:ext cx="10820095" cy="32918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2817114"/>
            <a:ext cx="1682025"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L</a:t>
            </a:r>
          </a:p>
        </p:txBody>
      </p:sp>
      <p:sp>
        <p:nvSpPr>
          <p:cNvPr id="15" name="TextBox 14"/>
          <p:cNvSpPr txBox="1"/>
          <p:nvPr/>
        </p:nvSpPr>
        <p:spPr>
          <a:xfrm>
            <a:off x="2623857" y="2817114"/>
            <a:ext cx="4895580"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longitudinal layers</a:t>
            </a:r>
          </a:p>
        </p:txBody>
      </p:sp>
      <p:sp>
        <p:nvSpPr>
          <p:cNvPr id="16" name="TextBox 15"/>
          <p:cNvSpPr txBox="1"/>
          <p:nvPr/>
        </p:nvSpPr>
        <p:spPr>
          <a:xfrm>
            <a:off x="7684029" y="2817114"/>
            <a:ext cx="3565833"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65</a:t>
            </a:r>
          </a:p>
        </p:txBody>
      </p:sp>
      <p:sp>
        <p:nvSpPr>
          <p:cNvPr id="17" name="TextBox 16"/>
          <p:cNvSpPr txBox="1"/>
          <p:nvPr/>
        </p:nvSpPr>
        <p:spPr>
          <a:xfrm>
            <a:off x="777240" y="3146298"/>
            <a:ext cx="1682025"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N_l</a:t>
            </a:r>
          </a:p>
        </p:txBody>
      </p:sp>
      <p:sp>
        <p:nvSpPr>
          <p:cNvPr id="18" name="TextBox 17"/>
          <p:cNvSpPr txBox="1"/>
          <p:nvPr/>
        </p:nvSpPr>
        <p:spPr>
          <a:xfrm>
            <a:off x="2623857" y="3146298"/>
            <a:ext cx="4895580"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channels in layer l</a:t>
            </a:r>
          </a:p>
        </p:txBody>
      </p:sp>
      <p:sp>
        <p:nvSpPr>
          <p:cNvPr id="19" name="TextBox 18"/>
          <p:cNvSpPr txBox="1"/>
          <p:nvPr/>
        </p:nvSpPr>
        <p:spPr>
          <a:xfrm>
            <a:off x="7684029" y="3146298"/>
            <a:ext cx="3565833"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400, then 63x100, then 90</a:t>
            </a:r>
          </a:p>
        </p:txBody>
      </p:sp>
      <p:sp>
        <p:nvSpPr>
          <p:cNvPr id="20" name="Rectangle 19"/>
          <p:cNvSpPr/>
          <p:nvPr/>
        </p:nvSpPr>
        <p:spPr>
          <a:xfrm>
            <a:off x="685800" y="3420618"/>
            <a:ext cx="10820095" cy="32918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3475482"/>
            <a:ext cx="1682025"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layer(i)</a:t>
            </a:r>
          </a:p>
        </p:txBody>
      </p:sp>
      <p:sp>
        <p:nvSpPr>
          <p:cNvPr id="22" name="TextBox 21"/>
          <p:cNvSpPr txBox="1"/>
          <p:nvPr/>
        </p:nvSpPr>
        <p:spPr>
          <a:xfrm>
            <a:off x="2623857" y="3475482"/>
            <a:ext cx="4895580"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the layer that contains channel i</a:t>
            </a:r>
          </a:p>
        </p:txBody>
      </p:sp>
      <p:sp>
        <p:nvSpPr>
          <p:cNvPr id="23" name="TextBox 22"/>
          <p:cNvSpPr txBox="1"/>
          <p:nvPr/>
        </p:nvSpPr>
        <p:spPr>
          <a:xfrm>
            <a:off x="7684029" y="3475482"/>
            <a:ext cx="3565833"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0 .. 64</a:t>
            </a:r>
          </a:p>
        </p:txBody>
      </p:sp>
      <p:sp>
        <p:nvSpPr>
          <p:cNvPr id="24" name="TextBox 23"/>
          <p:cNvSpPr txBox="1"/>
          <p:nvPr/>
        </p:nvSpPr>
        <p:spPr>
          <a:xfrm>
            <a:off x="777240" y="3804666"/>
            <a:ext cx="1682025"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edges</a:t>
            </a:r>
          </a:p>
        </p:txBody>
      </p:sp>
      <p:sp>
        <p:nvSpPr>
          <p:cNvPr id="25" name="TextBox 24"/>
          <p:cNvSpPr txBox="1"/>
          <p:nvPr/>
        </p:nvSpPr>
        <p:spPr>
          <a:xfrm>
            <a:off x="2623857" y="3804666"/>
            <a:ext cx="4895580"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directed graph edges between channels</a:t>
            </a:r>
          </a:p>
        </p:txBody>
      </p:sp>
      <p:sp>
        <p:nvSpPr>
          <p:cNvPr id="26" name="TextBox 25"/>
          <p:cNvSpPr txBox="1"/>
          <p:nvPr/>
        </p:nvSpPr>
        <p:spPr>
          <a:xfrm>
            <a:off x="7684029" y="3804666"/>
            <a:ext cx="3565833"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107,920</a:t>
            </a:r>
          </a:p>
        </p:txBody>
      </p:sp>
      <p:sp>
        <p:nvSpPr>
          <p:cNvPr id="27" name="TextBox 26"/>
          <p:cNvSpPr txBox="1"/>
          <p:nvPr/>
        </p:nvSpPr>
        <p:spPr>
          <a:xfrm>
            <a:off x="777240" y="6035040"/>
            <a:ext cx="10637215" cy="310896"/>
          </a:xfrm>
          <a:prstGeom prst="rect">
            <a:avLst/>
          </a:prstGeom>
          <a:noFill/>
        </p:spPr>
        <p:txBody>
          <a:bodyPr wrap="square" lIns="0" rIns="0" tIns="0" bIns="0">
            <a:spAutoFit/>
          </a:bodyPr>
          <a:lstStyle/>
          <a:p>
            <a:pPr>
              <a:lnSpc>
                <a:spcPct val="130000"/>
              </a:lnSpc>
              <a:spcBef>
                <a:spcPts val="0"/>
              </a:spcBef>
              <a:spcAft>
                <a:spcPts val="0"/>
              </a:spcAft>
            </a:pPr>
            <a:r>
              <a:rPr sz="1200" b="0" i="0">
                <a:solidFill>
                  <a:srgbClr val="9A9AA4"/>
                </a:solidFill>
                <a:latin typeface="Segoe UI"/>
              </a:rPr>
              <a:t>Geometry SHA-256 e22d4cfb1e9293a33dd13151587910268ba64cd8…</a:t>
            </a:r>
          </a:p>
        </p:txBody>
      </p:sp>
      <p:sp>
        <p:nvSpPr>
          <p:cNvPr id="28" name="TextBox 2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5 / 46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CONVERSION</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Raw event conversion and truth construction</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48403" y="1591056"/>
            <a:ext cx="3294888" cy="627888"/>
          </a:xfrm>
          <a:prstGeom prst="rect">
            <a:avLst/>
          </a:prstGeom>
          <a:noFill/>
          <a:ln w="17780">
            <a:solidFill>
              <a:srgbClr val="D149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q_405897b3ff220750e10a.png"/>
          <p:cNvPicPr>
            <a:picLocks noChangeAspect="1"/>
          </p:cNvPicPr>
          <p:nvPr/>
        </p:nvPicPr>
        <p:blipFill>
          <a:blip r:embed="rId2"/>
          <a:stretch>
            <a:fillRect/>
          </a:stretch>
        </p:blipFill>
        <p:spPr>
          <a:xfrm>
            <a:off x="4576419" y="1719072"/>
            <a:ext cx="3038856" cy="371856"/>
          </a:xfrm>
          <a:prstGeom prst="rect">
            <a:avLst/>
          </a:prstGeom>
        </p:spPr>
      </p:pic>
      <p:sp>
        <p:nvSpPr>
          <p:cNvPr id="7" name="TextBox 6"/>
          <p:cNvSpPr txBox="1"/>
          <p:nvPr/>
        </p:nvSpPr>
        <p:spPr>
          <a:xfrm>
            <a:off x="777240" y="2401824"/>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INPUTS</a:t>
            </a:r>
          </a:p>
        </p:txBody>
      </p:sp>
      <p:pic>
        <p:nvPicPr>
          <p:cNvPr id="8" name="Picture 7" descr="eq_d95c3fca69cb9aa4425d.png"/>
          <p:cNvPicPr>
            <a:picLocks noChangeAspect="1"/>
          </p:cNvPicPr>
          <p:nvPr/>
        </p:nvPicPr>
        <p:blipFill>
          <a:blip r:embed="rId3"/>
          <a:stretch>
            <a:fillRect/>
          </a:stretch>
        </p:blipFill>
        <p:spPr>
          <a:xfrm>
            <a:off x="868680" y="2566416"/>
            <a:ext cx="4474464" cy="301752"/>
          </a:xfrm>
          <a:prstGeom prst="rect">
            <a:avLst/>
          </a:prstGeom>
        </p:spPr>
      </p:pic>
      <p:pic>
        <p:nvPicPr>
          <p:cNvPr id="9" name="Picture 8" descr="eq_88121e6815b15dd42bbd.png"/>
          <p:cNvPicPr>
            <a:picLocks noChangeAspect="1"/>
          </p:cNvPicPr>
          <p:nvPr/>
        </p:nvPicPr>
        <p:blipFill>
          <a:blip r:embed="rId4"/>
          <a:stretch>
            <a:fillRect/>
          </a:stretch>
        </p:blipFill>
        <p:spPr>
          <a:xfrm>
            <a:off x="868680" y="2968752"/>
            <a:ext cx="3017520" cy="280416"/>
          </a:xfrm>
          <a:prstGeom prst="rect">
            <a:avLst/>
          </a:prstGeom>
        </p:spPr>
      </p:pic>
      <p:sp>
        <p:nvSpPr>
          <p:cNvPr id="10" name="TextBox 9"/>
          <p:cNvSpPr txBox="1"/>
          <p:nvPr/>
        </p:nvSpPr>
        <p:spPr>
          <a:xfrm>
            <a:off x="868680" y="3276600"/>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frozen geometry map, hit to channel</a:t>
            </a:r>
          </a:p>
        </p:txBody>
      </p:sp>
      <p:sp>
        <p:nvSpPr>
          <p:cNvPr id="11" name="TextBox 10"/>
          <p:cNvSpPr txBox="1"/>
          <p:nvPr/>
        </p:nvSpPr>
        <p:spPr>
          <a:xfrm>
            <a:off x="777240" y="3577971"/>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MODEL</a:t>
            </a:r>
          </a:p>
        </p:txBody>
      </p:sp>
      <p:sp>
        <p:nvSpPr>
          <p:cNvPr id="12" name="TextBox 11"/>
          <p:cNvSpPr txBox="1"/>
          <p:nvPr/>
        </p:nvSpPr>
        <p:spPr>
          <a:xfrm>
            <a:off x="868680" y="3742563"/>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None — deterministic preprocessing.</a:t>
            </a:r>
          </a:p>
        </p:txBody>
      </p:sp>
      <p:pic>
        <p:nvPicPr>
          <p:cNvPr id="13" name="Picture 12" descr="eq_9d167e73e8e71ca9228f.png"/>
          <p:cNvPicPr>
            <a:picLocks noChangeAspect="1"/>
          </p:cNvPicPr>
          <p:nvPr/>
        </p:nvPicPr>
        <p:blipFill>
          <a:blip r:embed="rId5"/>
          <a:stretch>
            <a:fillRect/>
          </a:stretch>
        </p:blipFill>
        <p:spPr>
          <a:xfrm>
            <a:off x="868680" y="3989070"/>
            <a:ext cx="5452872" cy="496824"/>
          </a:xfrm>
          <a:prstGeom prst="rect">
            <a:avLst/>
          </a:prstGeom>
        </p:spPr>
      </p:pic>
      <p:sp>
        <p:nvSpPr>
          <p:cNvPr id="14" name="TextBox 13"/>
          <p:cNvSpPr txBox="1"/>
          <p:nvPr/>
        </p:nvSpPr>
        <p:spPr>
          <a:xfrm>
            <a:off x="868680" y="4513326"/>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mass-shell energy; multiple hits per cell summed</a:t>
            </a:r>
          </a:p>
        </p:txBody>
      </p:sp>
      <p:sp>
        <p:nvSpPr>
          <p:cNvPr id="15" name="TextBox 14"/>
          <p:cNvSpPr txBox="1"/>
          <p:nvPr/>
        </p:nvSpPr>
        <p:spPr>
          <a:xfrm>
            <a:off x="777240" y="4814697"/>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LOSS</a:t>
            </a:r>
          </a:p>
        </p:txBody>
      </p:sp>
      <p:pic>
        <p:nvPicPr>
          <p:cNvPr id="16" name="Picture 15" descr="eq_649677f8573efc4263c6.png"/>
          <p:cNvPicPr>
            <a:picLocks noChangeAspect="1"/>
          </p:cNvPicPr>
          <p:nvPr/>
        </p:nvPicPr>
        <p:blipFill>
          <a:blip r:embed="rId6"/>
          <a:stretch>
            <a:fillRect/>
          </a:stretch>
        </p:blipFill>
        <p:spPr>
          <a:xfrm>
            <a:off x="868680" y="4979289"/>
            <a:ext cx="2587752" cy="338328"/>
          </a:xfrm>
          <a:prstGeom prst="rect">
            <a:avLst/>
          </a:prstGeom>
        </p:spPr>
      </p:pic>
      <p:sp>
        <p:nvSpPr>
          <p:cNvPr id="17" name="TextBox 16"/>
          <p:cNvSpPr txBox="1"/>
          <p:nvPr/>
        </p:nvSpPr>
        <p:spPr>
          <a:xfrm>
            <a:off x="868680" y="5345049"/>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no trainable loss — validation checks only</a:t>
            </a:r>
          </a:p>
        </p:txBody>
      </p:sp>
      <p:sp>
        <p:nvSpPr>
          <p:cNvPr id="18" name="TextBox 17"/>
          <p:cNvSpPr txBox="1"/>
          <p:nvPr/>
        </p:nvSpPr>
        <p:spPr>
          <a:xfrm>
            <a:off x="777240" y="5646420"/>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OUTPUT</a:t>
            </a:r>
          </a:p>
        </p:txBody>
      </p:sp>
      <p:pic>
        <p:nvPicPr>
          <p:cNvPr id="19" name="Picture 18" descr="eq_29bd83b0f327a0dfd8d7.png"/>
          <p:cNvPicPr>
            <a:picLocks noChangeAspect="1"/>
          </p:cNvPicPr>
          <p:nvPr/>
        </p:nvPicPr>
        <p:blipFill>
          <a:blip r:embed="rId7"/>
          <a:stretch>
            <a:fillRect/>
          </a:stretch>
        </p:blipFill>
        <p:spPr>
          <a:xfrm>
            <a:off x="868680" y="5811012"/>
            <a:ext cx="3694176" cy="323088"/>
          </a:xfrm>
          <a:prstGeom prst="rect">
            <a:avLst/>
          </a:prstGeom>
        </p:spPr>
      </p:pic>
      <p:sp>
        <p:nvSpPr>
          <p:cNvPr id="20" name="TextBox 19"/>
          <p:cNvSpPr txBox="1"/>
          <p:nvPr/>
        </p:nvSpPr>
        <p:spPr>
          <a:xfrm>
            <a:off x="868680" y="6234684"/>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and the frozen detector geometry and graph, G</a:t>
            </a:r>
          </a:p>
        </p:txBody>
      </p:sp>
      <p:sp>
        <p:nvSpPr>
          <p:cNvPr id="21" name="TextBox 20"/>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6 / 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TRUTH</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Derived truth variables</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363059" y="1591056"/>
            <a:ext cx="3465576" cy="615696"/>
          </a:xfrm>
          <a:prstGeom prst="rect">
            <a:avLst/>
          </a:prstGeom>
          <a:noFill/>
          <a:ln w="17780">
            <a:solidFill>
              <a:srgbClr val="D149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q_083b4fd44b2690b7b9d1.png"/>
          <p:cNvPicPr>
            <a:picLocks noChangeAspect="1"/>
          </p:cNvPicPr>
          <p:nvPr/>
        </p:nvPicPr>
        <p:blipFill>
          <a:blip r:embed="rId2"/>
          <a:stretch>
            <a:fillRect/>
          </a:stretch>
        </p:blipFill>
        <p:spPr>
          <a:xfrm>
            <a:off x="4491075" y="1719072"/>
            <a:ext cx="3209544" cy="359664"/>
          </a:xfrm>
          <a:prstGeom prst="rect">
            <a:avLst/>
          </a:prstGeom>
        </p:spPr>
      </p:pic>
      <p:sp>
        <p:nvSpPr>
          <p:cNvPr id="7" name="TextBox 6"/>
          <p:cNvSpPr txBox="1"/>
          <p:nvPr/>
        </p:nvSpPr>
        <p:spPr>
          <a:xfrm>
            <a:off x="777240" y="2389632"/>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INPUTS</a:t>
            </a:r>
          </a:p>
        </p:txBody>
      </p:sp>
      <p:pic>
        <p:nvPicPr>
          <p:cNvPr id="8" name="Picture 7" descr="eq_5113e27d5446fa5a5208.png"/>
          <p:cNvPicPr>
            <a:picLocks noChangeAspect="1"/>
          </p:cNvPicPr>
          <p:nvPr/>
        </p:nvPicPr>
        <p:blipFill>
          <a:blip r:embed="rId3"/>
          <a:stretch>
            <a:fillRect/>
          </a:stretch>
        </p:blipFill>
        <p:spPr>
          <a:xfrm>
            <a:off x="868680" y="2554224"/>
            <a:ext cx="2478024" cy="320040"/>
          </a:xfrm>
          <a:prstGeom prst="rect">
            <a:avLst/>
          </a:prstGeom>
        </p:spPr>
      </p:pic>
      <p:sp>
        <p:nvSpPr>
          <p:cNvPr id="9" name="TextBox 8"/>
          <p:cNvSpPr txBox="1"/>
          <p:nvPr/>
        </p:nvSpPr>
        <p:spPr>
          <a:xfrm>
            <a:off x="777240" y="3029712"/>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MODEL</a:t>
            </a:r>
          </a:p>
        </p:txBody>
      </p:sp>
      <p:sp>
        <p:nvSpPr>
          <p:cNvPr id="10" name="TextBox 9"/>
          <p:cNvSpPr txBox="1"/>
          <p:nvPr/>
        </p:nvSpPr>
        <p:spPr>
          <a:xfrm>
            <a:off x="868680" y="3194304"/>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None — every quantity below is a deterministic derivation.</a:t>
            </a:r>
          </a:p>
        </p:txBody>
      </p:sp>
      <p:sp>
        <p:nvSpPr>
          <p:cNvPr id="11" name="TextBox 10"/>
          <p:cNvSpPr txBox="1"/>
          <p:nvPr/>
        </p:nvSpPr>
        <p:spPr>
          <a:xfrm>
            <a:off x="777240" y="3495675"/>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LOSS</a:t>
            </a:r>
          </a:p>
        </p:txBody>
      </p:sp>
      <p:sp>
        <p:nvSpPr>
          <p:cNvPr id="12" name="TextBox 11"/>
          <p:cNvSpPr txBox="1"/>
          <p:nvPr/>
        </p:nvSpPr>
        <p:spPr>
          <a:xfrm>
            <a:off x="868680" y="3660267"/>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None — these are training targets, not trained losses.</a:t>
            </a:r>
          </a:p>
        </p:txBody>
      </p:sp>
      <p:sp>
        <p:nvSpPr>
          <p:cNvPr id="13" name="TextBox 12"/>
          <p:cNvSpPr txBox="1"/>
          <p:nvPr/>
        </p:nvSpPr>
        <p:spPr>
          <a:xfrm>
            <a:off x="777240" y="3961638"/>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OUTPUT</a:t>
            </a:r>
          </a:p>
        </p:txBody>
      </p:sp>
      <p:pic>
        <p:nvPicPr>
          <p:cNvPr id="14" name="Picture 13" descr="eq_9dffd8c5d45cf2b508a0.png"/>
          <p:cNvPicPr>
            <a:picLocks noChangeAspect="1"/>
          </p:cNvPicPr>
          <p:nvPr/>
        </p:nvPicPr>
        <p:blipFill>
          <a:blip r:embed="rId4"/>
          <a:stretch>
            <a:fillRect/>
          </a:stretch>
        </p:blipFill>
        <p:spPr>
          <a:xfrm>
            <a:off x="868680" y="4126230"/>
            <a:ext cx="2410968" cy="463296"/>
          </a:xfrm>
          <a:prstGeom prst="rect">
            <a:avLst/>
          </a:prstGeom>
        </p:spPr>
      </p:pic>
      <p:sp>
        <p:nvSpPr>
          <p:cNvPr id="15" name="TextBox 14"/>
          <p:cNvSpPr txBox="1"/>
          <p:nvPr/>
        </p:nvSpPr>
        <p:spPr>
          <a:xfrm>
            <a:off x="868680" y="4616958"/>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cell support; layer energy</a:t>
            </a:r>
          </a:p>
        </p:txBody>
      </p:sp>
      <p:pic>
        <p:nvPicPr>
          <p:cNvPr id="16" name="Picture 15" descr="eq_4c1c3deeb9c1a9402f62.png"/>
          <p:cNvPicPr>
            <a:picLocks noChangeAspect="1"/>
          </p:cNvPicPr>
          <p:nvPr/>
        </p:nvPicPr>
        <p:blipFill>
          <a:blip r:embed="rId5"/>
          <a:stretch>
            <a:fillRect/>
          </a:stretch>
        </p:blipFill>
        <p:spPr>
          <a:xfrm>
            <a:off x="868680" y="4863465"/>
            <a:ext cx="2432304" cy="463296"/>
          </a:xfrm>
          <a:prstGeom prst="rect">
            <a:avLst/>
          </a:prstGeom>
        </p:spPr>
      </p:pic>
      <p:pic>
        <p:nvPicPr>
          <p:cNvPr id="17" name="Picture 16" descr="eq_572155d52a2b8742810f.png"/>
          <p:cNvPicPr>
            <a:picLocks noChangeAspect="1"/>
          </p:cNvPicPr>
          <p:nvPr/>
        </p:nvPicPr>
        <p:blipFill>
          <a:blip r:embed="rId6"/>
          <a:stretch>
            <a:fillRect/>
          </a:stretch>
        </p:blipFill>
        <p:spPr>
          <a:xfrm>
            <a:off x="868680" y="5427345"/>
            <a:ext cx="2426208" cy="448056"/>
          </a:xfrm>
          <a:prstGeom prst="rect">
            <a:avLst/>
          </a:prstGeom>
        </p:spPr>
      </p:pic>
      <p:pic>
        <p:nvPicPr>
          <p:cNvPr id="18" name="Picture 17" descr="eq_3b76fb49c6bb93e174a7.png"/>
          <p:cNvPicPr>
            <a:picLocks noChangeAspect="1"/>
          </p:cNvPicPr>
          <p:nvPr/>
        </p:nvPicPr>
        <p:blipFill>
          <a:blip r:embed="rId7"/>
          <a:stretch>
            <a:fillRect/>
          </a:stretch>
        </p:blipFill>
        <p:spPr>
          <a:xfrm>
            <a:off x="868680" y="5975985"/>
            <a:ext cx="4081271" cy="295656"/>
          </a:xfrm>
          <a:prstGeom prst="rect">
            <a:avLst/>
          </a:prstGeom>
        </p:spPr>
      </p:pic>
      <p:sp>
        <p:nvSpPr>
          <p:cNvPr id="19" name="TextBox 18"/>
          <p:cNvSpPr txBox="1"/>
          <p:nvPr/>
        </p:nvSpPr>
        <p:spPr>
          <a:xfrm>
            <a:off x="868680" y="6299073"/>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first active layer; within-layer energy share</a:t>
            </a:r>
          </a:p>
        </p:txBody>
      </p:sp>
      <p:sp>
        <p:nvSpPr>
          <p:cNvPr id="20" name="TextBox 19"/>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7 / 46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TOOLKIT</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Six mechanisms this model reuses throughout</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31_toolkit.png"/>
          <p:cNvPicPr>
            <a:picLocks noChangeAspect="1"/>
          </p:cNvPicPr>
          <p:nvPr/>
        </p:nvPicPr>
        <p:blipFill>
          <a:blip r:embed="rId2"/>
          <a:stretch>
            <a:fillRect/>
          </a:stretch>
        </p:blipFill>
        <p:spPr>
          <a:xfrm>
            <a:off x="3351280" y="1591056"/>
            <a:ext cx="5489133" cy="3759707"/>
          </a:xfrm>
          <a:prstGeom prst="rect">
            <a:avLst/>
          </a:prstGeom>
        </p:spPr>
      </p:pic>
      <p:sp>
        <p:nvSpPr>
          <p:cNvPr id="6" name="Rectangle 5"/>
          <p:cNvSpPr/>
          <p:nvPr/>
        </p:nvSpPr>
        <p:spPr>
          <a:xfrm>
            <a:off x="777240" y="5533643"/>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670803"/>
            <a:ext cx="10637215" cy="803149"/>
          </a:xfrm>
          <a:prstGeom prst="rect">
            <a:avLst/>
          </a:prstGeom>
          <a:noFill/>
        </p:spPr>
        <p:txBody>
          <a:bodyPr wrap="square" lIns="0" rIns="0" tIns="0" bIns="0">
            <a:spAutoFit/>
          </a:bodyPr>
          <a:lstStyle/>
          <a:p>
            <a:pPr>
              <a:lnSpc>
                <a:spcPct val="130000"/>
              </a:lnSpc>
              <a:spcBef>
                <a:spcPts val="0"/>
              </a:spcBef>
              <a:spcAft>
                <a:spcPts val="500"/>
              </a:spcAft>
            </a:pPr>
            <a:r>
              <a:rPr sz="1400" b="0" i="0">
                <a:solidFill>
                  <a:srgbClr val="16161D"/>
                </a:solidFill>
                <a:latin typeface="Segoe UI"/>
              </a:rPr>
              <a:t>Later slides name a mechanism and point back here rather than re-deriving it. The physics reasoning for each stage — why a mixture of Gaussians, why a count instead of a fixed rule, why some channels are weighted more than others — stays on that stage's own slide; this page covers only the reusable machinery.</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8 / 46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ENCODER</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Neutron condition encoder</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77103" y="1591056"/>
            <a:ext cx="1237488" cy="627888"/>
          </a:xfrm>
          <a:prstGeom prst="rect">
            <a:avLst/>
          </a:prstGeom>
          <a:noFill/>
          <a:ln w="17780">
            <a:solidFill>
              <a:srgbClr val="D149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q_49c7d611fa0c0baad6f9.png"/>
          <p:cNvPicPr>
            <a:picLocks noChangeAspect="1"/>
          </p:cNvPicPr>
          <p:nvPr/>
        </p:nvPicPr>
        <p:blipFill>
          <a:blip r:embed="rId2"/>
          <a:stretch>
            <a:fillRect/>
          </a:stretch>
        </p:blipFill>
        <p:spPr>
          <a:xfrm>
            <a:off x="5605119" y="1719072"/>
            <a:ext cx="981455" cy="371856"/>
          </a:xfrm>
          <a:prstGeom prst="rect">
            <a:avLst/>
          </a:prstGeom>
        </p:spPr>
      </p:pic>
      <p:sp>
        <p:nvSpPr>
          <p:cNvPr id="7" name="TextBox 6"/>
          <p:cNvSpPr txBox="1"/>
          <p:nvPr/>
        </p:nvSpPr>
        <p:spPr>
          <a:xfrm>
            <a:off x="777240" y="2401824"/>
            <a:ext cx="1828800" cy="182880"/>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INPUTS</a:t>
            </a:r>
          </a:p>
        </p:txBody>
      </p:sp>
      <p:pic>
        <p:nvPicPr>
          <p:cNvPr id="8" name="Picture 7" descr="eq_c6739047f4eed1420816.png"/>
          <p:cNvPicPr>
            <a:picLocks noChangeAspect="1"/>
          </p:cNvPicPr>
          <p:nvPr/>
        </p:nvPicPr>
        <p:blipFill>
          <a:blip r:embed="rId3"/>
          <a:stretch>
            <a:fillRect/>
          </a:stretch>
        </p:blipFill>
        <p:spPr>
          <a:xfrm>
            <a:off x="868680" y="2584704"/>
            <a:ext cx="2438400" cy="320040"/>
          </a:xfrm>
          <a:prstGeom prst="rect">
            <a:avLst/>
          </a:prstGeom>
        </p:spPr>
      </p:pic>
      <p:sp>
        <p:nvSpPr>
          <p:cNvPr id="9" name="TextBox 8"/>
          <p:cNvSpPr txBox="1"/>
          <p:nvPr/>
        </p:nvSpPr>
        <p:spPr>
          <a:xfrm>
            <a:off x="868680" y="2936748"/>
            <a:ext cx="10454335" cy="189865"/>
          </a:xfrm>
          <a:prstGeom prst="rect">
            <a:avLst/>
          </a:prstGeom>
          <a:noFill/>
        </p:spPr>
        <p:txBody>
          <a:bodyPr wrap="square" lIns="0" rIns="0" tIns="0" bIns="0">
            <a:spAutoFit/>
          </a:bodyPr>
          <a:lstStyle/>
          <a:p>
            <a:pPr>
              <a:lnSpc>
                <a:spcPct val="125000"/>
              </a:lnSpc>
              <a:spcBef>
                <a:spcPts val="0"/>
              </a:spcBef>
              <a:spcAft>
                <a:spcPts val="0"/>
              </a:spcAft>
            </a:pPr>
            <a:r>
              <a:rPr sz="1150" b="0" i="0">
                <a:solidFill>
                  <a:srgbClr val="555560"/>
                </a:solidFill>
                <a:latin typeface="Segoe UI"/>
              </a:rPr>
              <a:t>kinetic energy; unit direction</a:t>
            </a:r>
          </a:p>
        </p:txBody>
      </p:sp>
      <p:pic>
        <p:nvPicPr>
          <p:cNvPr id="10" name="Picture 9" descr="eq_6e1462d17909ed752ebd.png"/>
          <p:cNvPicPr>
            <a:picLocks noChangeAspect="1"/>
          </p:cNvPicPr>
          <p:nvPr/>
        </p:nvPicPr>
        <p:blipFill>
          <a:blip r:embed="rId4"/>
          <a:stretch>
            <a:fillRect/>
          </a:stretch>
        </p:blipFill>
        <p:spPr>
          <a:xfrm>
            <a:off x="868680" y="3218053"/>
            <a:ext cx="4255008" cy="402336"/>
          </a:xfrm>
          <a:prstGeom prst="rect">
            <a:avLst/>
          </a:prstGeom>
        </p:spPr>
      </p:pic>
      <p:sp>
        <p:nvSpPr>
          <p:cNvPr id="11" name="TextBox 10"/>
          <p:cNvSpPr txBox="1"/>
          <p:nvPr/>
        </p:nvSpPr>
        <p:spPr>
          <a:xfrm>
            <a:off x="777240" y="3812413"/>
            <a:ext cx="1828800" cy="182880"/>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MODEL</a:t>
            </a:r>
          </a:p>
        </p:txBody>
      </p:sp>
      <p:sp>
        <p:nvSpPr>
          <p:cNvPr id="12" name="TextBox 11"/>
          <p:cNvSpPr txBox="1"/>
          <p:nvPr/>
        </p:nvSpPr>
        <p:spPr>
          <a:xfrm>
            <a:off x="868680" y="3995293"/>
            <a:ext cx="10454335" cy="189865"/>
          </a:xfrm>
          <a:prstGeom prst="rect">
            <a:avLst/>
          </a:prstGeom>
          <a:noFill/>
        </p:spPr>
        <p:txBody>
          <a:bodyPr wrap="square" lIns="0" rIns="0" tIns="0" bIns="0">
            <a:spAutoFit/>
          </a:bodyPr>
          <a:lstStyle/>
          <a:p>
            <a:pPr>
              <a:lnSpc>
                <a:spcPct val="125000"/>
              </a:lnSpc>
              <a:spcBef>
                <a:spcPts val="0"/>
              </a:spcBef>
              <a:spcAft>
                <a:spcPts val="0"/>
              </a:spcAft>
            </a:pPr>
            <a:r>
              <a:rPr sz="1150" b="0" i="0">
                <a:solidFill>
                  <a:srgbClr val="555560"/>
                </a:solidFill>
                <a:latin typeface="Segoe UI"/>
              </a:rPr>
              <a:t>Residual MLP: 5 -&gt; 128 -&gt; residual blocks -&gt; LayerNorm (see toolkit).</a:t>
            </a:r>
          </a:p>
        </p:txBody>
      </p:sp>
      <p:pic>
        <p:nvPicPr>
          <p:cNvPr id="13" name="Picture 12" descr="eq_d99c232e2a9cd6881d33.png"/>
          <p:cNvPicPr>
            <a:picLocks noChangeAspect="1"/>
          </p:cNvPicPr>
          <p:nvPr/>
        </p:nvPicPr>
        <p:blipFill>
          <a:blip r:embed="rId5"/>
          <a:stretch>
            <a:fillRect/>
          </a:stretch>
        </p:blipFill>
        <p:spPr>
          <a:xfrm>
            <a:off x="868680" y="4276598"/>
            <a:ext cx="1700784" cy="350520"/>
          </a:xfrm>
          <a:prstGeom prst="rect">
            <a:avLst/>
          </a:prstGeom>
        </p:spPr>
      </p:pic>
      <p:sp>
        <p:nvSpPr>
          <p:cNvPr id="14" name="TextBox 13"/>
          <p:cNvSpPr txBox="1"/>
          <p:nvPr/>
        </p:nvSpPr>
        <p:spPr>
          <a:xfrm>
            <a:off x="777240" y="4819142"/>
            <a:ext cx="1828800" cy="182880"/>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LOSS</a:t>
            </a:r>
          </a:p>
        </p:txBody>
      </p:sp>
      <p:sp>
        <p:nvSpPr>
          <p:cNvPr id="15" name="TextBox 14"/>
          <p:cNvSpPr txBox="1"/>
          <p:nvPr/>
        </p:nvSpPr>
        <p:spPr>
          <a:xfrm>
            <a:off x="868680" y="5002022"/>
            <a:ext cx="10454335" cy="189865"/>
          </a:xfrm>
          <a:prstGeom prst="rect">
            <a:avLst/>
          </a:prstGeom>
          <a:noFill/>
        </p:spPr>
        <p:txBody>
          <a:bodyPr wrap="square" lIns="0" rIns="0" tIns="0" bIns="0">
            <a:spAutoFit/>
          </a:bodyPr>
          <a:lstStyle/>
          <a:p>
            <a:pPr>
              <a:lnSpc>
                <a:spcPct val="125000"/>
              </a:lnSpc>
              <a:spcBef>
                <a:spcPts val="0"/>
              </a:spcBef>
              <a:spcAft>
                <a:spcPts val="0"/>
              </a:spcAft>
            </a:pPr>
            <a:r>
              <a:rPr sz="1150" b="0" i="0">
                <a:solidFill>
                  <a:srgbClr val="555560"/>
                </a:solidFill>
                <a:latin typeface="Segoe UI"/>
              </a:rPr>
              <a:t>None — shaped only by gradients from the nine downstream losses.</a:t>
            </a:r>
          </a:p>
        </p:txBody>
      </p:sp>
      <p:sp>
        <p:nvSpPr>
          <p:cNvPr id="16" name="TextBox 15"/>
          <p:cNvSpPr txBox="1"/>
          <p:nvPr/>
        </p:nvSpPr>
        <p:spPr>
          <a:xfrm>
            <a:off x="777240" y="5351907"/>
            <a:ext cx="1828800" cy="182880"/>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OUTPUT</a:t>
            </a:r>
          </a:p>
        </p:txBody>
      </p:sp>
      <p:pic>
        <p:nvPicPr>
          <p:cNvPr id="17" name="Picture 16" descr="eq_d12cc40c8b05b53059b4.png"/>
          <p:cNvPicPr>
            <a:picLocks noChangeAspect="1"/>
          </p:cNvPicPr>
          <p:nvPr/>
        </p:nvPicPr>
        <p:blipFill>
          <a:blip r:embed="rId6"/>
          <a:stretch>
            <a:fillRect/>
          </a:stretch>
        </p:blipFill>
        <p:spPr>
          <a:xfrm>
            <a:off x="868680" y="5534787"/>
            <a:ext cx="816864" cy="304800"/>
          </a:xfrm>
          <a:prstGeom prst="rect">
            <a:avLst/>
          </a:prstGeom>
        </p:spPr>
      </p:pic>
      <p:sp>
        <p:nvSpPr>
          <p:cNvPr id="18" name="TextBox 17"/>
          <p:cNvSpPr txBox="1"/>
          <p:nvPr/>
        </p:nvSpPr>
        <p:spPr>
          <a:xfrm>
            <a:off x="868680" y="5871591"/>
            <a:ext cx="10454335" cy="189865"/>
          </a:xfrm>
          <a:prstGeom prst="rect">
            <a:avLst/>
          </a:prstGeom>
          <a:noFill/>
        </p:spPr>
        <p:txBody>
          <a:bodyPr wrap="square" lIns="0" rIns="0" tIns="0" bIns="0">
            <a:spAutoFit/>
          </a:bodyPr>
          <a:lstStyle/>
          <a:p>
            <a:pPr>
              <a:lnSpc>
                <a:spcPct val="125000"/>
              </a:lnSpc>
              <a:spcBef>
                <a:spcPts val="0"/>
              </a:spcBef>
              <a:spcAft>
                <a:spcPts val="0"/>
              </a:spcAft>
            </a:pPr>
            <a:r>
              <a:rPr sz="1150" b="0" i="0">
                <a:solidFill>
                  <a:srgbClr val="555560"/>
                </a:solidFill>
                <a:latin typeface="Segoe UI"/>
              </a:rPr>
              <a:t>supplied to every later stage</a:t>
            </a:r>
          </a:p>
        </p:txBody>
      </p:sp>
      <p:sp>
        <p:nvSpPr>
          <p:cNvPr id="19" name="TextBox 18"/>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9 / 46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VISIBILITY</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Visibility model</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5871" y="1591056"/>
            <a:ext cx="1139952" cy="661416"/>
          </a:xfrm>
          <a:prstGeom prst="rect">
            <a:avLst/>
          </a:prstGeom>
          <a:noFill/>
          <a:ln w="17780">
            <a:solidFill>
              <a:srgbClr val="D149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q_9bd40dff8d3f081220dd.png"/>
          <p:cNvPicPr>
            <a:picLocks noChangeAspect="1"/>
          </p:cNvPicPr>
          <p:nvPr/>
        </p:nvPicPr>
        <p:blipFill>
          <a:blip r:embed="rId2"/>
          <a:stretch>
            <a:fillRect/>
          </a:stretch>
        </p:blipFill>
        <p:spPr>
          <a:xfrm>
            <a:off x="5653887" y="1719072"/>
            <a:ext cx="883920" cy="405384"/>
          </a:xfrm>
          <a:prstGeom prst="rect">
            <a:avLst/>
          </a:prstGeom>
        </p:spPr>
      </p:pic>
      <p:sp>
        <p:nvSpPr>
          <p:cNvPr id="7" name="TextBox 6"/>
          <p:cNvSpPr txBox="1"/>
          <p:nvPr/>
        </p:nvSpPr>
        <p:spPr>
          <a:xfrm>
            <a:off x="777240" y="2435352"/>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INPUTS</a:t>
            </a:r>
          </a:p>
        </p:txBody>
      </p:sp>
      <p:pic>
        <p:nvPicPr>
          <p:cNvPr id="8" name="Picture 7" descr="eq_c234cc01df45e5d96739.png"/>
          <p:cNvPicPr>
            <a:picLocks noChangeAspect="1"/>
          </p:cNvPicPr>
          <p:nvPr/>
        </p:nvPicPr>
        <p:blipFill>
          <a:blip r:embed="rId3"/>
          <a:stretch>
            <a:fillRect/>
          </a:stretch>
        </p:blipFill>
        <p:spPr>
          <a:xfrm>
            <a:off x="868680" y="2599944"/>
            <a:ext cx="719328" cy="277368"/>
          </a:xfrm>
          <a:prstGeom prst="rect">
            <a:avLst/>
          </a:prstGeom>
        </p:spPr>
      </p:pic>
      <p:sp>
        <p:nvSpPr>
          <p:cNvPr id="9" name="TextBox 8"/>
          <p:cNvSpPr txBox="1"/>
          <p:nvPr/>
        </p:nvSpPr>
        <p:spPr>
          <a:xfrm>
            <a:off x="777240" y="3032760"/>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MODEL</a:t>
            </a:r>
          </a:p>
        </p:txBody>
      </p:sp>
      <p:sp>
        <p:nvSpPr>
          <p:cNvPr id="10" name="TextBox 9"/>
          <p:cNvSpPr txBox="1"/>
          <p:nvPr/>
        </p:nvSpPr>
        <p:spPr>
          <a:xfrm>
            <a:off x="868680" y="3197352"/>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Binary MLP (see toolkit: sigmoid).</a:t>
            </a:r>
          </a:p>
        </p:txBody>
      </p:sp>
      <p:pic>
        <p:nvPicPr>
          <p:cNvPr id="11" name="Picture 10" descr="eq_c63c86f30afa5309f63a.png"/>
          <p:cNvPicPr>
            <a:picLocks noChangeAspect="1"/>
          </p:cNvPicPr>
          <p:nvPr/>
        </p:nvPicPr>
        <p:blipFill>
          <a:blip r:embed="rId4"/>
          <a:stretch>
            <a:fillRect/>
          </a:stretch>
        </p:blipFill>
        <p:spPr>
          <a:xfrm>
            <a:off x="868680" y="3443859"/>
            <a:ext cx="865632" cy="286512"/>
          </a:xfrm>
          <a:prstGeom prst="rect">
            <a:avLst/>
          </a:prstGeom>
        </p:spPr>
      </p:pic>
      <p:sp>
        <p:nvSpPr>
          <p:cNvPr id="12" name="TextBox 11"/>
          <p:cNvSpPr txBox="1"/>
          <p:nvPr/>
        </p:nvSpPr>
        <p:spPr>
          <a:xfrm>
            <a:off x="868680" y="3757803"/>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score from c</a:t>
            </a:r>
          </a:p>
        </p:txBody>
      </p:sp>
      <p:sp>
        <p:nvSpPr>
          <p:cNvPr id="13" name="TextBox 12"/>
          <p:cNvSpPr txBox="1"/>
          <p:nvPr/>
        </p:nvSpPr>
        <p:spPr>
          <a:xfrm>
            <a:off x="777240" y="4059174"/>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LOSS</a:t>
            </a:r>
          </a:p>
        </p:txBody>
      </p:sp>
      <p:pic>
        <p:nvPicPr>
          <p:cNvPr id="14" name="Picture 13" descr="eq_6ffc62276d67157a918c.png"/>
          <p:cNvPicPr>
            <a:picLocks noChangeAspect="1"/>
          </p:cNvPicPr>
          <p:nvPr/>
        </p:nvPicPr>
        <p:blipFill>
          <a:blip r:embed="rId5"/>
          <a:stretch>
            <a:fillRect/>
          </a:stretch>
        </p:blipFill>
        <p:spPr>
          <a:xfrm>
            <a:off x="868680" y="4223766"/>
            <a:ext cx="3523488" cy="557784"/>
          </a:xfrm>
          <a:prstGeom prst="rect">
            <a:avLst/>
          </a:prstGeom>
        </p:spPr>
      </p:pic>
      <p:sp>
        <p:nvSpPr>
          <p:cNvPr id="15" name="TextBox 14"/>
          <p:cNvSpPr txBox="1"/>
          <p:nvPr/>
        </p:nvSpPr>
        <p:spPr>
          <a:xfrm>
            <a:off x="868680" y="4808982"/>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binary cross-entropy</a:t>
            </a:r>
          </a:p>
        </p:txBody>
      </p:sp>
      <p:sp>
        <p:nvSpPr>
          <p:cNvPr id="16" name="TextBox 15"/>
          <p:cNvSpPr txBox="1"/>
          <p:nvPr/>
        </p:nvSpPr>
        <p:spPr>
          <a:xfrm>
            <a:off x="777240" y="5110353"/>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OUTPUT</a:t>
            </a:r>
          </a:p>
        </p:txBody>
      </p:sp>
      <p:pic>
        <p:nvPicPr>
          <p:cNvPr id="17" name="Picture 16" descr="eq_0e364e8cf7aca6a1c1ec.png"/>
          <p:cNvPicPr>
            <a:picLocks noChangeAspect="1"/>
          </p:cNvPicPr>
          <p:nvPr/>
        </p:nvPicPr>
        <p:blipFill>
          <a:blip r:embed="rId6"/>
          <a:stretch>
            <a:fillRect/>
          </a:stretch>
        </p:blipFill>
        <p:spPr>
          <a:xfrm>
            <a:off x="868680" y="5274945"/>
            <a:ext cx="1377696" cy="335280"/>
          </a:xfrm>
          <a:prstGeom prst="rect">
            <a:avLst/>
          </a:prstGeom>
        </p:spPr>
      </p:pic>
      <p:sp>
        <p:nvSpPr>
          <p:cNvPr id="18" name="TextBox 17"/>
          <p:cNvSpPr txBox="1"/>
          <p:nvPr/>
        </p:nvSpPr>
        <p:spPr>
          <a:xfrm>
            <a:off x="868680" y="5637657"/>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gates every later stage</a:t>
            </a:r>
          </a:p>
        </p:txBody>
      </p:sp>
      <p:sp>
        <p:nvSpPr>
          <p:cNvPr id="19" name="TextBox 18"/>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10 / 46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RESPONSE</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Total-Response Model</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390235" y="1591056"/>
            <a:ext cx="1411224" cy="685800"/>
          </a:xfrm>
          <a:prstGeom prst="rect">
            <a:avLst/>
          </a:prstGeom>
          <a:noFill/>
          <a:ln w="17780">
            <a:solidFill>
              <a:srgbClr val="D149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q_bfcf03f477786a65da0f.png"/>
          <p:cNvPicPr>
            <a:picLocks noChangeAspect="1"/>
          </p:cNvPicPr>
          <p:nvPr/>
        </p:nvPicPr>
        <p:blipFill>
          <a:blip r:embed="rId2"/>
          <a:stretch>
            <a:fillRect/>
          </a:stretch>
        </p:blipFill>
        <p:spPr>
          <a:xfrm>
            <a:off x="5518251" y="1719072"/>
            <a:ext cx="1155192" cy="429768"/>
          </a:xfrm>
          <a:prstGeom prst="rect">
            <a:avLst/>
          </a:prstGeom>
        </p:spPr>
      </p:pic>
      <p:sp>
        <p:nvSpPr>
          <p:cNvPr id="7" name="TextBox 6"/>
          <p:cNvSpPr txBox="1"/>
          <p:nvPr/>
        </p:nvSpPr>
        <p:spPr>
          <a:xfrm>
            <a:off x="777240" y="2459736"/>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INPUTS</a:t>
            </a:r>
          </a:p>
        </p:txBody>
      </p:sp>
      <p:pic>
        <p:nvPicPr>
          <p:cNvPr id="8" name="Picture 7" descr="eq_ef5dce129b6f44883db2.png"/>
          <p:cNvPicPr>
            <a:picLocks noChangeAspect="1"/>
          </p:cNvPicPr>
          <p:nvPr/>
        </p:nvPicPr>
        <p:blipFill>
          <a:blip r:embed="rId3"/>
          <a:stretch>
            <a:fillRect/>
          </a:stretch>
        </p:blipFill>
        <p:spPr>
          <a:xfrm>
            <a:off x="868680" y="2624328"/>
            <a:ext cx="2471928" cy="335280"/>
          </a:xfrm>
          <a:prstGeom prst="rect">
            <a:avLst/>
          </a:prstGeom>
        </p:spPr>
      </p:pic>
      <p:sp>
        <p:nvSpPr>
          <p:cNvPr id="9" name="TextBox 8"/>
          <p:cNvSpPr txBox="1"/>
          <p:nvPr/>
        </p:nvSpPr>
        <p:spPr>
          <a:xfrm>
            <a:off x="868680" y="2987040"/>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training target</a:t>
            </a:r>
          </a:p>
        </p:txBody>
      </p:sp>
      <p:sp>
        <p:nvSpPr>
          <p:cNvPr id="10" name="TextBox 9"/>
          <p:cNvSpPr txBox="1"/>
          <p:nvPr/>
        </p:nvSpPr>
        <p:spPr>
          <a:xfrm>
            <a:off x="777240" y="3288411"/>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MODEL</a:t>
            </a:r>
          </a:p>
        </p:txBody>
      </p:sp>
      <p:sp>
        <p:nvSpPr>
          <p:cNvPr id="11" name="TextBox 10"/>
          <p:cNvSpPr txBox="1"/>
          <p:nvPr/>
        </p:nvSpPr>
        <p:spPr>
          <a:xfrm>
            <a:off x="868680" y="3453003"/>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4-component Gaussian-mixture MLP.</a:t>
            </a:r>
          </a:p>
        </p:txBody>
      </p:sp>
      <p:pic>
        <p:nvPicPr>
          <p:cNvPr id="12" name="Picture 11" descr="eq_327ba4b397365eeaad9c.png"/>
          <p:cNvPicPr>
            <a:picLocks noChangeAspect="1"/>
          </p:cNvPicPr>
          <p:nvPr/>
        </p:nvPicPr>
        <p:blipFill>
          <a:blip r:embed="rId4"/>
          <a:stretch>
            <a:fillRect/>
          </a:stretch>
        </p:blipFill>
        <p:spPr>
          <a:xfrm>
            <a:off x="868680" y="3699510"/>
            <a:ext cx="2734056" cy="557784"/>
          </a:xfrm>
          <a:prstGeom prst="rect">
            <a:avLst/>
          </a:prstGeom>
        </p:spPr>
      </p:pic>
      <p:sp>
        <p:nvSpPr>
          <p:cNvPr id="13" name="TextBox 12"/>
          <p:cNvSpPr txBox="1"/>
          <p:nvPr/>
        </p:nvSpPr>
        <p:spPr>
          <a:xfrm>
            <a:off x="777240" y="4412742"/>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LOSS</a:t>
            </a:r>
          </a:p>
        </p:txBody>
      </p:sp>
      <p:pic>
        <p:nvPicPr>
          <p:cNvPr id="14" name="Picture 13" descr="eq_59081c95d773e9ea4435.png"/>
          <p:cNvPicPr>
            <a:picLocks noChangeAspect="1"/>
          </p:cNvPicPr>
          <p:nvPr/>
        </p:nvPicPr>
        <p:blipFill>
          <a:blip r:embed="rId5"/>
          <a:stretch>
            <a:fillRect/>
          </a:stretch>
        </p:blipFill>
        <p:spPr>
          <a:xfrm>
            <a:off x="868680" y="4577334"/>
            <a:ext cx="3163824" cy="573024"/>
          </a:xfrm>
          <a:prstGeom prst="rect">
            <a:avLst/>
          </a:prstGeom>
        </p:spPr>
      </p:pic>
      <p:sp>
        <p:nvSpPr>
          <p:cNvPr id="15" name="TextBox 14"/>
          <p:cNvSpPr txBox="1"/>
          <p:nvPr/>
        </p:nvSpPr>
        <p:spPr>
          <a:xfrm>
            <a:off x="868680" y="5177790"/>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negative log-likelihood</a:t>
            </a:r>
          </a:p>
        </p:txBody>
      </p:sp>
      <p:sp>
        <p:nvSpPr>
          <p:cNvPr id="16" name="TextBox 15"/>
          <p:cNvSpPr txBox="1"/>
          <p:nvPr/>
        </p:nvSpPr>
        <p:spPr>
          <a:xfrm>
            <a:off x="777240" y="5479161"/>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OUTPUT</a:t>
            </a:r>
          </a:p>
        </p:txBody>
      </p:sp>
      <p:pic>
        <p:nvPicPr>
          <p:cNvPr id="17" name="Picture 16" descr="eq_3ddc6d0e1a534573d7a7.png"/>
          <p:cNvPicPr>
            <a:picLocks noChangeAspect="1"/>
          </p:cNvPicPr>
          <p:nvPr/>
        </p:nvPicPr>
        <p:blipFill>
          <a:blip r:embed="rId6"/>
          <a:stretch>
            <a:fillRect/>
          </a:stretch>
        </p:blipFill>
        <p:spPr>
          <a:xfrm>
            <a:off x="868680" y="5643753"/>
            <a:ext cx="4572000" cy="329184"/>
          </a:xfrm>
          <a:prstGeom prst="rect">
            <a:avLst/>
          </a:prstGeom>
        </p:spPr>
      </p:pic>
      <p:sp>
        <p:nvSpPr>
          <p:cNvPr id="18" name="TextBox 17"/>
          <p:cNvSpPr txBox="1"/>
          <p:nvPr/>
        </p:nvSpPr>
        <p:spPr>
          <a:xfrm>
            <a:off x="868680" y="6000369"/>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sampled, clamped, safety-capped</a:t>
            </a:r>
          </a:p>
        </p:txBody>
      </p:sp>
      <p:sp>
        <p:nvSpPr>
          <p:cNvPr id="19" name="TextBox 18"/>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11 / 46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FIRST LAYER</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First-Positive-Layer Model</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361279" y="1591056"/>
            <a:ext cx="1469136" cy="704088"/>
          </a:xfrm>
          <a:prstGeom prst="rect">
            <a:avLst/>
          </a:prstGeom>
          <a:noFill/>
          <a:ln w="17780">
            <a:solidFill>
              <a:srgbClr val="D149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q_5ffcdb7a7aadea172449.png"/>
          <p:cNvPicPr>
            <a:picLocks noChangeAspect="1"/>
          </p:cNvPicPr>
          <p:nvPr/>
        </p:nvPicPr>
        <p:blipFill>
          <a:blip r:embed="rId2"/>
          <a:stretch>
            <a:fillRect/>
          </a:stretch>
        </p:blipFill>
        <p:spPr>
          <a:xfrm>
            <a:off x="5489295" y="1719072"/>
            <a:ext cx="1213104" cy="448056"/>
          </a:xfrm>
          <a:prstGeom prst="rect">
            <a:avLst/>
          </a:prstGeom>
        </p:spPr>
      </p:pic>
      <p:sp>
        <p:nvSpPr>
          <p:cNvPr id="7" name="TextBox 6"/>
          <p:cNvSpPr txBox="1"/>
          <p:nvPr/>
        </p:nvSpPr>
        <p:spPr>
          <a:xfrm>
            <a:off x="777240" y="2478024"/>
            <a:ext cx="1828800" cy="182880"/>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INPUTS</a:t>
            </a:r>
          </a:p>
        </p:txBody>
      </p:sp>
      <p:pic>
        <p:nvPicPr>
          <p:cNvPr id="8" name="Picture 7" descr="eq_d828867fa0d79912a476.png"/>
          <p:cNvPicPr>
            <a:picLocks noChangeAspect="1"/>
          </p:cNvPicPr>
          <p:nvPr/>
        </p:nvPicPr>
        <p:blipFill>
          <a:blip r:embed="rId3"/>
          <a:stretch>
            <a:fillRect/>
          </a:stretch>
        </p:blipFill>
        <p:spPr>
          <a:xfrm>
            <a:off x="868680" y="2660904"/>
            <a:ext cx="2340864" cy="371856"/>
          </a:xfrm>
          <a:prstGeom prst="rect">
            <a:avLst/>
          </a:prstGeom>
        </p:spPr>
      </p:pic>
      <p:sp>
        <p:nvSpPr>
          <p:cNvPr id="9" name="TextBox 8"/>
          <p:cNvSpPr txBox="1"/>
          <p:nvPr/>
        </p:nvSpPr>
        <p:spPr>
          <a:xfrm>
            <a:off x="777240" y="3224784"/>
            <a:ext cx="1828800" cy="182880"/>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MODEL</a:t>
            </a:r>
          </a:p>
        </p:txBody>
      </p:sp>
      <p:sp>
        <p:nvSpPr>
          <p:cNvPr id="10" name="TextBox 9"/>
          <p:cNvSpPr txBox="1"/>
          <p:nvPr/>
        </p:nvSpPr>
        <p:spPr>
          <a:xfrm>
            <a:off x="868680" y="3407664"/>
            <a:ext cx="10454335" cy="189865"/>
          </a:xfrm>
          <a:prstGeom prst="rect">
            <a:avLst/>
          </a:prstGeom>
          <a:noFill/>
        </p:spPr>
        <p:txBody>
          <a:bodyPr wrap="square" lIns="0" rIns="0" tIns="0" bIns="0">
            <a:spAutoFit/>
          </a:bodyPr>
          <a:lstStyle/>
          <a:p>
            <a:pPr>
              <a:lnSpc>
                <a:spcPct val="125000"/>
              </a:lnSpc>
              <a:spcBef>
                <a:spcPts val="0"/>
              </a:spcBef>
              <a:spcAft>
                <a:spcPts val="0"/>
              </a:spcAft>
            </a:pPr>
            <a:r>
              <a:rPr sz="1150" b="0" i="0">
                <a:solidFill>
                  <a:srgbClr val="555560"/>
                </a:solidFill>
                <a:latin typeface="Segoe UI"/>
              </a:rPr>
              <a:t>Categorical MLP, 65 logits (see toolkit: softmax).</a:t>
            </a:r>
          </a:p>
        </p:txBody>
      </p:sp>
      <p:pic>
        <p:nvPicPr>
          <p:cNvPr id="11" name="Picture 10" descr="eq_a73d21eafc637ed77c69.png"/>
          <p:cNvPicPr>
            <a:picLocks noChangeAspect="1"/>
          </p:cNvPicPr>
          <p:nvPr/>
        </p:nvPicPr>
        <p:blipFill>
          <a:blip r:embed="rId4"/>
          <a:stretch>
            <a:fillRect/>
          </a:stretch>
        </p:blipFill>
        <p:spPr>
          <a:xfrm>
            <a:off x="868680" y="3688969"/>
            <a:ext cx="1859280" cy="371856"/>
          </a:xfrm>
          <a:prstGeom prst="rect">
            <a:avLst/>
          </a:prstGeom>
        </p:spPr>
      </p:pic>
      <p:sp>
        <p:nvSpPr>
          <p:cNvPr id="12" name="TextBox 11"/>
          <p:cNvSpPr txBox="1"/>
          <p:nvPr/>
        </p:nvSpPr>
        <p:spPr>
          <a:xfrm>
            <a:off x="777240" y="4252849"/>
            <a:ext cx="1828800" cy="182880"/>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LOSS</a:t>
            </a:r>
          </a:p>
        </p:txBody>
      </p:sp>
      <p:pic>
        <p:nvPicPr>
          <p:cNvPr id="13" name="Picture 12" descr="eq_818844aec5951c4ba9e0.png"/>
          <p:cNvPicPr>
            <a:picLocks noChangeAspect="1"/>
          </p:cNvPicPr>
          <p:nvPr/>
        </p:nvPicPr>
        <p:blipFill>
          <a:blip r:embed="rId5"/>
          <a:stretch>
            <a:fillRect/>
          </a:stretch>
        </p:blipFill>
        <p:spPr>
          <a:xfrm>
            <a:off x="868680" y="4435729"/>
            <a:ext cx="2258568" cy="518160"/>
          </a:xfrm>
          <a:prstGeom prst="rect">
            <a:avLst/>
          </a:prstGeom>
        </p:spPr>
      </p:pic>
      <p:sp>
        <p:nvSpPr>
          <p:cNvPr id="14" name="TextBox 13"/>
          <p:cNvSpPr txBox="1"/>
          <p:nvPr/>
        </p:nvSpPr>
        <p:spPr>
          <a:xfrm>
            <a:off x="868680" y="4985893"/>
            <a:ext cx="10454335" cy="189865"/>
          </a:xfrm>
          <a:prstGeom prst="rect">
            <a:avLst/>
          </a:prstGeom>
          <a:noFill/>
        </p:spPr>
        <p:txBody>
          <a:bodyPr wrap="square" lIns="0" rIns="0" tIns="0" bIns="0">
            <a:spAutoFit/>
          </a:bodyPr>
          <a:lstStyle/>
          <a:p>
            <a:pPr>
              <a:lnSpc>
                <a:spcPct val="125000"/>
              </a:lnSpc>
              <a:spcBef>
                <a:spcPts val="0"/>
              </a:spcBef>
              <a:spcAft>
                <a:spcPts val="0"/>
              </a:spcAft>
            </a:pPr>
            <a:r>
              <a:rPr sz="1150" b="0" i="0">
                <a:solidFill>
                  <a:srgbClr val="555560"/>
                </a:solidFill>
                <a:latin typeface="Segoe UI"/>
              </a:rPr>
              <a:t>categorical cross-entropy</a:t>
            </a:r>
          </a:p>
        </p:txBody>
      </p:sp>
      <p:sp>
        <p:nvSpPr>
          <p:cNvPr id="15" name="TextBox 14"/>
          <p:cNvSpPr txBox="1"/>
          <p:nvPr/>
        </p:nvSpPr>
        <p:spPr>
          <a:xfrm>
            <a:off x="777240" y="5335778"/>
            <a:ext cx="1828800" cy="182880"/>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OUTPUT</a:t>
            </a:r>
          </a:p>
        </p:txBody>
      </p:sp>
      <p:pic>
        <p:nvPicPr>
          <p:cNvPr id="16" name="Picture 15" descr="eq_9486bcac6f97ece0df42.png"/>
          <p:cNvPicPr>
            <a:picLocks noChangeAspect="1"/>
          </p:cNvPicPr>
          <p:nvPr/>
        </p:nvPicPr>
        <p:blipFill>
          <a:blip r:embed="rId6"/>
          <a:stretch>
            <a:fillRect/>
          </a:stretch>
        </p:blipFill>
        <p:spPr>
          <a:xfrm>
            <a:off x="868680" y="5518658"/>
            <a:ext cx="2709672" cy="384048"/>
          </a:xfrm>
          <a:prstGeom prst="rect">
            <a:avLst/>
          </a:prstGeom>
        </p:spPr>
      </p:pic>
      <p:sp>
        <p:nvSpPr>
          <p:cNvPr id="17" name="TextBox 16"/>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12 / 46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ACTIVITY</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Layer-Activity Model</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86019" y="1591056"/>
            <a:ext cx="1819656" cy="704088"/>
          </a:xfrm>
          <a:prstGeom prst="rect">
            <a:avLst/>
          </a:prstGeom>
          <a:noFill/>
          <a:ln w="17780">
            <a:solidFill>
              <a:srgbClr val="D149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q_23ce3a5d42bf8b3a02de.png"/>
          <p:cNvPicPr>
            <a:picLocks noChangeAspect="1"/>
          </p:cNvPicPr>
          <p:nvPr/>
        </p:nvPicPr>
        <p:blipFill>
          <a:blip r:embed="rId2"/>
          <a:stretch>
            <a:fillRect/>
          </a:stretch>
        </p:blipFill>
        <p:spPr>
          <a:xfrm>
            <a:off x="5314035" y="1719072"/>
            <a:ext cx="1563624" cy="448056"/>
          </a:xfrm>
          <a:prstGeom prst="rect">
            <a:avLst/>
          </a:prstGeom>
        </p:spPr>
      </p:pic>
      <p:sp>
        <p:nvSpPr>
          <p:cNvPr id="7" name="TextBox 6"/>
          <p:cNvSpPr txBox="1"/>
          <p:nvPr/>
        </p:nvSpPr>
        <p:spPr>
          <a:xfrm>
            <a:off x="777240" y="2478024"/>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INPUTS</a:t>
            </a:r>
          </a:p>
        </p:txBody>
      </p:sp>
      <p:pic>
        <p:nvPicPr>
          <p:cNvPr id="8" name="Picture 7" descr="eq_8ce4e8c40ab7c63a2616.png"/>
          <p:cNvPicPr>
            <a:picLocks noChangeAspect="1"/>
          </p:cNvPicPr>
          <p:nvPr/>
        </p:nvPicPr>
        <p:blipFill>
          <a:blip r:embed="rId3"/>
          <a:stretch>
            <a:fillRect/>
          </a:stretch>
        </p:blipFill>
        <p:spPr>
          <a:xfrm>
            <a:off x="868680" y="2642616"/>
            <a:ext cx="3288792" cy="350520"/>
          </a:xfrm>
          <a:prstGeom prst="rect">
            <a:avLst/>
          </a:prstGeom>
        </p:spPr>
      </p:pic>
      <p:sp>
        <p:nvSpPr>
          <p:cNvPr id="9" name="TextBox 8"/>
          <p:cNvSpPr txBox="1"/>
          <p:nvPr/>
        </p:nvSpPr>
        <p:spPr>
          <a:xfrm>
            <a:off x="777240" y="3148584"/>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MODEL</a:t>
            </a:r>
          </a:p>
        </p:txBody>
      </p:sp>
      <p:sp>
        <p:nvSpPr>
          <p:cNvPr id="10" name="TextBox 9"/>
          <p:cNvSpPr txBox="1"/>
          <p:nvPr/>
        </p:nvSpPr>
        <p:spPr>
          <a:xfrm>
            <a:off x="868680" y="3313176"/>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Per-layer binary MLP (see toolkit: sigmoid).</a:t>
            </a:r>
          </a:p>
        </p:txBody>
      </p:sp>
      <p:pic>
        <p:nvPicPr>
          <p:cNvPr id="11" name="Picture 10" descr="eq_5220a3cbde3555a6eb99.png"/>
          <p:cNvPicPr>
            <a:picLocks noChangeAspect="1"/>
          </p:cNvPicPr>
          <p:nvPr/>
        </p:nvPicPr>
        <p:blipFill>
          <a:blip r:embed="rId4"/>
          <a:stretch>
            <a:fillRect/>
          </a:stretch>
        </p:blipFill>
        <p:spPr>
          <a:xfrm>
            <a:off x="868680" y="3559683"/>
            <a:ext cx="1673352" cy="347472"/>
          </a:xfrm>
          <a:prstGeom prst="rect">
            <a:avLst/>
          </a:prstGeom>
        </p:spPr>
      </p:pic>
      <p:sp>
        <p:nvSpPr>
          <p:cNvPr id="12" name="TextBox 11"/>
          <p:cNvSpPr txBox="1"/>
          <p:nvPr/>
        </p:nvSpPr>
        <p:spPr>
          <a:xfrm>
            <a:off x="777240" y="4062603"/>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LOSS</a:t>
            </a:r>
          </a:p>
        </p:txBody>
      </p:sp>
      <p:pic>
        <p:nvPicPr>
          <p:cNvPr id="13" name="Picture 12" descr="eq_d56ddc3cdfcd19128f2b.png"/>
          <p:cNvPicPr>
            <a:picLocks noChangeAspect="1"/>
          </p:cNvPicPr>
          <p:nvPr/>
        </p:nvPicPr>
        <p:blipFill>
          <a:blip r:embed="rId5"/>
          <a:stretch>
            <a:fillRect/>
          </a:stretch>
        </p:blipFill>
        <p:spPr>
          <a:xfrm>
            <a:off x="868680" y="4227195"/>
            <a:ext cx="4111752" cy="573024"/>
          </a:xfrm>
          <a:prstGeom prst="rect">
            <a:avLst/>
          </a:prstGeom>
        </p:spPr>
      </p:pic>
      <p:sp>
        <p:nvSpPr>
          <p:cNvPr id="14" name="TextBox 13"/>
          <p:cNvSpPr txBox="1"/>
          <p:nvPr/>
        </p:nvSpPr>
        <p:spPr>
          <a:xfrm>
            <a:off x="868680" y="4827651"/>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binary cross-entropy, per layer</a:t>
            </a:r>
          </a:p>
        </p:txBody>
      </p:sp>
      <p:sp>
        <p:nvSpPr>
          <p:cNvPr id="15" name="TextBox 14"/>
          <p:cNvSpPr txBox="1"/>
          <p:nvPr/>
        </p:nvSpPr>
        <p:spPr>
          <a:xfrm>
            <a:off x="777240" y="5129022"/>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OUTPUT</a:t>
            </a:r>
          </a:p>
        </p:txBody>
      </p:sp>
      <p:pic>
        <p:nvPicPr>
          <p:cNvPr id="16" name="Picture 15" descr="eq_7ed7a2e579f761a72b9b.png"/>
          <p:cNvPicPr>
            <a:picLocks noChangeAspect="1"/>
          </p:cNvPicPr>
          <p:nvPr/>
        </p:nvPicPr>
        <p:blipFill>
          <a:blip r:embed="rId6"/>
          <a:stretch>
            <a:fillRect/>
          </a:stretch>
        </p:blipFill>
        <p:spPr>
          <a:xfrm>
            <a:off x="868680" y="5293614"/>
            <a:ext cx="4300728" cy="347472"/>
          </a:xfrm>
          <a:prstGeom prst="rect">
            <a:avLst/>
          </a:prstGeom>
        </p:spPr>
      </p:pic>
      <p:sp>
        <p:nvSpPr>
          <p:cNvPr id="17" name="TextBox 16"/>
          <p:cNvSpPr txBox="1"/>
          <p:nvPr/>
        </p:nvSpPr>
        <p:spPr>
          <a:xfrm>
            <a:off x="868680" y="5668518"/>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sampled, then constrained</a:t>
            </a:r>
          </a:p>
        </p:txBody>
      </p:sp>
      <p:sp>
        <p:nvSpPr>
          <p:cNvPr id="18" name="TextBox 1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13 / 46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PROFILE</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Longitudinal-Profile Model</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208879" y="1591056"/>
            <a:ext cx="1773936" cy="682752"/>
          </a:xfrm>
          <a:prstGeom prst="rect">
            <a:avLst/>
          </a:prstGeom>
          <a:noFill/>
          <a:ln w="17780">
            <a:solidFill>
              <a:srgbClr val="D149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q_ccc8bf92aba16d23c1e4.png"/>
          <p:cNvPicPr>
            <a:picLocks noChangeAspect="1"/>
          </p:cNvPicPr>
          <p:nvPr/>
        </p:nvPicPr>
        <p:blipFill>
          <a:blip r:embed="rId2"/>
          <a:stretch>
            <a:fillRect/>
          </a:stretch>
        </p:blipFill>
        <p:spPr>
          <a:xfrm>
            <a:off x="5336895" y="1719072"/>
            <a:ext cx="1517904" cy="426720"/>
          </a:xfrm>
          <a:prstGeom prst="rect">
            <a:avLst/>
          </a:prstGeom>
        </p:spPr>
      </p:pic>
      <p:sp>
        <p:nvSpPr>
          <p:cNvPr id="7" name="TextBox 6"/>
          <p:cNvSpPr txBox="1"/>
          <p:nvPr/>
        </p:nvSpPr>
        <p:spPr>
          <a:xfrm>
            <a:off x="777240" y="2456688"/>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INPUTS</a:t>
            </a:r>
          </a:p>
        </p:txBody>
      </p:sp>
      <p:pic>
        <p:nvPicPr>
          <p:cNvPr id="8" name="Picture 7" descr="eq_0d8f688003f37e48795a.png"/>
          <p:cNvPicPr>
            <a:picLocks noChangeAspect="1"/>
          </p:cNvPicPr>
          <p:nvPr/>
        </p:nvPicPr>
        <p:blipFill>
          <a:blip r:embed="rId3"/>
          <a:stretch>
            <a:fillRect/>
          </a:stretch>
        </p:blipFill>
        <p:spPr>
          <a:xfrm>
            <a:off x="868680" y="2621280"/>
            <a:ext cx="3282696" cy="307848"/>
          </a:xfrm>
          <a:prstGeom prst="rect">
            <a:avLst/>
          </a:prstGeom>
        </p:spPr>
      </p:pic>
      <p:sp>
        <p:nvSpPr>
          <p:cNvPr id="9" name="TextBox 8"/>
          <p:cNvSpPr txBox="1"/>
          <p:nvPr/>
        </p:nvSpPr>
        <p:spPr>
          <a:xfrm>
            <a:off x="868680" y="2956560"/>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training target</a:t>
            </a:r>
          </a:p>
        </p:txBody>
      </p:sp>
      <p:sp>
        <p:nvSpPr>
          <p:cNvPr id="10" name="TextBox 9"/>
          <p:cNvSpPr txBox="1"/>
          <p:nvPr/>
        </p:nvSpPr>
        <p:spPr>
          <a:xfrm>
            <a:off x="777240" y="3257931"/>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MODEL</a:t>
            </a:r>
          </a:p>
        </p:txBody>
      </p:sp>
      <p:sp>
        <p:nvSpPr>
          <p:cNvPr id="11" name="TextBox 10"/>
          <p:cNvSpPr txBox="1"/>
          <p:nvPr/>
        </p:nvSpPr>
        <p:spPr>
          <a:xfrm>
            <a:off x="868680" y="3422523"/>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Conditional flow matching, Transformer over 65 layers (see toolkit).</a:t>
            </a:r>
          </a:p>
        </p:txBody>
      </p:sp>
      <p:pic>
        <p:nvPicPr>
          <p:cNvPr id="12" name="Picture 11" descr="eq_ea75d5966e69d69a9fe2.png"/>
          <p:cNvPicPr>
            <a:picLocks noChangeAspect="1"/>
          </p:cNvPicPr>
          <p:nvPr/>
        </p:nvPicPr>
        <p:blipFill>
          <a:blip r:embed="rId4"/>
          <a:stretch>
            <a:fillRect/>
          </a:stretch>
        </p:blipFill>
        <p:spPr>
          <a:xfrm>
            <a:off x="868680" y="3669030"/>
            <a:ext cx="3252216" cy="286512"/>
          </a:xfrm>
          <a:prstGeom prst="rect">
            <a:avLst/>
          </a:prstGeom>
        </p:spPr>
      </p:pic>
      <p:sp>
        <p:nvSpPr>
          <p:cNvPr id="13" name="TextBox 12"/>
          <p:cNvSpPr txBox="1"/>
          <p:nvPr/>
        </p:nvSpPr>
        <p:spPr>
          <a:xfrm>
            <a:off x="777240" y="4110990"/>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LOSS</a:t>
            </a:r>
          </a:p>
        </p:txBody>
      </p:sp>
      <p:pic>
        <p:nvPicPr>
          <p:cNvPr id="14" name="Picture 13" descr="eq_4d6b3d86c94fafe15236.png"/>
          <p:cNvPicPr>
            <a:picLocks noChangeAspect="1"/>
          </p:cNvPicPr>
          <p:nvPr/>
        </p:nvPicPr>
        <p:blipFill>
          <a:blip r:embed="rId5"/>
          <a:stretch>
            <a:fillRect/>
          </a:stretch>
        </p:blipFill>
        <p:spPr>
          <a:xfrm>
            <a:off x="868680" y="4275582"/>
            <a:ext cx="2560320" cy="377952"/>
          </a:xfrm>
          <a:prstGeom prst="rect">
            <a:avLst/>
          </a:prstGeom>
        </p:spPr>
      </p:pic>
      <p:sp>
        <p:nvSpPr>
          <p:cNvPr id="15" name="TextBox 14"/>
          <p:cNvSpPr txBox="1"/>
          <p:nvPr/>
        </p:nvSpPr>
        <p:spPr>
          <a:xfrm>
            <a:off x="868680" y="4680966"/>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masked flow-velocity MSE</a:t>
            </a:r>
          </a:p>
        </p:txBody>
      </p:sp>
      <p:sp>
        <p:nvSpPr>
          <p:cNvPr id="16" name="TextBox 15"/>
          <p:cNvSpPr txBox="1"/>
          <p:nvPr/>
        </p:nvSpPr>
        <p:spPr>
          <a:xfrm>
            <a:off x="777240" y="4982337"/>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OUTPUT</a:t>
            </a:r>
          </a:p>
        </p:txBody>
      </p:sp>
      <p:pic>
        <p:nvPicPr>
          <p:cNvPr id="17" name="Picture 16" descr="eq_6784901d5521ecada8b6.png"/>
          <p:cNvPicPr>
            <a:picLocks noChangeAspect="1"/>
          </p:cNvPicPr>
          <p:nvPr/>
        </p:nvPicPr>
        <p:blipFill>
          <a:blip r:embed="rId6"/>
          <a:stretch>
            <a:fillRect/>
          </a:stretch>
        </p:blipFill>
        <p:spPr>
          <a:xfrm>
            <a:off x="868680" y="5146929"/>
            <a:ext cx="2011680" cy="560832"/>
          </a:xfrm>
          <a:prstGeom prst="rect">
            <a:avLst/>
          </a:prstGeom>
        </p:spPr>
      </p:pic>
      <p:sp>
        <p:nvSpPr>
          <p:cNvPr id="18" name="TextBox 17"/>
          <p:cNvSpPr txBox="1"/>
          <p:nvPr/>
        </p:nvSpPr>
        <p:spPr>
          <a:xfrm>
            <a:off x="868680" y="5735193"/>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8 Euler steps, then masked softmax</a:t>
            </a:r>
          </a:p>
        </p:txBody>
      </p:sp>
      <p:sp>
        <p:nvSpPr>
          <p:cNvPr id="19" name="TextBox 18"/>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14 / 46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HIT COUNT</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Layer Hit-Count Model</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93639" y="1591056"/>
            <a:ext cx="1804416" cy="670560"/>
          </a:xfrm>
          <a:prstGeom prst="rect">
            <a:avLst/>
          </a:prstGeom>
          <a:noFill/>
          <a:ln w="17780">
            <a:solidFill>
              <a:srgbClr val="D149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q_c9031fe66f815c7d8cbe.png"/>
          <p:cNvPicPr>
            <a:picLocks noChangeAspect="1"/>
          </p:cNvPicPr>
          <p:nvPr/>
        </p:nvPicPr>
        <p:blipFill>
          <a:blip r:embed="rId2"/>
          <a:stretch>
            <a:fillRect/>
          </a:stretch>
        </p:blipFill>
        <p:spPr>
          <a:xfrm>
            <a:off x="5321655" y="1719072"/>
            <a:ext cx="1548384" cy="414528"/>
          </a:xfrm>
          <a:prstGeom prst="rect">
            <a:avLst/>
          </a:prstGeom>
        </p:spPr>
      </p:pic>
      <p:sp>
        <p:nvSpPr>
          <p:cNvPr id="7" name="TextBox 6"/>
          <p:cNvSpPr txBox="1"/>
          <p:nvPr/>
        </p:nvSpPr>
        <p:spPr>
          <a:xfrm>
            <a:off x="777240" y="2444496"/>
            <a:ext cx="1828800" cy="182880"/>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INPUTS</a:t>
            </a:r>
          </a:p>
        </p:txBody>
      </p:sp>
      <p:pic>
        <p:nvPicPr>
          <p:cNvPr id="8" name="Picture 7" descr="eq_e61020607665e0106b02.png"/>
          <p:cNvPicPr>
            <a:picLocks noChangeAspect="1"/>
          </p:cNvPicPr>
          <p:nvPr/>
        </p:nvPicPr>
        <p:blipFill>
          <a:blip r:embed="rId3"/>
          <a:stretch>
            <a:fillRect/>
          </a:stretch>
        </p:blipFill>
        <p:spPr>
          <a:xfrm>
            <a:off x="868680" y="2627376"/>
            <a:ext cx="3115056" cy="371856"/>
          </a:xfrm>
          <a:prstGeom prst="rect">
            <a:avLst/>
          </a:prstGeom>
        </p:spPr>
      </p:pic>
      <p:sp>
        <p:nvSpPr>
          <p:cNvPr id="9" name="TextBox 8"/>
          <p:cNvSpPr txBox="1"/>
          <p:nvPr/>
        </p:nvSpPr>
        <p:spPr>
          <a:xfrm>
            <a:off x="777240" y="3191256"/>
            <a:ext cx="1828800" cy="182880"/>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MODEL</a:t>
            </a:r>
          </a:p>
        </p:txBody>
      </p:sp>
      <p:sp>
        <p:nvSpPr>
          <p:cNvPr id="10" name="TextBox 9"/>
          <p:cNvSpPr txBox="1"/>
          <p:nvPr/>
        </p:nvSpPr>
        <p:spPr>
          <a:xfrm>
            <a:off x="868680" y="3374136"/>
            <a:ext cx="10454335" cy="189865"/>
          </a:xfrm>
          <a:prstGeom prst="rect">
            <a:avLst/>
          </a:prstGeom>
          <a:noFill/>
        </p:spPr>
        <p:txBody>
          <a:bodyPr wrap="square" lIns="0" rIns="0" tIns="0" bIns="0">
            <a:spAutoFit/>
          </a:bodyPr>
          <a:lstStyle/>
          <a:p>
            <a:pPr>
              <a:lnSpc>
                <a:spcPct val="125000"/>
              </a:lnSpc>
              <a:spcBef>
                <a:spcPts val="0"/>
              </a:spcBef>
              <a:spcAft>
                <a:spcPts val="0"/>
              </a:spcAft>
            </a:pPr>
            <a:r>
              <a:rPr sz="1150" b="0" i="0">
                <a:solidFill>
                  <a:srgbClr val="555560"/>
                </a:solidFill>
                <a:latin typeface="Segoe UI"/>
              </a:rPr>
              <a:t>Categorical MLP, masked by layer capacity N_l.</a:t>
            </a:r>
          </a:p>
        </p:txBody>
      </p:sp>
      <p:pic>
        <p:nvPicPr>
          <p:cNvPr id="11" name="Picture 10" descr="eq_9dc013ff09efd482100b.png"/>
          <p:cNvPicPr>
            <a:picLocks noChangeAspect="1"/>
          </p:cNvPicPr>
          <p:nvPr/>
        </p:nvPicPr>
        <p:blipFill>
          <a:blip r:embed="rId4"/>
          <a:stretch>
            <a:fillRect/>
          </a:stretch>
        </p:blipFill>
        <p:spPr>
          <a:xfrm>
            <a:off x="868680" y="3655441"/>
            <a:ext cx="3465576" cy="368808"/>
          </a:xfrm>
          <a:prstGeom prst="rect">
            <a:avLst/>
          </a:prstGeom>
        </p:spPr>
      </p:pic>
      <p:sp>
        <p:nvSpPr>
          <p:cNvPr id="12" name="TextBox 11"/>
          <p:cNvSpPr txBox="1"/>
          <p:nvPr/>
        </p:nvSpPr>
        <p:spPr>
          <a:xfrm>
            <a:off x="777240" y="4216273"/>
            <a:ext cx="1828800" cy="182880"/>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LOSS</a:t>
            </a:r>
          </a:p>
        </p:txBody>
      </p:sp>
      <p:pic>
        <p:nvPicPr>
          <p:cNvPr id="13" name="Picture 12" descr="eq_cca701549718440a25aa.png"/>
          <p:cNvPicPr>
            <a:picLocks noChangeAspect="1"/>
          </p:cNvPicPr>
          <p:nvPr/>
        </p:nvPicPr>
        <p:blipFill>
          <a:blip r:embed="rId5"/>
          <a:stretch>
            <a:fillRect/>
          </a:stretch>
        </p:blipFill>
        <p:spPr>
          <a:xfrm>
            <a:off x="868680" y="4399153"/>
            <a:ext cx="3614928" cy="350520"/>
          </a:xfrm>
          <a:prstGeom prst="rect">
            <a:avLst/>
          </a:prstGeom>
        </p:spPr>
      </p:pic>
      <p:sp>
        <p:nvSpPr>
          <p:cNvPr id="14" name="TextBox 13"/>
          <p:cNvSpPr txBox="1"/>
          <p:nvPr/>
        </p:nvSpPr>
        <p:spPr>
          <a:xfrm>
            <a:off x="868680" y="4781677"/>
            <a:ext cx="10454335" cy="189865"/>
          </a:xfrm>
          <a:prstGeom prst="rect">
            <a:avLst/>
          </a:prstGeom>
          <a:noFill/>
        </p:spPr>
        <p:txBody>
          <a:bodyPr wrap="square" lIns="0" rIns="0" tIns="0" bIns="0">
            <a:spAutoFit/>
          </a:bodyPr>
          <a:lstStyle/>
          <a:p>
            <a:pPr>
              <a:lnSpc>
                <a:spcPct val="125000"/>
              </a:lnSpc>
              <a:spcBef>
                <a:spcPts val="0"/>
              </a:spcBef>
              <a:spcAft>
                <a:spcPts val="0"/>
              </a:spcAft>
            </a:pPr>
            <a:r>
              <a:rPr sz="1150" b="0" i="0">
                <a:solidFill>
                  <a:srgbClr val="555560"/>
                </a:solidFill>
                <a:latin typeface="Segoe UI"/>
              </a:rPr>
              <a:t>weighted categorical cross-entropy</a:t>
            </a:r>
          </a:p>
        </p:txBody>
      </p:sp>
      <p:sp>
        <p:nvSpPr>
          <p:cNvPr id="15" name="TextBox 14"/>
          <p:cNvSpPr txBox="1"/>
          <p:nvPr/>
        </p:nvSpPr>
        <p:spPr>
          <a:xfrm>
            <a:off x="777240" y="5131562"/>
            <a:ext cx="1828800" cy="182880"/>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OUTPUT</a:t>
            </a:r>
          </a:p>
        </p:txBody>
      </p:sp>
      <p:pic>
        <p:nvPicPr>
          <p:cNvPr id="16" name="Picture 15" descr="eq_27e8b6687b168713cafb.png"/>
          <p:cNvPicPr>
            <a:picLocks noChangeAspect="1"/>
          </p:cNvPicPr>
          <p:nvPr/>
        </p:nvPicPr>
        <p:blipFill>
          <a:blip r:embed="rId6"/>
          <a:stretch>
            <a:fillRect/>
          </a:stretch>
        </p:blipFill>
        <p:spPr>
          <a:xfrm>
            <a:off x="868680" y="5314442"/>
            <a:ext cx="2776728" cy="384048"/>
          </a:xfrm>
          <a:prstGeom prst="rect">
            <a:avLst/>
          </a:prstGeom>
        </p:spPr>
      </p:pic>
      <p:sp>
        <p:nvSpPr>
          <p:cNvPr id="17" name="TextBox 16"/>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15 / 46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SUPPORT</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Geometry-Aware Support Model</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51907" y="1591056"/>
            <a:ext cx="2087880" cy="673608"/>
          </a:xfrm>
          <a:prstGeom prst="rect">
            <a:avLst/>
          </a:prstGeom>
          <a:noFill/>
          <a:ln w="17780">
            <a:solidFill>
              <a:srgbClr val="D149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q_c3a0c02e41c4cebf5e6f.png"/>
          <p:cNvPicPr>
            <a:picLocks noChangeAspect="1"/>
          </p:cNvPicPr>
          <p:nvPr/>
        </p:nvPicPr>
        <p:blipFill>
          <a:blip r:embed="rId2"/>
          <a:stretch>
            <a:fillRect/>
          </a:stretch>
        </p:blipFill>
        <p:spPr>
          <a:xfrm>
            <a:off x="5179923" y="1719072"/>
            <a:ext cx="1831848" cy="417576"/>
          </a:xfrm>
          <a:prstGeom prst="rect">
            <a:avLst/>
          </a:prstGeom>
        </p:spPr>
      </p:pic>
      <p:sp>
        <p:nvSpPr>
          <p:cNvPr id="7" name="TextBox 6"/>
          <p:cNvSpPr txBox="1"/>
          <p:nvPr/>
        </p:nvSpPr>
        <p:spPr>
          <a:xfrm>
            <a:off x="777240" y="2447544"/>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INPUTS</a:t>
            </a:r>
          </a:p>
        </p:txBody>
      </p:sp>
      <p:pic>
        <p:nvPicPr>
          <p:cNvPr id="8" name="Picture 7" descr="eq_50269846485fc471de88.png"/>
          <p:cNvPicPr>
            <a:picLocks noChangeAspect="1"/>
          </p:cNvPicPr>
          <p:nvPr/>
        </p:nvPicPr>
        <p:blipFill>
          <a:blip r:embed="rId3"/>
          <a:stretch>
            <a:fillRect/>
          </a:stretch>
        </p:blipFill>
        <p:spPr>
          <a:xfrm>
            <a:off x="868680" y="2612136"/>
            <a:ext cx="4315968" cy="344424"/>
          </a:xfrm>
          <a:prstGeom prst="rect">
            <a:avLst/>
          </a:prstGeom>
        </p:spPr>
      </p:pic>
      <p:sp>
        <p:nvSpPr>
          <p:cNvPr id="9" name="TextBox 8"/>
          <p:cNvSpPr txBox="1"/>
          <p:nvPr/>
        </p:nvSpPr>
        <p:spPr>
          <a:xfrm>
            <a:off x="868680" y="2983992"/>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per-cell geometry, condition, requested occupancy, graph</a:t>
            </a:r>
          </a:p>
        </p:txBody>
      </p:sp>
      <p:sp>
        <p:nvSpPr>
          <p:cNvPr id="10" name="TextBox 9"/>
          <p:cNvSpPr txBox="1"/>
          <p:nvPr/>
        </p:nvSpPr>
        <p:spPr>
          <a:xfrm>
            <a:off x="777240" y="3285363"/>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MODEL</a:t>
            </a:r>
          </a:p>
        </p:txBody>
      </p:sp>
      <p:sp>
        <p:nvSpPr>
          <p:cNvPr id="11" name="TextBox 10"/>
          <p:cNvSpPr txBox="1"/>
          <p:nvPr/>
        </p:nvSpPr>
        <p:spPr>
          <a:xfrm>
            <a:off x="868680" y="3449955"/>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GNN message passing + layer-level Transformer (see toolkit).</a:t>
            </a:r>
          </a:p>
        </p:txBody>
      </p:sp>
      <p:pic>
        <p:nvPicPr>
          <p:cNvPr id="12" name="Picture 11" descr="eq_5b97ad14f5d005d36fbe.png"/>
          <p:cNvPicPr>
            <a:picLocks noChangeAspect="1"/>
          </p:cNvPicPr>
          <p:nvPr/>
        </p:nvPicPr>
        <p:blipFill>
          <a:blip r:embed="rId4"/>
          <a:stretch>
            <a:fillRect/>
          </a:stretch>
        </p:blipFill>
        <p:spPr>
          <a:xfrm>
            <a:off x="868680" y="3696462"/>
            <a:ext cx="4437888" cy="338328"/>
          </a:xfrm>
          <a:prstGeom prst="rect">
            <a:avLst/>
          </a:prstGeom>
        </p:spPr>
      </p:pic>
      <p:sp>
        <p:nvSpPr>
          <p:cNvPr id="13" name="TextBox 12"/>
          <p:cNvSpPr txBox="1"/>
          <p:nvPr/>
        </p:nvSpPr>
        <p:spPr>
          <a:xfrm>
            <a:off x="777240" y="4190238"/>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LOSS</a:t>
            </a:r>
          </a:p>
        </p:txBody>
      </p:sp>
      <p:pic>
        <p:nvPicPr>
          <p:cNvPr id="14" name="Picture 13" descr="eq_de51c55a3a7729306902.png"/>
          <p:cNvPicPr>
            <a:picLocks noChangeAspect="1"/>
          </p:cNvPicPr>
          <p:nvPr/>
        </p:nvPicPr>
        <p:blipFill>
          <a:blip r:embed="rId5"/>
          <a:stretch>
            <a:fillRect/>
          </a:stretch>
        </p:blipFill>
        <p:spPr>
          <a:xfrm>
            <a:off x="868680" y="4354830"/>
            <a:ext cx="5952744" cy="371856"/>
          </a:xfrm>
          <a:prstGeom prst="rect">
            <a:avLst/>
          </a:prstGeom>
        </p:spPr>
      </p:pic>
      <p:sp>
        <p:nvSpPr>
          <p:cNvPr id="15" name="TextBox 14"/>
          <p:cNvSpPr txBox="1"/>
          <p:nvPr/>
        </p:nvSpPr>
        <p:spPr>
          <a:xfrm>
            <a:off x="868680" y="4754118"/>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weighted binary cross-entropy</a:t>
            </a:r>
          </a:p>
        </p:txBody>
      </p:sp>
      <p:pic>
        <p:nvPicPr>
          <p:cNvPr id="16" name="Picture 15" descr="eq_d4f7316eeceb574adcb6.png"/>
          <p:cNvPicPr>
            <a:picLocks noChangeAspect="1"/>
          </p:cNvPicPr>
          <p:nvPr/>
        </p:nvPicPr>
        <p:blipFill>
          <a:blip r:embed="rId6"/>
          <a:stretch>
            <a:fillRect/>
          </a:stretch>
        </p:blipFill>
        <p:spPr>
          <a:xfrm>
            <a:off x="868680" y="5000625"/>
            <a:ext cx="4136136" cy="374904"/>
          </a:xfrm>
          <a:prstGeom prst="rect">
            <a:avLst/>
          </a:prstGeom>
        </p:spPr>
      </p:pic>
      <p:sp>
        <p:nvSpPr>
          <p:cNvPr id="17" name="TextBox 16"/>
          <p:cNvSpPr txBox="1"/>
          <p:nvPr/>
        </p:nvSpPr>
        <p:spPr>
          <a:xfrm>
            <a:off x="868680" y="5402961"/>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pairwise ranking</a:t>
            </a:r>
          </a:p>
        </p:txBody>
      </p:sp>
      <p:sp>
        <p:nvSpPr>
          <p:cNvPr id="18" name="TextBox 17"/>
          <p:cNvSpPr txBox="1"/>
          <p:nvPr/>
        </p:nvSpPr>
        <p:spPr>
          <a:xfrm>
            <a:off x="777240" y="5704332"/>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OUTPUT</a:t>
            </a:r>
          </a:p>
        </p:txBody>
      </p:sp>
      <p:pic>
        <p:nvPicPr>
          <p:cNvPr id="19" name="Picture 18" descr="eq_808ba40a2ea73bfe6566.png"/>
          <p:cNvPicPr>
            <a:picLocks noChangeAspect="1"/>
          </p:cNvPicPr>
          <p:nvPr/>
        </p:nvPicPr>
        <p:blipFill>
          <a:blip r:embed="rId7"/>
          <a:stretch>
            <a:fillRect/>
          </a:stretch>
        </p:blipFill>
        <p:spPr>
          <a:xfrm>
            <a:off x="868680" y="5868924"/>
            <a:ext cx="3307080" cy="335280"/>
          </a:xfrm>
          <a:prstGeom prst="rect">
            <a:avLst/>
          </a:prstGeom>
        </p:spPr>
      </p:pic>
      <p:sp>
        <p:nvSpPr>
          <p:cNvPr id="20" name="TextBox 19"/>
          <p:cNvSpPr txBox="1"/>
          <p:nvPr/>
        </p:nvSpPr>
        <p:spPr>
          <a:xfrm>
            <a:off x="868680" y="6231636"/>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see toolkit: Gumbel-Top-K</a:t>
            </a:r>
          </a:p>
        </p:txBody>
      </p:sp>
      <p:sp>
        <p:nvSpPr>
          <p:cNvPr id="21" name="TextBox 20"/>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16 / 46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SHARE</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Within-Layer Energy-Share Model</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853787" y="1591056"/>
            <a:ext cx="2484120" cy="673608"/>
          </a:xfrm>
          <a:prstGeom prst="rect">
            <a:avLst/>
          </a:prstGeom>
          <a:noFill/>
          <a:ln w="17780">
            <a:solidFill>
              <a:srgbClr val="D149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q_b5a1f43f0141cf1ba2c9.png"/>
          <p:cNvPicPr>
            <a:picLocks noChangeAspect="1"/>
          </p:cNvPicPr>
          <p:nvPr/>
        </p:nvPicPr>
        <p:blipFill>
          <a:blip r:embed="rId2"/>
          <a:stretch>
            <a:fillRect/>
          </a:stretch>
        </p:blipFill>
        <p:spPr>
          <a:xfrm>
            <a:off x="4981803" y="1719072"/>
            <a:ext cx="2228088" cy="417576"/>
          </a:xfrm>
          <a:prstGeom prst="rect">
            <a:avLst/>
          </a:prstGeom>
        </p:spPr>
      </p:pic>
      <p:sp>
        <p:nvSpPr>
          <p:cNvPr id="7" name="TextBox 6"/>
          <p:cNvSpPr txBox="1"/>
          <p:nvPr/>
        </p:nvSpPr>
        <p:spPr>
          <a:xfrm>
            <a:off x="777240" y="2447544"/>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INPUTS</a:t>
            </a:r>
          </a:p>
        </p:txBody>
      </p:sp>
      <p:pic>
        <p:nvPicPr>
          <p:cNvPr id="8" name="Picture 7" descr="eq_41d2dd71a7c27a228f20.png"/>
          <p:cNvPicPr>
            <a:picLocks noChangeAspect="1"/>
          </p:cNvPicPr>
          <p:nvPr/>
        </p:nvPicPr>
        <p:blipFill>
          <a:blip r:embed="rId3"/>
          <a:stretch>
            <a:fillRect/>
          </a:stretch>
        </p:blipFill>
        <p:spPr>
          <a:xfrm>
            <a:off x="868680" y="2612136"/>
            <a:ext cx="2432304" cy="316992"/>
          </a:xfrm>
          <a:prstGeom prst="rect">
            <a:avLst/>
          </a:prstGeom>
        </p:spPr>
      </p:pic>
      <p:sp>
        <p:nvSpPr>
          <p:cNvPr id="9" name="TextBox 8"/>
          <p:cNvSpPr txBox="1"/>
          <p:nvPr/>
        </p:nvSpPr>
        <p:spPr>
          <a:xfrm>
            <a:off x="868680" y="2956560"/>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training target</a:t>
            </a:r>
          </a:p>
        </p:txBody>
      </p:sp>
      <p:sp>
        <p:nvSpPr>
          <p:cNvPr id="10" name="TextBox 9"/>
          <p:cNvSpPr txBox="1"/>
          <p:nvPr/>
        </p:nvSpPr>
        <p:spPr>
          <a:xfrm>
            <a:off x="777240" y="3257931"/>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MODEL</a:t>
            </a:r>
          </a:p>
        </p:txBody>
      </p:sp>
      <p:sp>
        <p:nvSpPr>
          <p:cNvPr id="11" name="TextBox 10"/>
          <p:cNvSpPr txBox="1"/>
          <p:nvPr/>
        </p:nvSpPr>
        <p:spPr>
          <a:xfrm>
            <a:off x="868680" y="3422523"/>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Second conditional flow-matching field, GNN + Transformer (see toolkit).</a:t>
            </a:r>
          </a:p>
        </p:txBody>
      </p:sp>
      <p:pic>
        <p:nvPicPr>
          <p:cNvPr id="12" name="Picture 11" descr="eq_2d60a94bda76801f6a48.png"/>
          <p:cNvPicPr>
            <a:picLocks noChangeAspect="1"/>
          </p:cNvPicPr>
          <p:nvPr/>
        </p:nvPicPr>
        <p:blipFill>
          <a:blip r:embed="rId4"/>
          <a:stretch>
            <a:fillRect/>
          </a:stretch>
        </p:blipFill>
        <p:spPr>
          <a:xfrm>
            <a:off x="868680" y="3669030"/>
            <a:ext cx="3566160" cy="295656"/>
          </a:xfrm>
          <a:prstGeom prst="rect">
            <a:avLst/>
          </a:prstGeom>
        </p:spPr>
      </p:pic>
      <p:sp>
        <p:nvSpPr>
          <p:cNvPr id="13" name="TextBox 12"/>
          <p:cNvSpPr txBox="1"/>
          <p:nvPr/>
        </p:nvSpPr>
        <p:spPr>
          <a:xfrm>
            <a:off x="777240" y="4120134"/>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LOSS</a:t>
            </a:r>
          </a:p>
        </p:txBody>
      </p:sp>
      <p:pic>
        <p:nvPicPr>
          <p:cNvPr id="14" name="Picture 13" descr="eq_57f15b7e0943353c34be.png"/>
          <p:cNvPicPr>
            <a:picLocks noChangeAspect="1"/>
          </p:cNvPicPr>
          <p:nvPr/>
        </p:nvPicPr>
        <p:blipFill>
          <a:blip r:embed="rId5"/>
          <a:stretch>
            <a:fillRect/>
          </a:stretch>
        </p:blipFill>
        <p:spPr>
          <a:xfrm>
            <a:off x="868680" y="4284726"/>
            <a:ext cx="1731264" cy="637032"/>
          </a:xfrm>
          <a:prstGeom prst="rect">
            <a:avLst/>
          </a:prstGeom>
        </p:spPr>
      </p:pic>
      <p:sp>
        <p:nvSpPr>
          <p:cNvPr id="15" name="TextBox 14"/>
          <p:cNvSpPr txBox="1"/>
          <p:nvPr/>
        </p:nvSpPr>
        <p:spPr>
          <a:xfrm>
            <a:off x="868680" y="4949190"/>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masked flow-velocity MSE, hit cells only</a:t>
            </a:r>
          </a:p>
        </p:txBody>
      </p:sp>
      <p:sp>
        <p:nvSpPr>
          <p:cNvPr id="16" name="TextBox 15"/>
          <p:cNvSpPr txBox="1"/>
          <p:nvPr/>
        </p:nvSpPr>
        <p:spPr>
          <a:xfrm>
            <a:off x="777240" y="5250561"/>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OUTPUT</a:t>
            </a:r>
          </a:p>
        </p:txBody>
      </p:sp>
      <p:pic>
        <p:nvPicPr>
          <p:cNvPr id="17" name="Picture 16" descr="eq_0c9dfad92367c11555d5.png"/>
          <p:cNvPicPr>
            <a:picLocks noChangeAspect="1"/>
          </p:cNvPicPr>
          <p:nvPr/>
        </p:nvPicPr>
        <p:blipFill>
          <a:blip r:embed="rId6"/>
          <a:stretch>
            <a:fillRect/>
          </a:stretch>
        </p:blipFill>
        <p:spPr>
          <a:xfrm>
            <a:off x="868680" y="5415153"/>
            <a:ext cx="2535936" cy="585216"/>
          </a:xfrm>
          <a:prstGeom prst="rect">
            <a:avLst/>
          </a:prstGeom>
        </p:spPr>
      </p:pic>
      <p:sp>
        <p:nvSpPr>
          <p:cNvPr id="18" name="TextBox 17"/>
          <p:cNvSpPr txBox="1"/>
          <p:nvPr/>
        </p:nvSpPr>
        <p:spPr>
          <a:xfrm>
            <a:off x="868680" y="6027801"/>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masked softmax over selected cells</a:t>
            </a:r>
          </a:p>
        </p:txBody>
      </p:sp>
      <p:sp>
        <p:nvSpPr>
          <p:cNvPr id="19" name="TextBox 18"/>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17 / 46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DECODER</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Exact Constrained Decoder</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25059" y="1591056"/>
            <a:ext cx="1941575" cy="670560"/>
          </a:xfrm>
          <a:prstGeom prst="rect">
            <a:avLst/>
          </a:prstGeom>
          <a:noFill/>
          <a:ln w="17780">
            <a:solidFill>
              <a:srgbClr val="D149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q_5286bd0a2dc61b362cce.png"/>
          <p:cNvPicPr>
            <a:picLocks noChangeAspect="1"/>
          </p:cNvPicPr>
          <p:nvPr/>
        </p:nvPicPr>
        <p:blipFill>
          <a:blip r:embed="rId2"/>
          <a:stretch>
            <a:fillRect/>
          </a:stretch>
        </p:blipFill>
        <p:spPr>
          <a:xfrm>
            <a:off x="5253075" y="1719072"/>
            <a:ext cx="1685544" cy="414528"/>
          </a:xfrm>
          <a:prstGeom prst="rect">
            <a:avLst/>
          </a:prstGeom>
        </p:spPr>
      </p:pic>
      <p:sp>
        <p:nvSpPr>
          <p:cNvPr id="7" name="TextBox 6"/>
          <p:cNvSpPr txBox="1"/>
          <p:nvPr/>
        </p:nvSpPr>
        <p:spPr>
          <a:xfrm>
            <a:off x="777240" y="2444496"/>
            <a:ext cx="1828800" cy="182880"/>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INPUTS</a:t>
            </a:r>
          </a:p>
        </p:txBody>
      </p:sp>
      <p:pic>
        <p:nvPicPr>
          <p:cNvPr id="8" name="Picture 7" descr="eq_ef3df3f70688f9931ce7.png"/>
          <p:cNvPicPr>
            <a:picLocks noChangeAspect="1"/>
          </p:cNvPicPr>
          <p:nvPr/>
        </p:nvPicPr>
        <p:blipFill>
          <a:blip r:embed="rId3"/>
          <a:stretch>
            <a:fillRect/>
          </a:stretch>
        </p:blipFill>
        <p:spPr>
          <a:xfrm>
            <a:off x="868680" y="2627376"/>
            <a:ext cx="1243584" cy="368808"/>
          </a:xfrm>
          <a:prstGeom prst="rect">
            <a:avLst/>
          </a:prstGeom>
        </p:spPr>
      </p:pic>
      <p:sp>
        <p:nvSpPr>
          <p:cNvPr id="9" name="TextBox 8"/>
          <p:cNvSpPr txBox="1"/>
          <p:nvPr/>
        </p:nvSpPr>
        <p:spPr>
          <a:xfrm>
            <a:off x="777240" y="3188208"/>
            <a:ext cx="1828800" cy="182880"/>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MODEL</a:t>
            </a:r>
          </a:p>
        </p:txBody>
      </p:sp>
      <p:sp>
        <p:nvSpPr>
          <p:cNvPr id="10" name="TextBox 9"/>
          <p:cNvSpPr txBox="1"/>
          <p:nvPr/>
        </p:nvSpPr>
        <p:spPr>
          <a:xfrm>
            <a:off x="868680" y="3371088"/>
            <a:ext cx="10454335" cy="189865"/>
          </a:xfrm>
          <a:prstGeom prst="rect">
            <a:avLst/>
          </a:prstGeom>
          <a:noFill/>
        </p:spPr>
        <p:txBody>
          <a:bodyPr wrap="square" lIns="0" rIns="0" tIns="0" bIns="0">
            <a:spAutoFit/>
          </a:bodyPr>
          <a:lstStyle/>
          <a:p>
            <a:pPr>
              <a:lnSpc>
                <a:spcPct val="125000"/>
              </a:lnSpc>
              <a:spcBef>
                <a:spcPts val="0"/>
              </a:spcBef>
              <a:spcAft>
                <a:spcPts val="0"/>
              </a:spcAft>
            </a:pPr>
            <a:r>
              <a:rPr sz="1150" b="0" i="0">
                <a:solidFill>
                  <a:srgbClr val="555560"/>
                </a:solidFill>
                <a:latin typeface="Segoe UI"/>
              </a:rPr>
              <a:t>None — deterministic decoder, no learned parameters.</a:t>
            </a:r>
          </a:p>
        </p:txBody>
      </p:sp>
      <p:pic>
        <p:nvPicPr>
          <p:cNvPr id="11" name="Picture 10" descr="eq_d761ad68c43f8c9b6f15.png"/>
          <p:cNvPicPr>
            <a:picLocks noChangeAspect="1"/>
          </p:cNvPicPr>
          <p:nvPr/>
        </p:nvPicPr>
        <p:blipFill>
          <a:blip r:embed="rId4"/>
          <a:stretch>
            <a:fillRect/>
          </a:stretch>
        </p:blipFill>
        <p:spPr>
          <a:xfrm>
            <a:off x="868680" y="3652393"/>
            <a:ext cx="3493008" cy="381000"/>
          </a:xfrm>
          <a:prstGeom prst="rect">
            <a:avLst/>
          </a:prstGeom>
        </p:spPr>
      </p:pic>
      <p:sp>
        <p:nvSpPr>
          <p:cNvPr id="12" name="TextBox 11"/>
          <p:cNvSpPr txBox="1"/>
          <p:nvPr/>
        </p:nvSpPr>
        <p:spPr>
          <a:xfrm>
            <a:off x="777240" y="4225417"/>
            <a:ext cx="1828800" cy="182880"/>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LOSS</a:t>
            </a:r>
          </a:p>
        </p:txBody>
      </p:sp>
      <p:pic>
        <p:nvPicPr>
          <p:cNvPr id="13" name="Picture 12" descr="eq_bba2262f013a6147bc20.png"/>
          <p:cNvPicPr>
            <a:picLocks noChangeAspect="1"/>
          </p:cNvPicPr>
          <p:nvPr/>
        </p:nvPicPr>
        <p:blipFill>
          <a:blip r:embed="rId5"/>
          <a:stretch>
            <a:fillRect/>
          </a:stretch>
        </p:blipFill>
        <p:spPr>
          <a:xfrm>
            <a:off x="868680" y="4408297"/>
            <a:ext cx="2602992" cy="515112"/>
          </a:xfrm>
          <a:prstGeom prst="rect">
            <a:avLst/>
          </a:prstGeom>
        </p:spPr>
      </p:pic>
      <p:sp>
        <p:nvSpPr>
          <p:cNvPr id="14" name="TextBox 13"/>
          <p:cNvSpPr txBox="1"/>
          <p:nvPr/>
        </p:nvSpPr>
        <p:spPr>
          <a:xfrm>
            <a:off x="868680" y="4955413"/>
            <a:ext cx="10454335" cy="189865"/>
          </a:xfrm>
          <a:prstGeom prst="rect">
            <a:avLst/>
          </a:prstGeom>
          <a:noFill/>
        </p:spPr>
        <p:txBody>
          <a:bodyPr wrap="square" lIns="0" rIns="0" tIns="0" bIns="0">
            <a:spAutoFit/>
          </a:bodyPr>
          <a:lstStyle/>
          <a:p>
            <a:pPr>
              <a:lnSpc>
                <a:spcPct val="125000"/>
              </a:lnSpc>
              <a:spcBef>
                <a:spcPts val="0"/>
              </a:spcBef>
              <a:spcAft>
                <a:spcPts val="0"/>
              </a:spcAft>
            </a:pPr>
            <a:r>
              <a:rPr sz="1150" b="0" i="0">
                <a:solidFill>
                  <a:srgbClr val="555560"/>
                </a:solidFill>
                <a:latin typeface="Segoe UI"/>
              </a:rPr>
              <a:t>exact by construction, not a training penalty</a:t>
            </a:r>
          </a:p>
        </p:txBody>
      </p:sp>
      <p:sp>
        <p:nvSpPr>
          <p:cNvPr id="15" name="TextBox 14"/>
          <p:cNvSpPr txBox="1"/>
          <p:nvPr/>
        </p:nvSpPr>
        <p:spPr>
          <a:xfrm>
            <a:off x="777240" y="5305298"/>
            <a:ext cx="1828800" cy="182880"/>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OUTPUT</a:t>
            </a:r>
          </a:p>
        </p:txBody>
      </p:sp>
      <p:pic>
        <p:nvPicPr>
          <p:cNvPr id="16" name="Picture 15" descr="eq_911dbd907cd033af7e41.png"/>
          <p:cNvPicPr>
            <a:picLocks noChangeAspect="1"/>
          </p:cNvPicPr>
          <p:nvPr/>
        </p:nvPicPr>
        <p:blipFill>
          <a:blip r:embed="rId6"/>
          <a:stretch>
            <a:fillRect/>
          </a:stretch>
        </p:blipFill>
        <p:spPr>
          <a:xfrm>
            <a:off x="868680" y="5488178"/>
            <a:ext cx="929640" cy="368808"/>
          </a:xfrm>
          <a:prstGeom prst="rect">
            <a:avLst/>
          </a:prstGeom>
        </p:spPr>
      </p:pic>
      <p:sp>
        <p:nvSpPr>
          <p:cNvPr id="17" name="TextBox 16"/>
          <p:cNvSpPr txBox="1"/>
          <p:nvPr/>
        </p:nvSpPr>
        <p:spPr>
          <a:xfrm>
            <a:off x="868680" y="5888990"/>
            <a:ext cx="10454335" cy="189865"/>
          </a:xfrm>
          <a:prstGeom prst="rect">
            <a:avLst/>
          </a:prstGeom>
          <a:noFill/>
        </p:spPr>
        <p:txBody>
          <a:bodyPr wrap="square" lIns="0" rIns="0" tIns="0" bIns="0">
            <a:spAutoFit/>
          </a:bodyPr>
          <a:lstStyle/>
          <a:p>
            <a:pPr>
              <a:lnSpc>
                <a:spcPct val="125000"/>
              </a:lnSpc>
              <a:spcBef>
                <a:spcPts val="0"/>
              </a:spcBef>
              <a:spcAft>
                <a:spcPts val="0"/>
              </a:spcAft>
            </a:pPr>
            <a:r>
              <a:rPr sz="1150" b="0" i="0">
                <a:solidFill>
                  <a:srgbClr val="555560"/>
                </a:solidFill>
                <a:latin typeface="Segoe UI"/>
              </a:rPr>
              <a:t>closure residual measured below 0.00002 GeV/event</a:t>
            </a:r>
          </a:p>
        </p:txBody>
      </p:sp>
      <p:sp>
        <p:nvSpPr>
          <p:cNvPr id="18" name="TextBox 1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18 / 46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OBJECTIVE</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What each loss physically measures</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91056"/>
            <a:ext cx="10637215" cy="365760"/>
          </a:xfrm>
          <a:prstGeom prst="rect">
            <a:avLst/>
          </a:prstGeom>
          <a:noFill/>
        </p:spPr>
        <p:txBody>
          <a:bodyPr wrap="square" lIns="0" rIns="0" tIns="0" bIns="0">
            <a:spAutoFit/>
          </a:bodyPr>
          <a:lstStyle/>
          <a:p>
            <a:pPr>
              <a:lnSpc>
                <a:spcPct val="130000"/>
              </a:lnSpc>
              <a:spcBef>
                <a:spcPts val="0"/>
              </a:spcBef>
              <a:spcAft>
                <a:spcPts val="0"/>
              </a:spcAft>
            </a:pPr>
            <a:r>
              <a:rPr sz="1500" b="0" i="0">
                <a:solidFill>
                  <a:srgbClr val="555560"/>
                </a:solidFill>
                <a:latin typeface="Segoe UI"/>
              </a:rPr>
              <a:t>Nine questions, nine losses. The table below states what each one measures in the detector, not its formula — the formulas are on the stage slides above.</a:t>
            </a:r>
          </a:p>
        </p:txBody>
      </p:sp>
      <p:sp>
        <p:nvSpPr>
          <p:cNvPr id="6" name="Rectangle 5"/>
          <p:cNvSpPr/>
          <p:nvPr/>
        </p:nvSpPr>
        <p:spPr>
          <a:xfrm>
            <a:off x="777240" y="5444871"/>
            <a:ext cx="10637215" cy="955929"/>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5444871"/>
            <a:ext cx="44450" cy="955929"/>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6696" y="5554599"/>
            <a:ext cx="10216591" cy="773049"/>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16161D"/>
                </a:solidFill>
                <a:latin typeface="Segoe UI"/>
              </a:rPr>
              <a:t>These nine numbers are not on the same scale, so their raw values cannot be compared to judge importance — only each one's own trend over time means anything. That is exactly why the next two slides exist: nine losses pulling on one shared network need their pull deliberately balanced.</a:t>
            </a:r>
          </a:p>
        </p:txBody>
      </p:sp>
      <p:sp>
        <p:nvSpPr>
          <p:cNvPr id="9" name="TextBox 8"/>
          <p:cNvSpPr txBox="1"/>
          <p:nvPr/>
        </p:nvSpPr>
        <p:spPr>
          <a:xfrm>
            <a:off x="777240" y="2287524"/>
            <a:ext cx="2170409"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Stage</a:t>
            </a:r>
          </a:p>
        </p:txBody>
      </p:sp>
      <p:sp>
        <p:nvSpPr>
          <p:cNvPr id="10" name="TextBox 9"/>
          <p:cNvSpPr txBox="1"/>
          <p:nvPr/>
        </p:nvSpPr>
        <p:spPr>
          <a:xfrm>
            <a:off x="2947649" y="2287524"/>
            <a:ext cx="3765791"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What it measures physically</a:t>
            </a:r>
          </a:p>
        </p:txBody>
      </p:sp>
      <p:sp>
        <p:nvSpPr>
          <p:cNvPr id="11" name="TextBox 10"/>
          <p:cNvSpPr txBox="1"/>
          <p:nvPr/>
        </p:nvSpPr>
        <p:spPr>
          <a:xfrm>
            <a:off x="6713440" y="2287524"/>
            <a:ext cx="4701014"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Loss type — why</a:t>
            </a:r>
          </a:p>
        </p:txBody>
      </p:sp>
      <p:sp>
        <p:nvSpPr>
          <p:cNvPr id="12" name="Rectangle 11"/>
          <p:cNvSpPr/>
          <p:nvPr/>
        </p:nvSpPr>
        <p:spPr>
          <a:xfrm>
            <a:off x="777240" y="2580132"/>
            <a:ext cx="10637215" cy="12700"/>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735580"/>
            <a:ext cx="2005817" cy="329184"/>
          </a:xfrm>
          <a:prstGeom prst="rect">
            <a:avLst/>
          </a:prstGeom>
          <a:noFill/>
        </p:spPr>
        <p:txBody>
          <a:bodyPr wrap="square" lIns="0" rIns="0" tIns="0" bIns="0">
            <a:spAutoFit/>
          </a:bodyPr>
          <a:lstStyle/>
          <a:p>
            <a:pPr>
              <a:lnSpc>
                <a:spcPct val="114000"/>
              </a:lnSpc>
              <a:spcBef>
                <a:spcPts val="0"/>
              </a:spcBef>
              <a:spcAft>
                <a:spcPts val="0"/>
              </a:spcAft>
            </a:pPr>
            <a:r>
              <a:rPr sz="1100" b="1" i="0">
                <a:solidFill>
                  <a:srgbClr val="16161D"/>
                </a:solidFill>
                <a:latin typeface="Segoe UI"/>
              </a:rPr>
              <a:t>Visibility</a:t>
            </a:r>
          </a:p>
        </p:txBody>
      </p:sp>
      <p:sp>
        <p:nvSpPr>
          <p:cNvPr id="14" name="TextBox 13"/>
          <p:cNvSpPr txBox="1"/>
          <p:nvPr/>
        </p:nvSpPr>
        <p:spPr>
          <a:xfrm>
            <a:off x="2947649" y="2735580"/>
            <a:ext cx="3601199" cy="329184"/>
          </a:xfrm>
          <a:prstGeom prst="rect">
            <a:avLst/>
          </a:prstGeom>
          <a:noFill/>
        </p:spPr>
        <p:txBody>
          <a:bodyPr wrap="square" lIns="0" rIns="0" tIns="0" bIns="0">
            <a:spAutoFit/>
          </a:bodyPr>
          <a:lstStyle/>
          <a:p>
            <a:pPr>
              <a:lnSpc>
                <a:spcPct val="114000"/>
              </a:lnSpc>
              <a:spcBef>
                <a:spcPts val="0"/>
              </a:spcBef>
              <a:spcAft>
                <a:spcPts val="0"/>
              </a:spcAft>
            </a:pPr>
            <a:r>
              <a:rPr sz="1100" b="0" i="0">
                <a:solidFill>
                  <a:srgbClr val="555560"/>
                </a:solidFill>
                <a:latin typeface="Segoe UI"/>
              </a:rPr>
              <a:t>did the detector see anything at all?</a:t>
            </a:r>
          </a:p>
        </p:txBody>
      </p:sp>
      <p:sp>
        <p:nvSpPr>
          <p:cNvPr id="15" name="TextBox 14"/>
          <p:cNvSpPr txBox="1"/>
          <p:nvPr/>
        </p:nvSpPr>
        <p:spPr>
          <a:xfrm>
            <a:off x="6713440" y="2735580"/>
            <a:ext cx="4536422" cy="329184"/>
          </a:xfrm>
          <a:prstGeom prst="rect">
            <a:avLst/>
          </a:prstGeom>
          <a:noFill/>
        </p:spPr>
        <p:txBody>
          <a:bodyPr wrap="square" lIns="0" rIns="0" tIns="0" bIns="0">
            <a:spAutoFit/>
          </a:bodyPr>
          <a:lstStyle/>
          <a:p>
            <a:pPr>
              <a:lnSpc>
                <a:spcPct val="114000"/>
              </a:lnSpc>
              <a:spcBef>
                <a:spcPts val="0"/>
              </a:spcBef>
              <a:spcAft>
                <a:spcPts val="0"/>
              </a:spcAft>
            </a:pPr>
            <a:r>
              <a:rPr sz="1100" b="0" i="0">
                <a:solidFill>
                  <a:srgbClr val="555560"/>
                </a:solidFill>
                <a:latin typeface="Segoe UI"/>
              </a:rPr>
              <a:t>yes/no loss — the outcome is binary</a:t>
            </a:r>
          </a:p>
        </p:txBody>
      </p:sp>
      <p:sp>
        <p:nvSpPr>
          <p:cNvPr id="16" name="Rectangle 15"/>
          <p:cNvSpPr/>
          <p:nvPr/>
        </p:nvSpPr>
        <p:spPr>
          <a:xfrm>
            <a:off x="685800" y="3009900"/>
            <a:ext cx="10820095" cy="32918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064764"/>
            <a:ext cx="2005817" cy="329184"/>
          </a:xfrm>
          <a:prstGeom prst="rect">
            <a:avLst/>
          </a:prstGeom>
          <a:noFill/>
        </p:spPr>
        <p:txBody>
          <a:bodyPr wrap="square" lIns="0" rIns="0" tIns="0" bIns="0">
            <a:spAutoFit/>
          </a:bodyPr>
          <a:lstStyle/>
          <a:p>
            <a:pPr>
              <a:lnSpc>
                <a:spcPct val="114000"/>
              </a:lnSpc>
              <a:spcBef>
                <a:spcPts val="0"/>
              </a:spcBef>
              <a:spcAft>
                <a:spcPts val="0"/>
              </a:spcAft>
            </a:pPr>
            <a:r>
              <a:rPr sz="1100" b="1" i="0">
                <a:solidFill>
                  <a:srgbClr val="16161D"/>
                </a:solidFill>
                <a:latin typeface="Segoe UI"/>
              </a:rPr>
              <a:t>Total energy</a:t>
            </a:r>
          </a:p>
        </p:txBody>
      </p:sp>
      <p:sp>
        <p:nvSpPr>
          <p:cNvPr id="18" name="TextBox 17"/>
          <p:cNvSpPr txBox="1"/>
          <p:nvPr/>
        </p:nvSpPr>
        <p:spPr>
          <a:xfrm>
            <a:off x="2947649" y="3064764"/>
            <a:ext cx="3601199" cy="329184"/>
          </a:xfrm>
          <a:prstGeom prst="rect">
            <a:avLst/>
          </a:prstGeom>
          <a:noFill/>
        </p:spPr>
        <p:txBody>
          <a:bodyPr wrap="square" lIns="0" rIns="0" tIns="0" bIns="0">
            <a:spAutoFit/>
          </a:bodyPr>
          <a:lstStyle/>
          <a:p>
            <a:pPr>
              <a:lnSpc>
                <a:spcPct val="114000"/>
              </a:lnSpc>
              <a:spcBef>
                <a:spcPts val="0"/>
              </a:spcBef>
              <a:spcAft>
                <a:spcPts val="0"/>
              </a:spcAft>
            </a:pPr>
            <a:r>
              <a:rPr sz="1100" b="0" i="0">
                <a:solidFill>
                  <a:srgbClr val="555560"/>
                </a:solidFill>
                <a:latin typeface="Segoe UI"/>
              </a:rPr>
              <a:t>how much energy in total, given something happened?</a:t>
            </a:r>
          </a:p>
        </p:txBody>
      </p:sp>
      <p:sp>
        <p:nvSpPr>
          <p:cNvPr id="19" name="TextBox 18"/>
          <p:cNvSpPr txBox="1"/>
          <p:nvPr/>
        </p:nvSpPr>
        <p:spPr>
          <a:xfrm>
            <a:off x="6713440" y="3064764"/>
            <a:ext cx="4536422" cy="329184"/>
          </a:xfrm>
          <a:prstGeom prst="rect">
            <a:avLst/>
          </a:prstGeom>
          <a:noFill/>
        </p:spPr>
        <p:txBody>
          <a:bodyPr wrap="square" lIns="0" rIns="0" tIns="0" bIns="0">
            <a:spAutoFit/>
          </a:bodyPr>
          <a:lstStyle/>
          <a:p>
            <a:pPr>
              <a:lnSpc>
                <a:spcPct val="114000"/>
              </a:lnSpc>
              <a:spcBef>
                <a:spcPts val="0"/>
              </a:spcBef>
              <a:spcAft>
                <a:spcPts val="0"/>
              </a:spcAft>
            </a:pPr>
            <a:r>
              <a:rPr sz="1100" b="0" i="0">
                <a:solidFill>
                  <a:srgbClr val="555560"/>
                </a:solidFill>
                <a:latin typeface="Segoe UI"/>
              </a:rPr>
              <a:t>probability-fit loss — many totals are physically possible</a:t>
            </a:r>
          </a:p>
        </p:txBody>
      </p:sp>
      <p:sp>
        <p:nvSpPr>
          <p:cNvPr id="20" name="TextBox 19"/>
          <p:cNvSpPr txBox="1"/>
          <p:nvPr/>
        </p:nvSpPr>
        <p:spPr>
          <a:xfrm>
            <a:off x="777240" y="3393948"/>
            <a:ext cx="2005817" cy="329184"/>
          </a:xfrm>
          <a:prstGeom prst="rect">
            <a:avLst/>
          </a:prstGeom>
          <a:noFill/>
        </p:spPr>
        <p:txBody>
          <a:bodyPr wrap="square" lIns="0" rIns="0" tIns="0" bIns="0">
            <a:spAutoFit/>
          </a:bodyPr>
          <a:lstStyle/>
          <a:p>
            <a:pPr>
              <a:lnSpc>
                <a:spcPct val="114000"/>
              </a:lnSpc>
              <a:spcBef>
                <a:spcPts val="0"/>
              </a:spcBef>
              <a:spcAft>
                <a:spcPts val="0"/>
              </a:spcAft>
            </a:pPr>
            <a:r>
              <a:rPr sz="1100" b="1" i="0">
                <a:solidFill>
                  <a:srgbClr val="16161D"/>
                </a:solidFill>
                <a:latin typeface="Segoe UI"/>
              </a:rPr>
              <a:t>First layer</a:t>
            </a:r>
          </a:p>
        </p:txBody>
      </p:sp>
      <p:sp>
        <p:nvSpPr>
          <p:cNvPr id="21" name="TextBox 20"/>
          <p:cNvSpPr txBox="1"/>
          <p:nvPr/>
        </p:nvSpPr>
        <p:spPr>
          <a:xfrm>
            <a:off x="2947649" y="3393948"/>
            <a:ext cx="3601199" cy="329184"/>
          </a:xfrm>
          <a:prstGeom prst="rect">
            <a:avLst/>
          </a:prstGeom>
          <a:noFill/>
        </p:spPr>
        <p:txBody>
          <a:bodyPr wrap="square" lIns="0" rIns="0" tIns="0" bIns="0">
            <a:spAutoFit/>
          </a:bodyPr>
          <a:lstStyle/>
          <a:p>
            <a:pPr>
              <a:lnSpc>
                <a:spcPct val="114000"/>
              </a:lnSpc>
              <a:spcBef>
                <a:spcPts val="0"/>
              </a:spcBef>
              <a:spcAft>
                <a:spcPts val="0"/>
              </a:spcAft>
            </a:pPr>
            <a:r>
              <a:rPr sz="1100" b="0" i="0">
                <a:solidFill>
                  <a:srgbClr val="555560"/>
                </a:solidFill>
                <a:latin typeface="Segoe UI"/>
              </a:rPr>
              <a:t>which of the 65 layers does the shower start in?</a:t>
            </a:r>
          </a:p>
        </p:txBody>
      </p:sp>
      <p:sp>
        <p:nvSpPr>
          <p:cNvPr id="22" name="TextBox 21"/>
          <p:cNvSpPr txBox="1"/>
          <p:nvPr/>
        </p:nvSpPr>
        <p:spPr>
          <a:xfrm>
            <a:off x="6713440" y="3393948"/>
            <a:ext cx="4536422" cy="329184"/>
          </a:xfrm>
          <a:prstGeom prst="rect">
            <a:avLst/>
          </a:prstGeom>
          <a:noFill/>
        </p:spPr>
        <p:txBody>
          <a:bodyPr wrap="square" lIns="0" rIns="0" tIns="0" bIns="0">
            <a:spAutoFit/>
          </a:bodyPr>
          <a:lstStyle/>
          <a:p>
            <a:pPr>
              <a:lnSpc>
                <a:spcPct val="114000"/>
              </a:lnSpc>
              <a:spcBef>
                <a:spcPts val="0"/>
              </a:spcBef>
              <a:spcAft>
                <a:spcPts val="0"/>
              </a:spcAft>
            </a:pPr>
            <a:r>
              <a:rPr sz="1100" b="0" i="0">
                <a:solidFill>
                  <a:srgbClr val="555560"/>
                </a:solidFill>
                <a:latin typeface="Segoe UI"/>
              </a:rPr>
              <a:t>multiple-choice loss — exactly one starting layer</a:t>
            </a:r>
          </a:p>
        </p:txBody>
      </p:sp>
      <p:sp>
        <p:nvSpPr>
          <p:cNvPr id="23" name="Rectangle 22"/>
          <p:cNvSpPr/>
          <p:nvPr/>
        </p:nvSpPr>
        <p:spPr>
          <a:xfrm>
            <a:off x="685800" y="3668268"/>
            <a:ext cx="10820095" cy="32918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3723132"/>
            <a:ext cx="2005817" cy="329184"/>
          </a:xfrm>
          <a:prstGeom prst="rect">
            <a:avLst/>
          </a:prstGeom>
          <a:noFill/>
        </p:spPr>
        <p:txBody>
          <a:bodyPr wrap="square" lIns="0" rIns="0" tIns="0" bIns="0">
            <a:spAutoFit/>
          </a:bodyPr>
          <a:lstStyle/>
          <a:p>
            <a:pPr>
              <a:lnSpc>
                <a:spcPct val="114000"/>
              </a:lnSpc>
              <a:spcBef>
                <a:spcPts val="0"/>
              </a:spcBef>
              <a:spcAft>
                <a:spcPts val="0"/>
              </a:spcAft>
            </a:pPr>
            <a:r>
              <a:rPr sz="1100" b="1" i="0">
                <a:solidFill>
                  <a:srgbClr val="16161D"/>
                </a:solidFill>
                <a:latin typeface="Segoe UI"/>
              </a:rPr>
              <a:t>Active layers</a:t>
            </a:r>
          </a:p>
        </p:txBody>
      </p:sp>
      <p:sp>
        <p:nvSpPr>
          <p:cNvPr id="25" name="TextBox 24"/>
          <p:cNvSpPr txBox="1"/>
          <p:nvPr/>
        </p:nvSpPr>
        <p:spPr>
          <a:xfrm>
            <a:off x="2947649" y="3723132"/>
            <a:ext cx="3601199" cy="329184"/>
          </a:xfrm>
          <a:prstGeom prst="rect">
            <a:avLst/>
          </a:prstGeom>
          <a:noFill/>
        </p:spPr>
        <p:txBody>
          <a:bodyPr wrap="square" lIns="0" rIns="0" tIns="0" bIns="0">
            <a:spAutoFit/>
          </a:bodyPr>
          <a:lstStyle/>
          <a:p>
            <a:pPr>
              <a:lnSpc>
                <a:spcPct val="114000"/>
              </a:lnSpc>
              <a:spcBef>
                <a:spcPts val="0"/>
              </a:spcBef>
              <a:spcAft>
                <a:spcPts val="0"/>
              </a:spcAft>
            </a:pPr>
            <a:r>
              <a:rPr sz="1100" b="0" i="0">
                <a:solidFill>
                  <a:srgbClr val="555560"/>
                </a:solidFill>
                <a:latin typeface="Segoe UI"/>
              </a:rPr>
              <a:t>which layers switch on?</a:t>
            </a:r>
          </a:p>
        </p:txBody>
      </p:sp>
      <p:sp>
        <p:nvSpPr>
          <p:cNvPr id="26" name="TextBox 25"/>
          <p:cNvSpPr txBox="1"/>
          <p:nvPr/>
        </p:nvSpPr>
        <p:spPr>
          <a:xfrm>
            <a:off x="6713440" y="3723132"/>
            <a:ext cx="4536422" cy="329184"/>
          </a:xfrm>
          <a:prstGeom prst="rect">
            <a:avLst/>
          </a:prstGeom>
          <a:noFill/>
        </p:spPr>
        <p:txBody>
          <a:bodyPr wrap="square" lIns="0" rIns="0" tIns="0" bIns="0">
            <a:spAutoFit/>
          </a:bodyPr>
          <a:lstStyle/>
          <a:p>
            <a:pPr>
              <a:lnSpc>
                <a:spcPct val="114000"/>
              </a:lnSpc>
              <a:spcBef>
                <a:spcPts val="0"/>
              </a:spcBef>
              <a:spcAft>
                <a:spcPts val="0"/>
              </a:spcAft>
            </a:pPr>
            <a:r>
              <a:rPr sz="1100" b="0" i="0">
                <a:solidFill>
                  <a:srgbClr val="555560"/>
                </a:solidFill>
                <a:latin typeface="Segoe UI"/>
              </a:rPr>
              <a:t>yes/no loss per layer — each layer switches independently</a:t>
            </a:r>
          </a:p>
        </p:txBody>
      </p:sp>
      <p:sp>
        <p:nvSpPr>
          <p:cNvPr id="27" name="TextBox 26"/>
          <p:cNvSpPr txBox="1"/>
          <p:nvPr/>
        </p:nvSpPr>
        <p:spPr>
          <a:xfrm>
            <a:off x="777240" y="4052316"/>
            <a:ext cx="2005817" cy="329184"/>
          </a:xfrm>
          <a:prstGeom prst="rect">
            <a:avLst/>
          </a:prstGeom>
          <a:noFill/>
        </p:spPr>
        <p:txBody>
          <a:bodyPr wrap="square" lIns="0" rIns="0" tIns="0" bIns="0">
            <a:spAutoFit/>
          </a:bodyPr>
          <a:lstStyle/>
          <a:p>
            <a:pPr>
              <a:lnSpc>
                <a:spcPct val="114000"/>
              </a:lnSpc>
              <a:spcBef>
                <a:spcPts val="0"/>
              </a:spcBef>
              <a:spcAft>
                <a:spcPts val="0"/>
              </a:spcAft>
            </a:pPr>
            <a:r>
              <a:rPr sz="1100" b="1" i="0">
                <a:solidFill>
                  <a:srgbClr val="16161D"/>
                </a:solidFill>
                <a:latin typeface="Segoe UI"/>
              </a:rPr>
              <a:t>Layer energy</a:t>
            </a:r>
          </a:p>
        </p:txBody>
      </p:sp>
      <p:sp>
        <p:nvSpPr>
          <p:cNvPr id="28" name="TextBox 27"/>
          <p:cNvSpPr txBox="1"/>
          <p:nvPr/>
        </p:nvSpPr>
        <p:spPr>
          <a:xfrm>
            <a:off x="2947649" y="4052316"/>
            <a:ext cx="3601199" cy="329184"/>
          </a:xfrm>
          <a:prstGeom prst="rect">
            <a:avLst/>
          </a:prstGeom>
          <a:noFill/>
        </p:spPr>
        <p:txBody>
          <a:bodyPr wrap="square" lIns="0" rIns="0" tIns="0" bIns="0">
            <a:spAutoFit/>
          </a:bodyPr>
          <a:lstStyle/>
          <a:p>
            <a:pPr>
              <a:lnSpc>
                <a:spcPct val="114000"/>
              </a:lnSpc>
              <a:spcBef>
                <a:spcPts val="0"/>
              </a:spcBef>
              <a:spcAft>
                <a:spcPts val="0"/>
              </a:spcAft>
            </a:pPr>
            <a:r>
              <a:rPr sz="1100" b="0" i="0">
                <a:solidFill>
                  <a:srgbClr val="555560"/>
                </a:solidFill>
                <a:latin typeface="Segoe UI"/>
              </a:rPr>
              <a:t>how is the total energy split along the depth?</a:t>
            </a:r>
          </a:p>
        </p:txBody>
      </p:sp>
      <p:sp>
        <p:nvSpPr>
          <p:cNvPr id="29" name="TextBox 28"/>
          <p:cNvSpPr txBox="1"/>
          <p:nvPr/>
        </p:nvSpPr>
        <p:spPr>
          <a:xfrm>
            <a:off x="6713440" y="4052316"/>
            <a:ext cx="4536422" cy="329184"/>
          </a:xfrm>
          <a:prstGeom prst="rect">
            <a:avLst/>
          </a:prstGeom>
          <a:noFill/>
        </p:spPr>
        <p:txBody>
          <a:bodyPr wrap="square" lIns="0" rIns="0" tIns="0" bIns="0">
            <a:spAutoFit/>
          </a:bodyPr>
          <a:lstStyle/>
          <a:p>
            <a:pPr>
              <a:lnSpc>
                <a:spcPct val="114000"/>
              </a:lnSpc>
              <a:spcBef>
                <a:spcPts val="0"/>
              </a:spcBef>
              <a:spcAft>
                <a:spcPts val="0"/>
              </a:spcAft>
            </a:pPr>
            <a:r>
              <a:rPr sz="1100" b="0" i="0">
                <a:solidFill>
                  <a:srgbClr val="555560"/>
                </a:solidFill>
                <a:latin typeface="Segoe UI"/>
              </a:rPr>
              <a:t>shape-matching loss — a continuous shape, many valid answers</a:t>
            </a:r>
          </a:p>
        </p:txBody>
      </p:sp>
      <p:sp>
        <p:nvSpPr>
          <p:cNvPr id="30" name="Rectangle 29"/>
          <p:cNvSpPr/>
          <p:nvPr/>
        </p:nvSpPr>
        <p:spPr>
          <a:xfrm>
            <a:off x="685800" y="4326636"/>
            <a:ext cx="10820095" cy="32918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4381500"/>
            <a:ext cx="2005817" cy="329184"/>
          </a:xfrm>
          <a:prstGeom prst="rect">
            <a:avLst/>
          </a:prstGeom>
          <a:noFill/>
        </p:spPr>
        <p:txBody>
          <a:bodyPr wrap="square" lIns="0" rIns="0" tIns="0" bIns="0">
            <a:spAutoFit/>
          </a:bodyPr>
          <a:lstStyle/>
          <a:p>
            <a:pPr>
              <a:lnSpc>
                <a:spcPct val="114000"/>
              </a:lnSpc>
              <a:spcBef>
                <a:spcPts val="0"/>
              </a:spcBef>
              <a:spcAft>
                <a:spcPts val="0"/>
              </a:spcAft>
            </a:pPr>
            <a:r>
              <a:rPr sz="1100" b="1" i="0">
                <a:solidFill>
                  <a:srgbClr val="16161D"/>
                </a:solidFill>
                <a:latin typeface="Segoe UI"/>
              </a:rPr>
              <a:t>Hit counts</a:t>
            </a:r>
          </a:p>
        </p:txBody>
      </p:sp>
      <p:sp>
        <p:nvSpPr>
          <p:cNvPr id="32" name="TextBox 31"/>
          <p:cNvSpPr txBox="1"/>
          <p:nvPr/>
        </p:nvSpPr>
        <p:spPr>
          <a:xfrm>
            <a:off x="2947649" y="4381500"/>
            <a:ext cx="3601199" cy="329184"/>
          </a:xfrm>
          <a:prstGeom prst="rect">
            <a:avLst/>
          </a:prstGeom>
          <a:noFill/>
        </p:spPr>
        <p:txBody>
          <a:bodyPr wrap="square" lIns="0" rIns="0" tIns="0" bIns="0">
            <a:spAutoFit/>
          </a:bodyPr>
          <a:lstStyle/>
          <a:p>
            <a:pPr>
              <a:lnSpc>
                <a:spcPct val="114000"/>
              </a:lnSpc>
              <a:spcBef>
                <a:spcPts val="0"/>
              </a:spcBef>
              <a:spcAft>
                <a:spcPts val="0"/>
              </a:spcAft>
            </a:pPr>
            <a:r>
              <a:rPr sz="1100" b="0" i="0">
                <a:solidFill>
                  <a:srgbClr val="555560"/>
                </a:solidFill>
                <a:latin typeface="Segoe UI"/>
              </a:rPr>
              <a:t>how many cells fire in each layer?</a:t>
            </a:r>
          </a:p>
        </p:txBody>
      </p:sp>
      <p:sp>
        <p:nvSpPr>
          <p:cNvPr id="33" name="TextBox 32"/>
          <p:cNvSpPr txBox="1"/>
          <p:nvPr/>
        </p:nvSpPr>
        <p:spPr>
          <a:xfrm>
            <a:off x="6713440" y="4381500"/>
            <a:ext cx="4536422" cy="329184"/>
          </a:xfrm>
          <a:prstGeom prst="rect">
            <a:avLst/>
          </a:prstGeom>
          <a:noFill/>
        </p:spPr>
        <p:txBody>
          <a:bodyPr wrap="square" lIns="0" rIns="0" tIns="0" bIns="0">
            <a:spAutoFit/>
          </a:bodyPr>
          <a:lstStyle/>
          <a:p>
            <a:pPr>
              <a:lnSpc>
                <a:spcPct val="114000"/>
              </a:lnSpc>
              <a:spcBef>
                <a:spcPts val="0"/>
              </a:spcBef>
              <a:spcAft>
                <a:spcPts val="0"/>
              </a:spcAft>
            </a:pPr>
            <a:r>
              <a:rPr sz="1100" b="0" i="0">
                <a:solidFill>
                  <a:srgbClr val="555560"/>
                </a:solidFill>
                <a:latin typeface="Segoe UI"/>
              </a:rPr>
              <a:t>multiple-choice loss — a whole number with an arbitrary spread</a:t>
            </a:r>
          </a:p>
        </p:txBody>
      </p:sp>
      <p:sp>
        <p:nvSpPr>
          <p:cNvPr id="34" name="TextBox 33"/>
          <p:cNvSpPr txBox="1"/>
          <p:nvPr/>
        </p:nvSpPr>
        <p:spPr>
          <a:xfrm>
            <a:off x="777240" y="4710684"/>
            <a:ext cx="2005817" cy="329184"/>
          </a:xfrm>
          <a:prstGeom prst="rect">
            <a:avLst/>
          </a:prstGeom>
          <a:noFill/>
        </p:spPr>
        <p:txBody>
          <a:bodyPr wrap="square" lIns="0" rIns="0" tIns="0" bIns="0">
            <a:spAutoFit/>
          </a:bodyPr>
          <a:lstStyle/>
          <a:p>
            <a:pPr>
              <a:lnSpc>
                <a:spcPct val="114000"/>
              </a:lnSpc>
              <a:spcBef>
                <a:spcPts val="0"/>
              </a:spcBef>
              <a:spcAft>
                <a:spcPts val="0"/>
              </a:spcAft>
            </a:pPr>
            <a:r>
              <a:rPr sz="1100" b="1" i="0">
                <a:solidFill>
                  <a:srgbClr val="16161D"/>
                </a:solidFill>
                <a:latin typeface="Segoe UI"/>
              </a:rPr>
              <a:t>Which cells (2 losses)</a:t>
            </a:r>
          </a:p>
        </p:txBody>
      </p:sp>
      <p:sp>
        <p:nvSpPr>
          <p:cNvPr id="35" name="TextBox 34"/>
          <p:cNvSpPr txBox="1"/>
          <p:nvPr/>
        </p:nvSpPr>
        <p:spPr>
          <a:xfrm>
            <a:off x="2947649" y="4710684"/>
            <a:ext cx="3601199" cy="329184"/>
          </a:xfrm>
          <a:prstGeom prst="rect">
            <a:avLst/>
          </a:prstGeom>
          <a:noFill/>
        </p:spPr>
        <p:txBody>
          <a:bodyPr wrap="square" lIns="0" rIns="0" tIns="0" bIns="0">
            <a:spAutoFit/>
          </a:bodyPr>
          <a:lstStyle/>
          <a:p>
            <a:pPr>
              <a:lnSpc>
                <a:spcPct val="114000"/>
              </a:lnSpc>
              <a:spcBef>
                <a:spcPts val="0"/>
              </a:spcBef>
              <a:spcAft>
                <a:spcPts val="0"/>
              </a:spcAft>
            </a:pPr>
            <a:r>
              <a:rPr sz="1100" b="0" i="0">
                <a:solidFill>
                  <a:srgbClr val="555560"/>
                </a:solidFill>
                <a:latin typeface="Segoe UI"/>
              </a:rPr>
              <a:t>which exact cells fire?</a:t>
            </a:r>
          </a:p>
        </p:txBody>
      </p:sp>
      <p:sp>
        <p:nvSpPr>
          <p:cNvPr id="36" name="TextBox 35"/>
          <p:cNvSpPr txBox="1"/>
          <p:nvPr/>
        </p:nvSpPr>
        <p:spPr>
          <a:xfrm>
            <a:off x="6713440" y="4710684"/>
            <a:ext cx="4536422" cy="329184"/>
          </a:xfrm>
          <a:prstGeom prst="rect">
            <a:avLst/>
          </a:prstGeom>
          <a:noFill/>
        </p:spPr>
        <p:txBody>
          <a:bodyPr wrap="square" lIns="0" rIns="0" tIns="0" bIns="0">
            <a:spAutoFit/>
          </a:bodyPr>
          <a:lstStyle/>
          <a:p>
            <a:pPr>
              <a:lnSpc>
                <a:spcPct val="114000"/>
              </a:lnSpc>
              <a:spcBef>
                <a:spcPts val="0"/>
              </a:spcBef>
              <a:spcAft>
                <a:spcPts val="0"/>
              </a:spcAft>
            </a:pPr>
            <a:r>
              <a:rPr sz="1100" b="0" i="0">
                <a:solidFill>
                  <a:srgbClr val="555560"/>
                </a:solidFill>
                <a:latin typeface="Segoe UI"/>
              </a:rPr>
              <a:t>ranking + yes/no loss — needs a reliable order over 6,790 candidates</a:t>
            </a:r>
          </a:p>
        </p:txBody>
      </p:sp>
      <p:sp>
        <p:nvSpPr>
          <p:cNvPr id="37" name="Rectangle 36"/>
          <p:cNvSpPr/>
          <p:nvPr/>
        </p:nvSpPr>
        <p:spPr>
          <a:xfrm>
            <a:off x="685800" y="4985004"/>
            <a:ext cx="10820095" cy="32918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7240" y="5039868"/>
            <a:ext cx="2005817" cy="329184"/>
          </a:xfrm>
          <a:prstGeom prst="rect">
            <a:avLst/>
          </a:prstGeom>
          <a:noFill/>
        </p:spPr>
        <p:txBody>
          <a:bodyPr wrap="square" lIns="0" rIns="0" tIns="0" bIns="0">
            <a:spAutoFit/>
          </a:bodyPr>
          <a:lstStyle/>
          <a:p>
            <a:pPr>
              <a:lnSpc>
                <a:spcPct val="114000"/>
              </a:lnSpc>
              <a:spcBef>
                <a:spcPts val="0"/>
              </a:spcBef>
              <a:spcAft>
                <a:spcPts val="0"/>
              </a:spcAft>
            </a:pPr>
            <a:r>
              <a:rPr sz="1100" b="1" i="0">
                <a:solidFill>
                  <a:srgbClr val="16161D"/>
                </a:solidFill>
                <a:latin typeface="Segoe UI"/>
              </a:rPr>
              <a:t>Cell energy shares</a:t>
            </a:r>
          </a:p>
        </p:txBody>
      </p:sp>
      <p:sp>
        <p:nvSpPr>
          <p:cNvPr id="39" name="TextBox 38"/>
          <p:cNvSpPr txBox="1"/>
          <p:nvPr/>
        </p:nvSpPr>
        <p:spPr>
          <a:xfrm>
            <a:off x="2947649" y="5039868"/>
            <a:ext cx="3601199" cy="329184"/>
          </a:xfrm>
          <a:prstGeom prst="rect">
            <a:avLst/>
          </a:prstGeom>
          <a:noFill/>
        </p:spPr>
        <p:txBody>
          <a:bodyPr wrap="square" lIns="0" rIns="0" tIns="0" bIns="0">
            <a:spAutoFit/>
          </a:bodyPr>
          <a:lstStyle/>
          <a:p>
            <a:pPr>
              <a:lnSpc>
                <a:spcPct val="114000"/>
              </a:lnSpc>
              <a:spcBef>
                <a:spcPts val="0"/>
              </a:spcBef>
              <a:spcAft>
                <a:spcPts val="0"/>
              </a:spcAft>
            </a:pPr>
            <a:r>
              <a:rPr sz="1100" b="0" i="0">
                <a:solidFill>
                  <a:srgbClr val="555560"/>
                </a:solidFill>
                <a:latin typeface="Segoe UI"/>
              </a:rPr>
              <a:t>how is a layer's energy split among its cells?</a:t>
            </a:r>
          </a:p>
        </p:txBody>
      </p:sp>
      <p:sp>
        <p:nvSpPr>
          <p:cNvPr id="40" name="TextBox 39"/>
          <p:cNvSpPr txBox="1"/>
          <p:nvPr/>
        </p:nvSpPr>
        <p:spPr>
          <a:xfrm>
            <a:off x="6713440" y="5039868"/>
            <a:ext cx="4536422" cy="329184"/>
          </a:xfrm>
          <a:prstGeom prst="rect">
            <a:avLst/>
          </a:prstGeom>
          <a:noFill/>
        </p:spPr>
        <p:txBody>
          <a:bodyPr wrap="square" lIns="0" rIns="0" tIns="0" bIns="0">
            <a:spAutoFit/>
          </a:bodyPr>
          <a:lstStyle/>
          <a:p>
            <a:pPr>
              <a:lnSpc>
                <a:spcPct val="114000"/>
              </a:lnSpc>
              <a:spcBef>
                <a:spcPts val="0"/>
              </a:spcBef>
              <a:spcAft>
                <a:spcPts val="0"/>
              </a:spcAft>
            </a:pPr>
            <a:r>
              <a:rPr sz="1100" b="0" i="0">
                <a:solidFill>
                  <a:srgbClr val="555560"/>
                </a:solidFill>
                <a:latin typeface="Segoe UI"/>
              </a:rPr>
              <a:t>shape-matching loss — a continuous shape again</a:t>
            </a:r>
          </a:p>
        </p:txBody>
      </p:sp>
      <p:sp>
        <p:nvSpPr>
          <p:cNvPr id="41" name="TextBox 40"/>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19 / 46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OBJECTIVE</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Joint Training Objective</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803495" y="1591056"/>
            <a:ext cx="2584704" cy="615696"/>
          </a:xfrm>
          <a:prstGeom prst="rect">
            <a:avLst/>
          </a:prstGeom>
          <a:noFill/>
          <a:ln w="17780">
            <a:solidFill>
              <a:srgbClr val="D149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q_d20c04e0179ce9e0d8ba.png"/>
          <p:cNvPicPr>
            <a:picLocks noChangeAspect="1"/>
          </p:cNvPicPr>
          <p:nvPr/>
        </p:nvPicPr>
        <p:blipFill>
          <a:blip r:embed="rId2"/>
          <a:stretch>
            <a:fillRect/>
          </a:stretch>
        </p:blipFill>
        <p:spPr>
          <a:xfrm>
            <a:off x="4931511" y="1719072"/>
            <a:ext cx="2328672" cy="359664"/>
          </a:xfrm>
          <a:prstGeom prst="rect">
            <a:avLst/>
          </a:prstGeom>
        </p:spPr>
      </p:pic>
      <p:sp>
        <p:nvSpPr>
          <p:cNvPr id="7" name="TextBox 6"/>
          <p:cNvSpPr txBox="1"/>
          <p:nvPr/>
        </p:nvSpPr>
        <p:spPr>
          <a:xfrm>
            <a:off x="777240" y="2389632"/>
            <a:ext cx="1828800" cy="201168"/>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INPUTS</a:t>
            </a:r>
          </a:p>
        </p:txBody>
      </p:sp>
      <p:pic>
        <p:nvPicPr>
          <p:cNvPr id="8" name="Picture 7" descr="eq_568094321de107de42fd.png"/>
          <p:cNvPicPr>
            <a:picLocks noChangeAspect="1"/>
          </p:cNvPicPr>
          <p:nvPr/>
        </p:nvPicPr>
        <p:blipFill>
          <a:blip r:embed="rId3"/>
          <a:stretch>
            <a:fillRect/>
          </a:stretch>
        </p:blipFill>
        <p:spPr>
          <a:xfrm>
            <a:off x="868680" y="2590800"/>
            <a:ext cx="4035552" cy="332232"/>
          </a:xfrm>
          <a:prstGeom prst="rect">
            <a:avLst/>
          </a:prstGeom>
        </p:spPr>
      </p:pic>
      <p:sp>
        <p:nvSpPr>
          <p:cNvPr id="9" name="TextBox 8"/>
          <p:cNvSpPr txBox="1"/>
          <p:nvPr/>
        </p:nvSpPr>
        <p:spPr>
          <a:xfrm>
            <a:off x="868680" y="2959608"/>
            <a:ext cx="10454335" cy="206375"/>
          </a:xfrm>
          <a:prstGeom prst="rect">
            <a:avLst/>
          </a:prstGeom>
          <a:noFill/>
        </p:spPr>
        <p:txBody>
          <a:bodyPr wrap="square" lIns="0" rIns="0" tIns="0" bIns="0">
            <a:spAutoFit/>
          </a:bodyPr>
          <a:lstStyle/>
          <a:p>
            <a:pPr>
              <a:lnSpc>
                <a:spcPct val="125000"/>
              </a:lnSpc>
              <a:spcBef>
                <a:spcPts val="0"/>
              </a:spcBef>
              <a:spcAft>
                <a:spcPts val="0"/>
              </a:spcAft>
            </a:pPr>
            <a:r>
              <a:rPr sz="1250" b="0" i="0">
                <a:solidFill>
                  <a:srgbClr val="555560"/>
                </a:solidFill>
                <a:latin typeface="Segoe UI"/>
              </a:rPr>
              <a:t>the nine stage losses above</a:t>
            </a:r>
          </a:p>
        </p:txBody>
      </p:sp>
      <p:sp>
        <p:nvSpPr>
          <p:cNvPr id="10" name="TextBox 9"/>
          <p:cNvSpPr txBox="1"/>
          <p:nvPr/>
        </p:nvSpPr>
        <p:spPr>
          <a:xfrm>
            <a:off x="777240" y="3367151"/>
            <a:ext cx="1828800" cy="201168"/>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MODEL</a:t>
            </a:r>
          </a:p>
        </p:txBody>
      </p:sp>
      <p:sp>
        <p:nvSpPr>
          <p:cNvPr id="11" name="TextBox 10"/>
          <p:cNvSpPr txBox="1"/>
          <p:nvPr/>
        </p:nvSpPr>
        <p:spPr>
          <a:xfrm>
            <a:off x="868680" y="3568319"/>
            <a:ext cx="10454335" cy="206375"/>
          </a:xfrm>
          <a:prstGeom prst="rect">
            <a:avLst/>
          </a:prstGeom>
          <a:noFill/>
        </p:spPr>
        <p:txBody>
          <a:bodyPr wrap="square" lIns="0" rIns="0" tIns="0" bIns="0">
            <a:spAutoFit/>
          </a:bodyPr>
          <a:lstStyle/>
          <a:p>
            <a:pPr>
              <a:lnSpc>
                <a:spcPct val="125000"/>
              </a:lnSpc>
              <a:spcBef>
                <a:spcPts val="0"/>
              </a:spcBef>
              <a:spcAft>
                <a:spcPts val="0"/>
              </a:spcAft>
            </a:pPr>
            <a:r>
              <a:rPr sz="1250" b="0" i="0">
                <a:solidFill>
                  <a:srgbClr val="555560"/>
                </a:solidFill>
                <a:latin typeface="Segoe UI"/>
              </a:rPr>
              <a:t>None — combines existing losses, sends gradients through every stage.</a:t>
            </a:r>
          </a:p>
        </p:txBody>
      </p:sp>
      <p:sp>
        <p:nvSpPr>
          <p:cNvPr id="12" name="TextBox 11"/>
          <p:cNvSpPr txBox="1"/>
          <p:nvPr/>
        </p:nvSpPr>
        <p:spPr>
          <a:xfrm>
            <a:off x="777240" y="3975862"/>
            <a:ext cx="1828800" cy="201168"/>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LOSS</a:t>
            </a:r>
          </a:p>
        </p:txBody>
      </p:sp>
      <p:pic>
        <p:nvPicPr>
          <p:cNvPr id="13" name="Picture 12" descr="eq_feb4830824f6ec622cc5.png"/>
          <p:cNvPicPr>
            <a:picLocks noChangeAspect="1"/>
          </p:cNvPicPr>
          <p:nvPr/>
        </p:nvPicPr>
        <p:blipFill>
          <a:blip r:embed="rId4"/>
          <a:stretch>
            <a:fillRect/>
          </a:stretch>
        </p:blipFill>
        <p:spPr>
          <a:xfrm>
            <a:off x="868680" y="4177030"/>
            <a:ext cx="3538728" cy="353568"/>
          </a:xfrm>
          <a:prstGeom prst="rect">
            <a:avLst/>
          </a:prstGeom>
        </p:spPr>
      </p:pic>
      <p:pic>
        <p:nvPicPr>
          <p:cNvPr id="14" name="Picture 13" descr="eq_8c5a6ed8c3bdfc9bf8b1.png"/>
          <p:cNvPicPr>
            <a:picLocks noChangeAspect="1"/>
          </p:cNvPicPr>
          <p:nvPr/>
        </p:nvPicPr>
        <p:blipFill>
          <a:blip r:embed="rId5"/>
          <a:stretch>
            <a:fillRect/>
          </a:stretch>
        </p:blipFill>
        <p:spPr>
          <a:xfrm>
            <a:off x="868680" y="4686046"/>
            <a:ext cx="5349240" cy="344424"/>
          </a:xfrm>
          <a:prstGeom prst="rect">
            <a:avLst/>
          </a:prstGeom>
        </p:spPr>
      </p:pic>
      <p:sp>
        <p:nvSpPr>
          <p:cNvPr id="15" name="TextBox 14"/>
          <p:cNvSpPr txBox="1"/>
          <p:nvPr/>
        </p:nvSpPr>
        <p:spPr>
          <a:xfrm>
            <a:off x="868680" y="5067046"/>
            <a:ext cx="10454335" cy="206375"/>
          </a:xfrm>
          <a:prstGeom prst="rect">
            <a:avLst/>
          </a:prstGeom>
          <a:noFill/>
        </p:spPr>
        <p:txBody>
          <a:bodyPr wrap="square" lIns="0" rIns="0" tIns="0" bIns="0">
            <a:spAutoFit/>
          </a:bodyPr>
          <a:lstStyle/>
          <a:p>
            <a:pPr>
              <a:lnSpc>
                <a:spcPct val="125000"/>
              </a:lnSpc>
              <a:spcBef>
                <a:spcPts val="0"/>
              </a:spcBef>
              <a:spcAft>
                <a:spcPts val="0"/>
              </a:spcAft>
            </a:pPr>
            <a:r>
              <a:rPr sz="1250" b="0" i="0">
                <a:solidFill>
                  <a:srgbClr val="555560"/>
                </a:solidFill>
                <a:latin typeface="Segoe UI"/>
              </a:rPr>
              <a:t>weights from the calibration on the next slide</a:t>
            </a:r>
          </a:p>
        </p:txBody>
      </p:sp>
      <p:sp>
        <p:nvSpPr>
          <p:cNvPr id="16" name="TextBox 15"/>
          <p:cNvSpPr txBox="1"/>
          <p:nvPr/>
        </p:nvSpPr>
        <p:spPr>
          <a:xfrm>
            <a:off x="777240" y="5474589"/>
            <a:ext cx="1828800" cy="201168"/>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OUTPUT</a:t>
            </a:r>
          </a:p>
        </p:txBody>
      </p:sp>
      <p:pic>
        <p:nvPicPr>
          <p:cNvPr id="17" name="Picture 16" descr="eq_8a312036aaf29aa71a38.png"/>
          <p:cNvPicPr>
            <a:picLocks noChangeAspect="1"/>
          </p:cNvPicPr>
          <p:nvPr/>
        </p:nvPicPr>
        <p:blipFill>
          <a:blip r:embed="rId6"/>
          <a:stretch>
            <a:fillRect/>
          </a:stretch>
        </p:blipFill>
        <p:spPr>
          <a:xfrm>
            <a:off x="868680" y="5675757"/>
            <a:ext cx="4035552" cy="341376"/>
          </a:xfrm>
          <a:prstGeom prst="rect">
            <a:avLst/>
          </a:prstGeom>
        </p:spPr>
      </p:pic>
      <p:sp>
        <p:nvSpPr>
          <p:cNvPr id="18" name="TextBox 1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20 / 46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CALIBRATION</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Loss-Weight Calibration</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789779" y="1591056"/>
            <a:ext cx="2612136" cy="649224"/>
          </a:xfrm>
          <a:prstGeom prst="rect">
            <a:avLst/>
          </a:prstGeom>
          <a:noFill/>
          <a:ln w="17780">
            <a:solidFill>
              <a:srgbClr val="D149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q_aa85071cfe4aef448623.png"/>
          <p:cNvPicPr>
            <a:picLocks noChangeAspect="1"/>
          </p:cNvPicPr>
          <p:nvPr/>
        </p:nvPicPr>
        <p:blipFill>
          <a:blip r:embed="rId2"/>
          <a:stretch>
            <a:fillRect/>
          </a:stretch>
        </p:blipFill>
        <p:spPr>
          <a:xfrm>
            <a:off x="4917795" y="1719072"/>
            <a:ext cx="2356104" cy="393192"/>
          </a:xfrm>
          <a:prstGeom prst="rect">
            <a:avLst/>
          </a:prstGeom>
        </p:spPr>
      </p:pic>
      <p:sp>
        <p:nvSpPr>
          <p:cNvPr id="7" name="TextBox 6"/>
          <p:cNvSpPr txBox="1"/>
          <p:nvPr/>
        </p:nvSpPr>
        <p:spPr>
          <a:xfrm>
            <a:off x="777240" y="2423160"/>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INPUTS</a:t>
            </a:r>
          </a:p>
        </p:txBody>
      </p:sp>
      <p:pic>
        <p:nvPicPr>
          <p:cNvPr id="8" name="Picture 7" descr="eq_81fd6484afd5d1b75a25.png"/>
          <p:cNvPicPr>
            <a:picLocks noChangeAspect="1"/>
          </p:cNvPicPr>
          <p:nvPr/>
        </p:nvPicPr>
        <p:blipFill>
          <a:blip r:embed="rId3"/>
          <a:stretch>
            <a:fillRect/>
          </a:stretch>
        </p:blipFill>
        <p:spPr>
          <a:xfrm>
            <a:off x="868680" y="2587752"/>
            <a:ext cx="2438400" cy="359664"/>
          </a:xfrm>
          <a:prstGeom prst="rect">
            <a:avLst/>
          </a:prstGeom>
        </p:spPr>
      </p:pic>
      <p:sp>
        <p:nvSpPr>
          <p:cNvPr id="9" name="TextBox 8"/>
          <p:cNvSpPr txBox="1"/>
          <p:nvPr/>
        </p:nvSpPr>
        <p:spPr>
          <a:xfrm>
            <a:off x="868680" y="2974848"/>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sample batches, one fixed checkpoint</a:t>
            </a:r>
          </a:p>
        </p:txBody>
      </p:sp>
      <p:sp>
        <p:nvSpPr>
          <p:cNvPr id="10" name="TextBox 9"/>
          <p:cNvSpPr txBox="1"/>
          <p:nvPr/>
        </p:nvSpPr>
        <p:spPr>
          <a:xfrm>
            <a:off x="777240" y="3276219"/>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MODEL</a:t>
            </a:r>
          </a:p>
        </p:txBody>
      </p:sp>
      <p:sp>
        <p:nvSpPr>
          <p:cNvPr id="11" name="TextBox 10"/>
          <p:cNvSpPr txBox="1"/>
          <p:nvPr/>
        </p:nvSpPr>
        <p:spPr>
          <a:xfrm>
            <a:off x="868680" y="3440811"/>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None — deterministic calibration procedure.</a:t>
            </a:r>
          </a:p>
        </p:txBody>
      </p:sp>
      <p:sp>
        <p:nvSpPr>
          <p:cNvPr id="12" name="TextBox 11"/>
          <p:cNvSpPr txBox="1"/>
          <p:nvPr/>
        </p:nvSpPr>
        <p:spPr>
          <a:xfrm>
            <a:off x="777240" y="3742182"/>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LOSS</a:t>
            </a:r>
          </a:p>
        </p:txBody>
      </p:sp>
      <p:pic>
        <p:nvPicPr>
          <p:cNvPr id="13" name="Picture 12" descr="eq_656dfb50f3d3b224abd5.png"/>
          <p:cNvPicPr>
            <a:picLocks noChangeAspect="1"/>
          </p:cNvPicPr>
          <p:nvPr/>
        </p:nvPicPr>
        <p:blipFill>
          <a:blip r:embed="rId4"/>
          <a:stretch>
            <a:fillRect/>
          </a:stretch>
        </p:blipFill>
        <p:spPr>
          <a:xfrm>
            <a:off x="868680" y="3906774"/>
            <a:ext cx="1956816" cy="301752"/>
          </a:xfrm>
          <a:prstGeom prst="rect">
            <a:avLst/>
          </a:prstGeom>
        </p:spPr>
      </p:pic>
      <p:pic>
        <p:nvPicPr>
          <p:cNvPr id="14" name="Picture 13" descr="eq_e6975069f13548f06391.png"/>
          <p:cNvPicPr>
            <a:picLocks noChangeAspect="1"/>
          </p:cNvPicPr>
          <p:nvPr/>
        </p:nvPicPr>
        <p:blipFill>
          <a:blip r:embed="rId5"/>
          <a:stretch>
            <a:fillRect/>
          </a:stretch>
        </p:blipFill>
        <p:spPr>
          <a:xfrm>
            <a:off x="868680" y="4309110"/>
            <a:ext cx="2362200" cy="466344"/>
          </a:xfrm>
          <a:prstGeom prst="rect">
            <a:avLst/>
          </a:prstGeom>
        </p:spPr>
      </p:pic>
      <p:sp>
        <p:nvSpPr>
          <p:cNvPr id="15" name="TextBox 14"/>
          <p:cNvSpPr txBox="1"/>
          <p:nvPr/>
        </p:nvSpPr>
        <p:spPr>
          <a:xfrm>
            <a:off x="868680" y="4802886"/>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reference scale; inverse-loudness proposal</a:t>
            </a:r>
          </a:p>
        </p:txBody>
      </p:sp>
      <p:pic>
        <p:nvPicPr>
          <p:cNvPr id="16" name="Picture 15" descr="eq_aeb9621eab81d91534d9.png"/>
          <p:cNvPicPr>
            <a:picLocks noChangeAspect="1"/>
          </p:cNvPicPr>
          <p:nvPr/>
        </p:nvPicPr>
        <p:blipFill>
          <a:blip r:embed="rId6"/>
          <a:stretch>
            <a:fillRect/>
          </a:stretch>
        </p:blipFill>
        <p:spPr>
          <a:xfrm>
            <a:off x="868680" y="5049393"/>
            <a:ext cx="3642360" cy="466344"/>
          </a:xfrm>
          <a:prstGeom prst="rect">
            <a:avLst/>
          </a:prstGeom>
        </p:spPr>
      </p:pic>
      <p:sp>
        <p:nvSpPr>
          <p:cNvPr id="17" name="TextBox 16"/>
          <p:cNvSpPr txBox="1"/>
          <p:nvPr/>
        </p:nvSpPr>
        <p:spPr>
          <a:xfrm>
            <a:off x="868680" y="5543169"/>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capped, then renormalised to mean 1</a:t>
            </a:r>
          </a:p>
        </p:txBody>
      </p:sp>
      <p:sp>
        <p:nvSpPr>
          <p:cNvPr id="18" name="TextBox 17"/>
          <p:cNvSpPr txBox="1"/>
          <p:nvPr/>
        </p:nvSpPr>
        <p:spPr>
          <a:xfrm>
            <a:off x="777240" y="5844540"/>
            <a:ext cx="1828800" cy="16459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OUTPUT</a:t>
            </a:r>
          </a:p>
        </p:txBody>
      </p:sp>
      <p:pic>
        <p:nvPicPr>
          <p:cNvPr id="19" name="Picture 18" descr="eq_60b2823e0d3f5ab51a51.png"/>
          <p:cNvPicPr>
            <a:picLocks noChangeAspect="1"/>
          </p:cNvPicPr>
          <p:nvPr/>
        </p:nvPicPr>
        <p:blipFill>
          <a:blip r:embed="rId7"/>
          <a:stretch>
            <a:fillRect/>
          </a:stretch>
        </p:blipFill>
        <p:spPr>
          <a:xfrm>
            <a:off x="868680" y="6009132"/>
            <a:ext cx="2913888" cy="295656"/>
          </a:xfrm>
          <a:prstGeom prst="rect">
            <a:avLst/>
          </a:prstGeom>
        </p:spPr>
      </p:pic>
      <p:sp>
        <p:nvSpPr>
          <p:cNvPr id="20" name="TextBox 19"/>
          <p:cNvSpPr txBox="1"/>
          <p:nvPr/>
        </p:nvSpPr>
        <p:spPr>
          <a:xfrm>
            <a:off x="868680" y="6332220"/>
            <a:ext cx="10454335" cy="173355"/>
          </a:xfrm>
          <a:prstGeom prst="rect">
            <a:avLst/>
          </a:prstGeom>
          <a:noFill/>
        </p:spPr>
        <p:txBody>
          <a:bodyPr wrap="square" lIns="0" rIns="0" tIns="0" bIns="0">
            <a:spAutoFit/>
          </a:bodyPr>
          <a:lstStyle/>
          <a:p>
            <a:pPr>
              <a:lnSpc>
                <a:spcPct val="125000"/>
              </a:lnSpc>
              <a:spcBef>
                <a:spcPts val="0"/>
              </a:spcBef>
              <a:spcAft>
                <a:spcPts val="0"/>
              </a:spcAft>
            </a:pPr>
            <a:r>
              <a:rPr sz="1050" b="0" i="0">
                <a:solidFill>
                  <a:srgbClr val="555560"/>
                </a:solidFill>
                <a:latin typeface="Segoe UI"/>
              </a:rPr>
              <a:t>fixed for all of joint training</a:t>
            </a:r>
          </a:p>
        </p:txBody>
      </p:sp>
      <p:sp>
        <p:nvSpPr>
          <p:cNvPr id="21" name="TextBox 20"/>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21 / 46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OBJECTIVE</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The four balancing steps</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21_loss_weight_calibration.png"/>
          <p:cNvPicPr>
            <a:picLocks noChangeAspect="1"/>
          </p:cNvPicPr>
          <p:nvPr/>
        </p:nvPicPr>
        <p:blipFill>
          <a:blip r:embed="rId2"/>
          <a:stretch>
            <a:fillRect/>
          </a:stretch>
        </p:blipFill>
        <p:spPr>
          <a:xfrm>
            <a:off x="777240" y="1591056"/>
            <a:ext cx="10637215" cy="3653350"/>
          </a:xfrm>
          <a:prstGeom prst="rect">
            <a:avLst/>
          </a:prstGeom>
        </p:spPr>
      </p:pic>
      <p:sp>
        <p:nvSpPr>
          <p:cNvPr id="6" name="Rectangle 5"/>
          <p:cNvSpPr/>
          <p:nvPr/>
        </p:nvSpPr>
        <p:spPr>
          <a:xfrm>
            <a:off x="777240" y="5427286"/>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564446"/>
            <a:ext cx="10637215" cy="909506"/>
          </a:xfrm>
          <a:prstGeom prst="rect">
            <a:avLst/>
          </a:prstGeom>
          <a:noFill/>
        </p:spPr>
        <p:txBody>
          <a:bodyPr wrap="square" lIns="0" rIns="0" tIns="0" bIns="0">
            <a:spAutoFit/>
          </a:bodyPr>
          <a:lstStyle/>
          <a:p>
            <a:pPr>
              <a:lnSpc>
                <a:spcPct val="130000"/>
              </a:lnSpc>
              <a:spcBef>
                <a:spcPts val="0"/>
              </a:spcBef>
              <a:spcAft>
                <a:spcPts val="500"/>
              </a:spcAft>
            </a:pPr>
            <a:r>
              <a:rPr sz="1400" b="0" i="0">
                <a:solidFill>
                  <a:srgbClr val="16161D"/>
                </a:solidFill>
                <a:latin typeface="Segoe UI"/>
              </a:rPr>
              <a:t>Panel 1: how loud each loss naturally is (log scale). Panel 2: the proposed opposite volume-knob turn. Panel 3: the turn is capped at a factor of 16 either way — red bars were capped. Panel 4: everything is rescaled so the average knob position is 1. Five of nine losses are never capped, so they end up exactly equally loud after rebalancing.</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22 / 46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STATUS</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Training configuration and current state</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5684266"/>
            <a:ext cx="10637215" cy="71653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5684266"/>
            <a:ext cx="44450" cy="716534"/>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5793994"/>
            <a:ext cx="10216591" cy="533654"/>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16161D"/>
                </a:solidFill>
                <a:latin typeface="Segoe UI"/>
              </a:rPr>
              <a:t>Every result that follows is measured at epoch 4 on 4.3% of the training data. It bounds what the architecture has done SO FAR, not what it can do.</a:t>
            </a:r>
          </a:p>
        </p:txBody>
      </p:sp>
      <p:sp>
        <p:nvSpPr>
          <p:cNvPr id="8" name="TextBox 7"/>
          <p:cNvSpPr txBox="1"/>
          <p:nvPr/>
        </p:nvSpPr>
        <p:spPr>
          <a:xfrm>
            <a:off x="777240" y="1591056"/>
            <a:ext cx="2571934"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Quantity</a:t>
            </a:r>
          </a:p>
        </p:txBody>
      </p:sp>
      <p:sp>
        <p:nvSpPr>
          <p:cNvPr id="9" name="TextBox 8"/>
          <p:cNvSpPr txBox="1"/>
          <p:nvPr/>
        </p:nvSpPr>
        <p:spPr>
          <a:xfrm>
            <a:off x="3349174" y="1591056"/>
            <a:ext cx="1967503"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Value</a:t>
            </a:r>
          </a:p>
        </p:txBody>
      </p:sp>
      <p:sp>
        <p:nvSpPr>
          <p:cNvPr id="10" name="TextBox 9"/>
          <p:cNvSpPr txBox="1"/>
          <p:nvPr/>
        </p:nvSpPr>
        <p:spPr>
          <a:xfrm>
            <a:off x="5316677" y="1591056"/>
            <a:ext cx="6097777"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Meaning</a:t>
            </a:r>
          </a:p>
        </p:txBody>
      </p:sp>
      <p:sp>
        <p:nvSpPr>
          <p:cNvPr id="11" name="Rectangle 10"/>
          <p:cNvSpPr/>
          <p:nvPr/>
        </p:nvSpPr>
        <p:spPr>
          <a:xfrm>
            <a:off x="777240" y="1883664"/>
            <a:ext cx="10637215" cy="12700"/>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039112"/>
            <a:ext cx="2407342"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Epochs</a:t>
            </a:r>
          </a:p>
        </p:txBody>
      </p:sp>
      <p:sp>
        <p:nvSpPr>
          <p:cNvPr id="13" name="TextBox 12"/>
          <p:cNvSpPr txBox="1"/>
          <p:nvPr/>
        </p:nvSpPr>
        <p:spPr>
          <a:xfrm>
            <a:off x="3349174" y="2039112"/>
            <a:ext cx="1802911"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4</a:t>
            </a:r>
          </a:p>
        </p:txBody>
      </p:sp>
      <p:sp>
        <p:nvSpPr>
          <p:cNvPr id="14" name="TextBox 13"/>
          <p:cNvSpPr txBox="1"/>
          <p:nvPr/>
        </p:nvSpPr>
        <p:spPr>
          <a:xfrm>
            <a:off x="5316677" y="2039112"/>
            <a:ext cx="5933185"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each epoch is one pass over the bounded bank</a:t>
            </a:r>
          </a:p>
        </p:txBody>
      </p:sp>
      <p:sp>
        <p:nvSpPr>
          <p:cNvPr id="15" name="Rectangle 14"/>
          <p:cNvSpPr/>
          <p:nvPr/>
        </p:nvSpPr>
        <p:spPr>
          <a:xfrm>
            <a:off x="685800" y="2313432"/>
            <a:ext cx="10820095" cy="32918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368296"/>
            <a:ext cx="2407342"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Train bank</a:t>
            </a:r>
          </a:p>
        </p:txBody>
      </p:sp>
      <p:sp>
        <p:nvSpPr>
          <p:cNvPr id="17" name="TextBox 16"/>
          <p:cNvSpPr txBox="1"/>
          <p:nvPr/>
        </p:nvSpPr>
        <p:spPr>
          <a:xfrm>
            <a:off x="3349174" y="2368296"/>
            <a:ext cx="1802911"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26,624</a:t>
            </a:r>
          </a:p>
        </p:txBody>
      </p:sp>
      <p:sp>
        <p:nvSpPr>
          <p:cNvPr id="18" name="TextBox 17"/>
          <p:cNvSpPr txBox="1"/>
          <p:nvPr/>
        </p:nvSpPr>
        <p:spPr>
          <a:xfrm>
            <a:off x="5316677" y="2368296"/>
            <a:ext cx="5933185"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4.3% of the 612,482 available</a:t>
            </a:r>
          </a:p>
        </p:txBody>
      </p:sp>
      <p:sp>
        <p:nvSpPr>
          <p:cNvPr id="19" name="TextBox 18"/>
          <p:cNvSpPr txBox="1"/>
          <p:nvPr/>
        </p:nvSpPr>
        <p:spPr>
          <a:xfrm>
            <a:off x="777240" y="2697480"/>
            <a:ext cx="2407342"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Validation bank</a:t>
            </a:r>
          </a:p>
        </p:txBody>
      </p:sp>
      <p:sp>
        <p:nvSpPr>
          <p:cNvPr id="20" name="TextBox 19"/>
          <p:cNvSpPr txBox="1"/>
          <p:nvPr/>
        </p:nvSpPr>
        <p:spPr>
          <a:xfrm>
            <a:off x="3349174" y="2697480"/>
            <a:ext cx="1802911"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6,656</a:t>
            </a:r>
          </a:p>
        </p:txBody>
      </p:sp>
      <p:sp>
        <p:nvSpPr>
          <p:cNvPr id="21" name="TextBox 20"/>
          <p:cNvSpPr txBox="1"/>
          <p:nvPr/>
        </p:nvSpPr>
        <p:spPr>
          <a:xfrm>
            <a:off x="5316677" y="2697480"/>
            <a:ext cx="5933185"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checkpoint selection only</a:t>
            </a:r>
          </a:p>
        </p:txBody>
      </p:sp>
      <p:sp>
        <p:nvSpPr>
          <p:cNvPr id="22" name="Rectangle 21"/>
          <p:cNvSpPr/>
          <p:nvPr/>
        </p:nvSpPr>
        <p:spPr>
          <a:xfrm>
            <a:off x="685800" y="2971800"/>
            <a:ext cx="10820095" cy="32918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3026664"/>
            <a:ext cx="2407342"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Test events used</a:t>
            </a:r>
          </a:p>
        </p:txBody>
      </p:sp>
      <p:sp>
        <p:nvSpPr>
          <p:cNvPr id="24" name="TextBox 23"/>
          <p:cNvSpPr txBox="1"/>
          <p:nvPr/>
        </p:nvSpPr>
        <p:spPr>
          <a:xfrm>
            <a:off x="3349174" y="3026664"/>
            <a:ext cx="1802911"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0</a:t>
            </a:r>
          </a:p>
        </p:txBody>
      </p:sp>
      <p:sp>
        <p:nvSpPr>
          <p:cNvPr id="25" name="TextBox 24"/>
          <p:cNvSpPr txBox="1"/>
          <p:nvPr/>
        </p:nvSpPr>
        <p:spPr>
          <a:xfrm>
            <a:off x="5316677" y="3026664"/>
            <a:ext cx="5933185"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the sealed split was not touched during training</a:t>
            </a:r>
          </a:p>
        </p:txBody>
      </p:sp>
      <p:sp>
        <p:nvSpPr>
          <p:cNvPr id="26" name="TextBox 25"/>
          <p:cNvSpPr txBox="1"/>
          <p:nvPr/>
        </p:nvSpPr>
        <p:spPr>
          <a:xfrm>
            <a:off x="777240" y="3355848"/>
            <a:ext cx="2407342"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Optimiser</a:t>
            </a:r>
          </a:p>
        </p:txBody>
      </p:sp>
      <p:sp>
        <p:nvSpPr>
          <p:cNvPr id="27" name="TextBox 26"/>
          <p:cNvSpPr txBox="1"/>
          <p:nvPr/>
        </p:nvSpPr>
        <p:spPr>
          <a:xfrm>
            <a:off x="3349174" y="3355848"/>
            <a:ext cx="1802911"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AdamW</a:t>
            </a:r>
          </a:p>
        </p:txBody>
      </p:sp>
      <p:sp>
        <p:nvSpPr>
          <p:cNvPr id="28" name="TextBox 27"/>
          <p:cNvSpPr txBox="1"/>
          <p:nvPr/>
        </p:nvSpPr>
        <p:spPr>
          <a:xfrm>
            <a:off x="5316677" y="3355848"/>
            <a:ext cx="5933185"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learning rate 1e-4 down to 1e-6, gradually</a:t>
            </a:r>
          </a:p>
        </p:txBody>
      </p:sp>
      <p:sp>
        <p:nvSpPr>
          <p:cNvPr id="29" name="Rectangle 28"/>
          <p:cNvSpPr/>
          <p:nvPr/>
        </p:nvSpPr>
        <p:spPr>
          <a:xfrm>
            <a:off x="685800" y="3630168"/>
            <a:ext cx="10820095" cy="32918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3685032"/>
            <a:ext cx="2407342"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Gradient clip</a:t>
            </a:r>
          </a:p>
        </p:txBody>
      </p:sp>
      <p:sp>
        <p:nvSpPr>
          <p:cNvPr id="31" name="TextBox 30"/>
          <p:cNvSpPr txBox="1"/>
          <p:nvPr/>
        </p:nvSpPr>
        <p:spPr>
          <a:xfrm>
            <a:off x="3349174" y="3685032"/>
            <a:ext cx="1802911"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1.0</a:t>
            </a:r>
          </a:p>
        </p:txBody>
      </p:sp>
      <p:sp>
        <p:nvSpPr>
          <p:cNvPr id="32" name="TextBox 31"/>
          <p:cNvSpPr txBox="1"/>
          <p:nvPr/>
        </p:nvSpPr>
        <p:spPr>
          <a:xfrm>
            <a:off x="5316677" y="3685032"/>
            <a:ext cx="5933185"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caps how large a single update step can be</a:t>
            </a:r>
          </a:p>
        </p:txBody>
      </p:sp>
      <p:sp>
        <p:nvSpPr>
          <p:cNvPr id="33" name="TextBox 32"/>
          <p:cNvSpPr txBox="1"/>
          <p:nvPr/>
        </p:nvSpPr>
        <p:spPr>
          <a:xfrm>
            <a:off x="777240" y="4014216"/>
            <a:ext cx="2407342"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Effective batch</a:t>
            </a:r>
          </a:p>
        </p:txBody>
      </p:sp>
      <p:sp>
        <p:nvSpPr>
          <p:cNvPr id="34" name="TextBox 33"/>
          <p:cNvSpPr txBox="1"/>
          <p:nvPr/>
        </p:nvSpPr>
        <p:spPr>
          <a:xfrm>
            <a:off x="3349174" y="4014216"/>
            <a:ext cx="1802911"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24 (6 x 4)</a:t>
            </a:r>
          </a:p>
        </p:txBody>
      </p:sp>
      <p:sp>
        <p:nvSpPr>
          <p:cNvPr id="35" name="TextBox 34"/>
          <p:cNvSpPr txBox="1"/>
          <p:nvPr/>
        </p:nvSpPr>
        <p:spPr>
          <a:xfrm>
            <a:off x="5316677" y="4014216"/>
            <a:ext cx="5933185"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12 for the half-batch control</a:t>
            </a:r>
          </a:p>
        </p:txBody>
      </p:sp>
      <p:sp>
        <p:nvSpPr>
          <p:cNvPr id="36" name="Rectangle 35"/>
          <p:cNvSpPr/>
          <p:nvPr/>
        </p:nvSpPr>
        <p:spPr>
          <a:xfrm>
            <a:off x="685800" y="4288536"/>
            <a:ext cx="10820095" cy="32918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7240" y="4343400"/>
            <a:ext cx="2407342"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Precision</a:t>
            </a:r>
          </a:p>
        </p:txBody>
      </p:sp>
      <p:sp>
        <p:nvSpPr>
          <p:cNvPr id="38" name="TextBox 37"/>
          <p:cNvSpPr txBox="1"/>
          <p:nvPr/>
        </p:nvSpPr>
        <p:spPr>
          <a:xfrm>
            <a:off x="3349174" y="4343400"/>
            <a:ext cx="1802911"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FP32</a:t>
            </a:r>
          </a:p>
        </p:txBody>
      </p:sp>
      <p:sp>
        <p:nvSpPr>
          <p:cNvPr id="39" name="TextBox 38"/>
          <p:cNvSpPr txBox="1"/>
          <p:nvPr/>
        </p:nvSpPr>
        <p:spPr>
          <a:xfrm>
            <a:off x="5316677" y="4343400"/>
            <a:ext cx="5933185"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a faster mode was tried and produced broken numbers</a:t>
            </a:r>
          </a:p>
        </p:txBody>
      </p:sp>
      <p:sp>
        <p:nvSpPr>
          <p:cNvPr id="40" name="TextBox 39"/>
          <p:cNvSpPr txBox="1"/>
          <p:nvPr/>
        </p:nvSpPr>
        <p:spPr>
          <a:xfrm>
            <a:off x="777240" y="4672584"/>
            <a:ext cx="2407342"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Solver steps</a:t>
            </a:r>
          </a:p>
        </p:txBody>
      </p:sp>
      <p:sp>
        <p:nvSpPr>
          <p:cNvPr id="41" name="TextBox 40"/>
          <p:cNvSpPr txBox="1"/>
          <p:nvPr/>
        </p:nvSpPr>
        <p:spPr>
          <a:xfrm>
            <a:off x="3349174" y="4672584"/>
            <a:ext cx="1802911"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8 + 8</a:t>
            </a:r>
          </a:p>
        </p:txBody>
      </p:sp>
      <p:sp>
        <p:nvSpPr>
          <p:cNvPr id="42" name="TextBox 41"/>
          <p:cNvSpPr txBox="1"/>
          <p:nvPr/>
        </p:nvSpPr>
        <p:spPr>
          <a:xfrm>
            <a:off x="5316677" y="4672584"/>
            <a:ext cx="5933185"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profile and share flow, 8 steps each</a:t>
            </a:r>
          </a:p>
        </p:txBody>
      </p:sp>
      <p:sp>
        <p:nvSpPr>
          <p:cNvPr id="43" name="TextBox 42"/>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23 / 46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STATUS</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The overall training signal against epoch</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23_loss_versus_epoch.png"/>
          <p:cNvPicPr>
            <a:picLocks noChangeAspect="1"/>
          </p:cNvPicPr>
          <p:nvPr/>
        </p:nvPicPr>
        <p:blipFill>
          <a:blip r:embed="rId2"/>
          <a:stretch>
            <a:fillRect/>
          </a:stretch>
        </p:blipFill>
        <p:spPr>
          <a:xfrm>
            <a:off x="1142260" y="1591056"/>
            <a:ext cx="9907174" cy="3759707"/>
          </a:xfrm>
          <a:prstGeom prst="rect">
            <a:avLst/>
          </a:prstGeom>
        </p:spPr>
      </p:pic>
      <p:sp>
        <p:nvSpPr>
          <p:cNvPr id="6" name="Rectangle 5"/>
          <p:cNvSpPr/>
          <p:nvPr/>
        </p:nvSpPr>
        <p:spPr>
          <a:xfrm>
            <a:off x="777240" y="5533643"/>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670803"/>
            <a:ext cx="10637215" cy="803149"/>
          </a:xfrm>
          <a:prstGeom prst="rect">
            <a:avLst/>
          </a:prstGeom>
          <a:noFill/>
        </p:spPr>
        <p:txBody>
          <a:bodyPr wrap="square" lIns="0" rIns="0" tIns="0" bIns="0">
            <a:spAutoFit/>
          </a:bodyPr>
          <a:lstStyle/>
          <a:p>
            <a:pPr>
              <a:lnSpc>
                <a:spcPct val="130000"/>
              </a:lnSpc>
              <a:spcBef>
                <a:spcPts val="0"/>
              </a:spcBef>
              <a:spcAft>
                <a:spcPts val="500"/>
              </a:spcAft>
            </a:pPr>
            <a:r>
              <a:rPr sz="1400" b="0" i="0">
                <a:solidFill>
                  <a:srgbClr val="16161D"/>
                </a:solidFill>
                <a:latin typeface="Segoe UI"/>
              </a:rPr>
              <a:t>Four variants differing only in learning rate and effective batch. Epoch 3 regressed for two variants before epoch 4 recovered to a new minimum for all four. Final validation objective ranges from 4.738041 to 4.897327, a spread of 3.4% — this is optimisation progress, not a physics measurement.</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24 / 46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STATUS</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The nine losses, plotted separately</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24_component_losses_versus_epoch.png"/>
          <p:cNvPicPr>
            <a:picLocks noChangeAspect="1"/>
          </p:cNvPicPr>
          <p:nvPr/>
        </p:nvPicPr>
        <p:blipFill>
          <a:blip r:embed="rId2"/>
          <a:stretch>
            <a:fillRect/>
          </a:stretch>
        </p:blipFill>
        <p:spPr>
          <a:xfrm>
            <a:off x="3333239" y="1591056"/>
            <a:ext cx="5525215" cy="3759707"/>
          </a:xfrm>
          <a:prstGeom prst="rect">
            <a:avLst/>
          </a:prstGeom>
        </p:spPr>
      </p:pic>
      <p:sp>
        <p:nvSpPr>
          <p:cNvPr id="6" name="Rectangle 5"/>
          <p:cNvSpPr/>
          <p:nvPr/>
        </p:nvSpPr>
        <p:spPr>
          <a:xfrm>
            <a:off x="777240" y="5533643"/>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670803"/>
            <a:ext cx="10637215" cy="803149"/>
          </a:xfrm>
          <a:prstGeom prst="rect">
            <a:avLst/>
          </a:prstGeom>
          <a:noFill/>
        </p:spPr>
        <p:txBody>
          <a:bodyPr wrap="square" lIns="0" rIns="0" tIns="0" bIns="0">
            <a:spAutoFit/>
          </a:bodyPr>
          <a:lstStyle/>
          <a:p>
            <a:pPr>
              <a:lnSpc>
                <a:spcPct val="130000"/>
              </a:lnSpc>
              <a:spcBef>
                <a:spcPts val="0"/>
              </a:spcBef>
              <a:spcAft>
                <a:spcPts val="500"/>
              </a:spcAft>
            </a:pPr>
            <a:r>
              <a:rPr sz="1400" b="0" i="0">
                <a:solidFill>
                  <a:srgbClr val="16161D"/>
                </a:solidFill>
                <a:latin typeface="Segoe UI"/>
              </a:rPr>
              <a:t>Vertical scales differ by orders of magnitude between panels — do not compare one panel's numbers with another's. The total-energy loss is negative throughout: a likelihood-based loss can legitimately go negative when the fitted distribution is narrow and correct, which is a sign of a tight fit, not an error.</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25 / 46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TEST</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Classifier two-sample test</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5444871"/>
            <a:ext cx="10637215" cy="955929"/>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5444871"/>
            <a:ext cx="44450" cy="955929"/>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5554599"/>
            <a:ext cx="10216591" cy="773049"/>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16161D"/>
                </a:solidFill>
                <a:latin typeface="Segoe UI"/>
              </a:rPr>
              <a:t>The asymmetry that matters: a HIGH AUROC proves the two distributions differ — a positive result either way. A LOW AUROC only shows that this particular classifier, on this representation, at this sample size, did not find a difference — it is never proof that no difference exists.</a:t>
            </a:r>
          </a:p>
        </p:txBody>
      </p:sp>
      <p:pic>
        <p:nvPicPr>
          <p:cNvPr id="8" name="Picture 7" descr="eq_e5600616498ed29069c0.png"/>
          <p:cNvPicPr>
            <a:picLocks noChangeAspect="1"/>
          </p:cNvPicPr>
          <p:nvPr/>
        </p:nvPicPr>
        <p:blipFill>
          <a:blip r:embed="rId2"/>
          <a:stretch>
            <a:fillRect/>
          </a:stretch>
        </p:blipFill>
        <p:spPr>
          <a:xfrm>
            <a:off x="832104" y="1591056"/>
            <a:ext cx="6583680" cy="323088"/>
          </a:xfrm>
          <a:prstGeom prst="rect">
            <a:avLst/>
          </a:prstGeom>
        </p:spPr>
      </p:pic>
      <p:sp>
        <p:nvSpPr>
          <p:cNvPr id="9" name="TextBox 8"/>
          <p:cNvSpPr txBox="1"/>
          <p:nvPr/>
        </p:nvSpPr>
        <p:spPr>
          <a:xfrm>
            <a:off x="1051560" y="1950720"/>
            <a:ext cx="10317175" cy="379730"/>
          </a:xfrm>
          <a:prstGeom prst="rect">
            <a:avLst/>
          </a:prstGeom>
          <a:noFill/>
        </p:spPr>
        <p:txBody>
          <a:bodyPr wrap="square" lIns="0" rIns="0" tIns="0" bIns="0">
            <a:spAutoFit/>
          </a:bodyPr>
          <a:lstStyle/>
          <a:p>
            <a:pPr>
              <a:lnSpc>
                <a:spcPct val="130000"/>
              </a:lnSpc>
              <a:spcBef>
                <a:spcPts val="0"/>
              </a:spcBef>
              <a:spcAft>
                <a:spcPts val="0"/>
              </a:spcAft>
            </a:pPr>
            <a:r>
              <a:rPr sz="1150" b="0" i="0">
                <a:solidFill>
                  <a:srgbClr val="555560"/>
                </a:solidFill>
                <a:latin typeface="Segoe UI"/>
              </a:rPr>
              <a:t>If the two sources were truly identical, no classifier could beat chance on data it has not seen. This turns 'are the distributions the same?' into an ordinary supervised-learning problem: mix the two sources, label which is which, and see if a classifier can be trained to tell them apart.</a:t>
            </a:r>
          </a:p>
        </p:txBody>
      </p:sp>
      <p:pic>
        <p:nvPicPr>
          <p:cNvPr id="10" name="Picture 9" descr="eq_e3f4ceb15e87b6515ec6.png"/>
          <p:cNvPicPr>
            <a:picLocks noChangeAspect="1"/>
          </p:cNvPicPr>
          <p:nvPr/>
        </p:nvPicPr>
        <p:blipFill>
          <a:blip r:embed="rId3"/>
          <a:stretch>
            <a:fillRect/>
          </a:stretch>
        </p:blipFill>
        <p:spPr>
          <a:xfrm>
            <a:off x="832104" y="2403602"/>
            <a:ext cx="2734056" cy="313944"/>
          </a:xfrm>
          <a:prstGeom prst="rect">
            <a:avLst/>
          </a:prstGeom>
        </p:spPr>
      </p:pic>
      <p:sp>
        <p:nvSpPr>
          <p:cNvPr id="11" name="TextBox 10"/>
          <p:cNvSpPr txBox="1"/>
          <p:nvPr/>
        </p:nvSpPr>
        <p:spPr>
          <a:xfrm>
            <a:off x="1051560" y="2754122"/>
            <a:ext cx="10317175" cy="379730"/>
          </a:xfrm>
          <a:prstGeom prst="rect">
            <a:avLst/>
          </a:prstGeom>
          <a:noFill/>
        </p:spPr>
        <p:txBody>
          <a:bodyPr wrap="square" lIns="0" rIns="0" tIns="0" bIns="0">
            <a:spAutoFit/>
          </a:bodyPr>
          <a:lstStyle/>
          <a:p>
            <a:pPr>
              <a:lnSpc>
                <a:spcPct val="130000"/>
              </a:lnSpc>
              <a:spcBef>
                <a:spcPts val="0"/>
              </a:spcBef>
              <a:spcAft>
                <a:spcPts val="0"/>
              </a:spcAft>
            </a:pPr>
            <a:r>
              <a:rPr sz="1150" b="0" i="0">
                <a:solidFill>
                  <a:srgbClr val="555560"/>
                </a:solidFill>
                <a:latin typeface="Segoe UI"/>
              </a:rPr>
              <a:t>Probability that a randomly chosen Geant4 event scores higher than a randomly chosen generated one. 0.5 = a coin flip, indistinguishable. 1.0 = the classifier is always right. This measure needs no chosen threshold.</a:t>
            </a:r>
          </a:p>
        </p:txBody>
      </p:sp>
      <p:pic>
        <p:nvPicPr>
          <p:cNvPr id="12" name="Picture 11" descr="eq_7cd4d8b032bd8b40a7c5.png"/>
          <p:cNvPicPr>
            <a:picLocks noChangeAspect="1"/>
          </p:cNvPicPr>
          <p:nvPr/>
        </p:nvPicPr>
        <p:blipFill>
          <a:blip r:embed="rId4"/>
          <a:stretch>
            <a:fillRect/>
          </a:stretch>
        </p:blipFill>
        <p:spPr>
          <a:xfrm>
            <a:off x="832104" y="3207004"/>
            <a:ext cx="5059680" cy="399288"/>
          </a:xfrm>
          <a:prstGeom prst="rect">
            <a:avLst/>
          </a:prstGeom>
        </p:spPr>
      </p:pic>
      <p:sp>
        <p:nvSpPr>
          <p:cNvPr id="13" name="TextBox 12"/>
          <p:cNvSpPr txBox="1"/>
          <p:nvPr/>
        </p:nvSpPr>
        <p:spPr>
          <a:xfrm>
            <a:off x="1051560" y="3642868"/>
            <a:ext cx="10317175" cy="189865"/>
          </a:xfrm>
          <a:prstGeom prst="rect">
            <a:avLst/>
          </a:prstGeom>
          <a:noFill/>
        </p:spPr>
        <p:txBody>
          <a:bodyPr wrap="square" lIns="0" rIns="0" tIns="0" bIns="0">
            <a:spAutoFit/>
          </a:bodyPr>
          <a:lstStyle/>
          <a:p>
            <a:pPr>
              <a:lnSpc>
                <a:spcPct val="130000"/>
              </a:lnSpc>
              <a:spcBef>
                <a:spcPts val="0"/>
              </a:spcBef>
              <a:spcAft>
                <a:spcPts val="0"/>
              </a:spcAft>
            </a:pPr>
            <a:r>
              <a:rPr sz="1150" b="0" i="0">
                <a:solidFill>
                  <a:srgbClr val="555560"/>
                </a:solidFill>
                <a:latin typeface="Segoe UI"/>
              </a:rPr>
              <a:t>A closed-form reference for how far from 0.5 pure chance could plausibly land: with 12,000 held-out events, a 5%-significance threshold sits at 0.5089.</a:t>
            </a:r>
          </a:p>
        </p:txBody>
      </p:sp>
      <p:pic>
        <p:nvPicPr>
          <p:cNvPr id="14" name="Picture 13" descr="eq_ac597b06e88d66bf0573.png"/>
          <p:cNvPicPr>
            <a:picLocks noChangeAspect="1"/>
          </p:cNvPicPr>
          <p:nvPr/>
        </p:nvPicPr>
        <p:blipFill>
          <a:blip r:embed="rId5"/>
          <a:stretch>
            <a:fillRect/>
          </a:stretch>
        </p:blipFill>
        <p:spPr>
          <a:xfrm>
            <a:off x="832104" y="3905885"/>
            <a:ext cx="5327904" cy="323088"/>
          </a:xfrm>
          <a:prstGeom prst="rect">
            <a:avLst/>
          </a:prstGeom>
        </p:spPr>
      </p:pic>
      <p:sp>
        <p:nvSpPr>
          <p:cNvPr id="15" name="TextBox 14"/>
          <p:cNvSpPr txBox="1"/>
          <p:nvPr/>
        </p:nvSpPr>
        <p:spPr>
          <a:xfrm>
            <a:off x="1051560" y="4265549"/>
            <a:ext cx="10317175" cy="379730"/>
          </a:xfrm>
          <a:prstGeom prst="rect">
            <a:avLst/>
          </a:prstGeom>
          <a:noFill/>
        </p:spPr>
        <p:txBody>
          <a:bodyPr wrap="square" lIns="0" rIns="0" tIns="0" bIns="0">
            <a:spAutoFit/>
          </a:bodyPr>
          <a:lstStyle/>
          <a:p>
            <a:pPr>
              <a:lnSpc>
                <a:spcPct val="130000"/>
              </a:lnSpc>
              <a:spcBef>
                <a:spcPts val="0"/>
              </a:spcBef>
              <a:spcAft>
                <a:spcPts val="0"/>
              </a:spcAft>
            </a:pPr>
            <a:r>
              <a:rPr sz="1150" b="0" i="0">
                <a:solidFill>
                  <a:srgbClr val="555560"/>
                </a:solidFill>
                <a:latin typeface="Segoe UI"/>
              </a:rPr>
              <a:t>A single training's AUROC varies more than its own statistical interval suggests, so one number is not reportable on its own. Repeating the training and reporting a spread follows the same convention used in the CaloChallenge 2022 community comparison of fast-simulation models.</a:t>
            </a:r>
          </a:p>
        </p:txBody>
      </p:sp>
      <p:sp>
        <p:nvSpPr>
          <p:cNvPr id="16" name="TextBox 15"/>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26 / 46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TEST</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What was actually run</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5684266"/>
            <a:ext cx="10637215" cy="71653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5684266"/>
            <a:ext cx="44450" cy="716534"/>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5793994"/>
            <a:ext cx="10216591" cy="533654"/>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16161D"/>
                </a:solidFill>
                <a:latin typeface="Segoe UI"/>
              </a:rPr>
              <a:t>The most important row is 'conditions': feeding the generator only train-split four-vectors means the two classes' incident energies and directions cannot differ, so a classifier cannot cheat by reading the input instead of the shower.</a:t>
            </a:r>
          </a:p>
        </p:txBody>
      </p:sp>
      <p:sp>
        <p:nvSpPr>
          <p:cNvPr id="8" name="TextBox 7"/>
          <p:cNvSpPr txBox="1"/>
          <p:nvPr/>
        </p:nvSpPr>
        <p:spPr>
          <a:xfrm>
            <a:off x="777240" y="1591056"/>
            <a:ext cx="2201216"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Element</a:t>
            </a:r>
          </a:p>
        </p:txBody>
      </p:sp>
      <p:sp>
        <p:nvSpPr>
          <p:cNvPr id="9" name="TextBox 8"/>
          <p:cNvSpPr txBox="1"/>
          <p:nvPr/>
        </p:nvSpPr>
        <p:spPr>
          <a:xfrm>
            <a:off x="2978456" y="1591056"/>
            <a:ext cx="3985293"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Value</a:t>
            </a:r>
          </a:p>
        </p:txBody>
      </p:sp>
      <p:sp>
        <p:nvSpPr>
          <p:cNvPr id="10" name="TextBox 9"/>
          <p:cNvSpPr txBox="1"/>
          <p:nvPr/>
        </p:nvSpPr>
        <p:spPr>
          <a:xfrm>
            <a:off x="6963749" y="1591056"/>
            <a:ext cx="4450704"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Purpose</a:t>
            </a:r>
          </a:p>
        </p:txBody>
      </p:sp>
      <p:sp>
        <p:nvSpPr>
          <p:cNvPr id="11" name="Rectangle 10"/>
          <p:cNvSpPr/>
          <p:nvPr/>
        </p:nvSpPr>
        <p:spPr>
          <a:xfrm>
            <a:off x="777240" y="1883664"/>
            <a:ext cx="10637215" cy="12700"/>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039112"/>
            <a:ext cx="2036624"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Geant4 events</a:t>
            </a:r>
          </a:p>
        </p:txBody>
      </p:sp>
      <p:sp>
        <p:nvSpPr>
          <p:cNvPr id="13" name="TextBox 12"/>
          <p:cNvSpPr txBox="1"/>
          <p:nvPr/>
        </p:nvSpPr>
        <p:spPr>
          <a:xfrm>
            <a:off x="2978456" y="2039112"/>
            <a:ext cx="3820701"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40,000</a:t>
            </a:r>
          </a:p>
        </p:txBody>
      </p:sp>
      <p:sp>
        <p:nvSpPr>
          <p:cNvPr id="14" name="TextBox 13"/>
          <p:cNvSpPr txBox="1"/>
          <p:nvPr/>
        </p:nvSpPr>
        <p:spPr>
          <a:xfrm>
            <a:off x="6963749" y="2039112"/>
            <a:ext cx="4286112"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drawn from the sealed test split</a:t>
            </a:r>
          </a:p>
        </p:txBody>
      </p:sp>
      <p:sp>
        <p:nvSpPr>
          <p:cNvPr id="15" name="Rectangle 14"/>
          <p:cNvSpPr/>
          <p:nvPr/>
        </p:nvSpPr>
        <p:spPr>
          <a:xfrm>
            <a:off x="685800" y="2313432"/>
            <a:ext cx="10820095" cy="32918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368296"/>
            <a:ext cx="2036624"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Fast-MC events</a:t>
            </a:r>
          </a:p>
        </p:txBody>
      </p:sp>
      <p:sp>
        <p:nvSpPr>
          <p:cNvPr id="17" name="TextBox 16"/>
          <p:cNvSpPr txBox="1"/>
          <p:nvPr/>
        </p:nvSpPr>
        <p:spPr>
          <a:xfrm>
            <a:off x="2978456" y="2368296"/>
            <a:ext cx="3820701"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40,000</a:t>
            </a:r>
          </a:p>
        </p:txBody>
      </p:sp>
      <p:sp>
        <p:nvSpPr>
          <p:cNvPr id="18" name="TextBox 17"/>
          <p:cNvSpPr txBox="1"/>
          <p:nvPr/>
        </p:nvSpPr>
        <p:spPr>
          <a:xfrm>
            <a:off x="6963749" y="2368296"/>
            <a:ext cx="4286112"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10,000 from each of the four trained variants</a:t>
            </a:r>
          </a:p>
        </p:txBody>
      </p:sp>
      <p:sp>
        <p:nvSpPr>
          <p:cNvPr id="19" name="TextBox 18"/>
          <p:cNvSpPr txBox="1"/>
          <p:nvPr/>
        </p:nvSpPr>
        <p:spPr>
          <a:xfrm>
            <a:off x="777240" y="2697480"/>
            <a:ext cx="2036624"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Conditions</a:t>
            </a:r>
          </a:p>
        </p:txBody>
      </p:sp>
      <p:sp>
        <p:nvSpPr>
          <p:cNvPr id="20" name="TextBox 19"/>
          <p:cNvSpPr txBox="1"/>
          <p:nvPr/>
        </p:nvSpPr>
        <p:spPr>
          <a:xfrm>
            <a:off x="2978456" y="2697480"/>
            <a:ext cx="3820701"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train-split four-vectors</a:t>
            </a:r>
          </a:p>
        </p:txBody>
      </p:sp>
      <p:sp>
        <p:nvSpPr>
          <p:cNvPr id="21" name="TextBox 20"/>
          <p:cNvSpPr txBox="1"/>
          <p:nvPr/>
        </p:nvSpPr>
        <p:spPr>
          <a:xfrm>
            <a:off x="6963749" y="2697480"/>
            <a:ext cx="4286112"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keeps test conditions out of the generator</a:t>
            </a:r>
          </a:p>
        </p:txBody>
      </p:sp>
      <p:sp>
        <p:nvSpPr>
          <p:cNvPr id="22" name="Rectangle 21"/>
          <p:cNvSpPr/>
          <p:nvPr/>
        </p:nvSpPr>
        <p:spPr>
          <a:xfrm>
            <a:off x="685800" y="2971800"/>
            <a:ext cx="10820095" cy="32918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3026664"/>
            <a:ext cx="2036624"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Classifier input</a:t>
            </a:r>
          </a:p>
        </p:txBody>
      </p:sp>
      <p:sp>
        <p:nvSpPr>
          <p:cNvPr id="24" name="TextBox 23"/>
          <p:cNvSpPr txBox="1"/>
          <p:nvPr/>
        </p:nvSpPr>
        <p:spPr>
          <a:xfrm>
            <a:off x="2978456" y="3026664"/>
            <a:ext cx="3820701"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6,790 channels + geometry + four-vector</a:t>
            </a:r>
          </a:p>
        </p:txBody>
      </p:sp>
      <p:sp>
        <p:nvSpPr>
          <p:cNvPr id="25" name="TextBox 24"/>
          <p:cNvSpPr txBox="1"/>
          <p:nvPr/>
        </p:nvSpPr>
        <p:spPr>
          <a:xfrm>
            <a:off x="6963749" y="3026664"/>
            <a:ext cx="4286112"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the full readout</a:t>
            </a:r>
          </a:p>
        </p:txBody>
      </p:sp>
      <p:sp>
        <p:nvSpPr>
          <p:cNvPr id="26" name="TextBox 25"/>
          <p:cNvSpPr txBox="1"/>
          <p:nvPr/>
        </p:nvSpPr>
        <p:spPr>
          <a:xfrm>
            <a:off x="777240" y="3355848"/>
            <a:ext cx="2036624"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Partition</a:t>
            </a:r>
          </a:p>
        </p:txBody>
      </p:sp>
      <p:sp>
        <p:nvSpPr>
          <p:cNvPr id="27" name="TextBox 26"/>
          <p:cNvSpPr txBox="1"/>
          <p:nvPr/>
        </p:nvSpPr>
        <p:spPr>
          <a:xfrm>
            <a:off x="2978456" y="3355848"/>
            <a:ext cx="3820701"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70 / 15 / 15</a:t>
            </a:r>
          </a:p>
        </p:txBody>
      </p:sp>
      <p:sp>
        <p:nvSpPr>
          <p:cNvPr id="28" name="TextBox 27"/>
          <p:cNvSpPr txBox="1"/>
          <p:nvPr/>
        </p:nvSpPr>
        <p:spPr>
          <a:xfrm>
            <a:off x="6963749" y="3355848"/>
            <a:ext cx="4286112"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the scored 15% is touched exactly once</a:t>
            </a:r>
          </a:p>
        </p:txBody>
      </p:sp>
      <p:sp>
        <p:nvSpPr>
          <p:cNvPr id="29" name="Rectangle 28"/>
          <p:cNvSpPr/>
          <p:nvPr/>
        </p:nvSpPr>
        <p:spPr>
          <a:xfrm>
            <a:off x="685800" y="3630168"/>
            <a:ext cx="10820095" cy="32918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3685032"/>
            <a:ext cx="2036624"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Repeats</a:t>
            </a:r>
          </a:p>
        </p:txBody>
      </p:sp>
      <p:sp>
        <p:nvSpPr>
          <p:cNvPr id="31" name="TextBox 30"/>
          <p:cNvSpPr txBox="1"/>
          <p:nvPr/>
        </p:nvSpPr>
        <p:spPr>
          <a:xfrm>
            <a:off x="2978456" y="3685032"/>
            <a:ext cx="3820701"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5</a:t>
            </a:r>
          </a:p>
        </p:txBody>
      </p:sp>
      <p:sp>
        <p:nvSpPr>
          <p:cNvPr id="32" name="TextBox 31"/>
          <p:cNvSpPr txBox="1"/>
          <p:nvPr/>
        </p:nvSpPr>
        <p:spPr>
          <a:xfrm>
            <a:off x="6963749" y="3685032"/>
            <a:ext cx="4286112"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reported as mean +/- spread</a:t>
            </a:r>
          </a:p>
        </p:txBody>
      </p:sp>
      <p:sp>
        <p:nvSpPr>
          <p:cNvPr id="33" name="TextBox 32"/>
          <p:cNvSpPr txBox="1"/>
          <p:nvPr/>
        </p:nvSpPr>
        <p:spPr>
          <a:xfrm>
            <a:off x="777240" y="4014216"/>
            <a:ext cx="2036624"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Controls</a:t>
            </a:r>
          </a:p>
        </p:txBody>
      </p:sp>
      <p:sp>
        <p:nvSpPr>
          <p:cNvPr id="34" name="TextBox 33"/>
          <p:cNvSpPr txBox="1"/>
          <p:nvPr/>
        </p:nvSpPr>
        <p:spPr>
          <a:xfrm>
            <a:off x="2978456" y="4014216"/>
            <a:ext cx="3820701"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3</a:t>
            </a:r>
          </a:p>
        </p:txBody>
      </p:sp>
      <p:sp>
        <p:nvSpPr>
          <p:cNvPr id="35" name="TextBox 34"/>
          <p:cNvSpPr txBox="1"/>
          <p:nvPr/>
        </p:nvSpPr>
        <p:spPr>
          <a:xfrm>
            <a:off x="6963749" y="4014216"/>
            <a:ext cx="4286112"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described on the next slide</a:t>
            </a:r>
          </a:p>
        </p:txBody>
      </p:sp>
      <p:sp>
        <p:nvSpPr>
          <p:cNvPr id="36" name="TextBox 35"/>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27 / 46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TEST</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What each classifier looks like</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32_classifier_architectures.png"/>
          <p:cNvPicPr>
            <a:picLocks noChangeAspect="1"/>
          </p:cNvPicPr>
          <p:nvPr/>
        </p:nvPicPr>
        <p:blipFill>
          <a:blip r:embed="rId2"/>
          <a:stretch>
            <a:fillRect/>
          </a:stretch>
        </p:blipFill>
        <p:spPr>
          <a:xfrm>
            <a:off x="2994088" y="1591056"/>
            <a:ext cx="6203518" cy="3759707"/>
          </a:xfrm>
          <a:prstGeom prst="rect">
            <a:avLst/>
          </a:prstGeom>
        </p:spPr>
      </p:pic>
      <p:sp>
        <p:nvSpPr>
          <p:cNvPr id="6" name="Rectangle 5"/>
          <p:cNvSpPr/>
          <p:nvPr/>
        </p:nvSpPr>
        <p:spPr>
          <a:xfrm>
            <a:off x="777240" y="5533643"/>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670803"/>
            <a:ext cx="10637215" cy="803149"/>
          </a:xfrm>
          <a:prstGeom prst="rect">
            <a:avLst/>
          </a:prstGeom>
          <a:noFill/>
        </p:spPr>
        <p:txBody>
          <a:bodyPr wrap="square" lIns="0" rIns="0" tIns="0" bIns="0">
            <a:spAutoFit/>
          </a:bodyPr>
          <a:lstStyle/>
          <a:p>
            <a:pPr>
              <a:lnSpc>
                <a:spcPct val="130000"/>
              </a:lnSpc>
              <a:spcBef>
                <a:spcPts val="0"/>
              </a:spcBef>
              <a:spcAft>
                <a:spcPts val="500"/>
              </a:spcAft>
            </a:pPr>
            <a:r>
              <a:rPr sz="1400" b="0" i="0">
                <a:solidFill>
                  <a:srgbClr val="16161D"/>
                </a:solidFill>
                <a:latin typeface="Segoe UI"/>
              </a:rPr>
              <a:t>One primary model plus three controls, all producing a single number: how Geant4-like is this event? The condition-only control is the validity check for the whole test — if it alone can separate the classes, the two sets of four-vectors were mismatched and every other result on the next slides is void.</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28 / 46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RESULT</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How well can a classifier tell them apart?</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91056"/>
            <a:ext cx="10637215" cy="365760"/>
          </a:xfrm>
          <a:prstGeom prst="rect">
            <a:avLst/>
          </a:prstGeom>
          <a:noFill/>
        </p:spPr>
        <p:txBody>
          <a:bodyPr wrap="square" lIns="0" rIns="0" tIns="0" bIns="0">
            <a:spAutoFit/>
          </a:bodyPr>
          <a:lstStyle/>
          <a:p>
            <a:pPr>
              <a:lnSpc>
                <a:spcPct val="130000"/>
              </a:lnSpc>
              <a:spcBef>
                <a:spcPts val="0"/>
              </a:spcBef>
              <a:spcAft>
                <a:spcPts val="0"/>
              </a:spcAft>
            </a:pPr>
            <a:r>
              <a:rPr sz="1500" b="0" i="0">
                <a:solidFill>
                  <a:srgbClr val="555560"/>
                </a:solidFill>
                <a:latin typeface="Segoe UI"/>
              </a:rPr>
              <a:t>A classifier was shown real Geant4 events and generated events, mixed together and unlabelled, and asked to guess which is which. A score of 0.5 is a coin flip. A score of 1.0 means it is always right.</a:t>
            </a:r>
          </a:p>
        </p:txBody>
      </p:sp>
      <p:sp>
        <p:nvSpPr>
          <p:cNvPr id="6" name="Rectangle 5"/>
          <p:cNvSpPr/>
          <p:nvPr/>
        </p:nvSpPr>
        <p:spPr>
          <a:xfrm>
            <a:off x="777240" y="2269236"/>
            <a:ext cx="10637215" cy="1536192"/>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488692"/>
            <a:ext cx="10637215" cy="1188720"/>
          </a:xfrm>
          <a:prstGeom prst="rect">
            <a:avLst/>
          </a:prstGeom>
          <a:noFill/>
        </p:spPr>
        <p:txBody>
          <a:bodyPr wrap="square" lIns="0" rIns="0" tIns="0" bIns="0">
            <a:spAutoFit/>
          </a:bodyPr>
          <a:lstStyle/>
          <a:p>
            <a:pPr algn="ctr">
              <a:spcAft>
                <a:spcPts val="600"/>
              </a:spcAft>
            </a:pPr>
            <a:r>
              <a:rPr sz="6000" b="1" i="0">
                <a:solidFill>
                  <a:srgbClr val="D1495B"/>
                </a:solidFill>
                <a:latin typeface="Segoe UI"/>
              </a:rPr>
              <a:t>0.99945</a:t>
            </a:r>
          </a:p>
          <a:p>
            <a:pPr algn="ctr"/>
            <a:r>
              <a:rPr sz="1500" b="0" i="0">
                <a:solidFill>
                  <a:srgbClr val="555560"/>
                </a:solidFill>
                <a:latin typeface="Segoe UI"/>
              </a:rPr>
              <a:t>AUROC, mean +/- 0.00009 over 5 independent trainings</a:t>
            </a:r>
          </a:p>
        </p:txBody>
      </p:sp>
      <p:sp>
        <p:nvSpPr>
          <p:cNvPr id="8" name="Rectangle 7"/>
          <p:cNvSpPr/>
          <p:nvPr/>
        </p:nvSpPr>
        <p:spPr>
          <a:xfrm>
            <a:off x="1051560" y="4098036"/>
            <a:ext cx="10088575" cy="219456"/>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51560" y="4098036"/>
            <a:ext cx="10077517" cy="219456"/>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110027" y="4043172"/>
            <a:ext cx="38100" cy="329184"/>
          </a:xfrm>
          <a:prstGeom prst="rect">
            <a:avLst/>
          </a:prstGeom>
          <a:solidFill>
            <a:srgbClr val="1616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02775" y="3695700"/>
            <a:ext cx="1737360" cy="292608"/>
          </a:xfrm>
          <a:prstGeom prst="rect">
            <a:avLst/>
          </a:prstGeom>
          <a:noFill/>
        </p:spPr>
        <p:txBody>
          <a:bodyPr wrap="square" lIns="0" rIns="0" tIns="0" bIns="0">
            <a:spAutoFit/>
          </a:bodyPr>
          <a:lstStyle/>
          <a:p>
            <a:pPr algn="ctr"/>
            <a:r>
              <a:rPr sz="1600" b="1" i="0">
                <a:solidFill>
                  <a:srgbClr val="D1495B"/>
                </a:solidFill>
                <a:latin typeface="Segoe UI"/>
              </a:rPr>
              <a:t>0.99945</a:t>
            </a:r>
          </a:p>
        </p:txBody>
      </p:sp>
      <p:sp>
        <p:nvSpPr>
          <p:cNvPr id="12" name="TextBox 11"/>
          <p:cNvSpPr txBox="1"/>
          <p:nvPr/>
        </p:nvSpPr>
        <p:spPr>
          <a:xfrm>
            <a:off x="1051560" y="4408932"/>
            <a:ext cx="3108960" cy="256032"/>
          </a:xfrm>
          <a:prstGeom prst="rect">
            <a:avLst/>
          </a:prstGeom>
          <a:noFill/>
        </p:spPr>
        <p:txBody>
          <a:bodyPr wrap="square" lIns="0" rIns="0" tIns="0" bIns="0">
            <a:spAutoFit/>
          </a:bodyPr>
          <a:lstStyle/>
          <a:p>
            <a:pPr>
              <a:lnSpc>
                <a:spcPct val="130000"/>
              </a:lnSpc>
              <a:spcBef>
                <a:spcPts val="0"/>
              </a:spcBef>
              <a:spcAft>
                <a:spcPts val="0"/>
              </a:spcAft>
            </a:pPr>
            <a:r>
              <a:rPr sz="1200" b="0" i="0">
                <a:solidFill>
                  <a:srgbClr val="555560"/>
                </a:solidFill>
                <a:latin typeface="Segoe UI"/>
              </a:rPr>
              <a:t>0.5 = can't tell them apart</a:t>
            </a:r>
          </a:p>
        </p:txBody>
      </p:sp>
      <p:sp>
        <p:nvSpPr>
          <p:cNvPr id="13" name="TextBox 12"/>
          <p:cNvSpPr txBox="1"/>
          <p:nvPr/>
        </p:nvSpPr>
        <p:spPr>
          <a:xfrm>
            <a:off x="8031175" y="4408932"/>
            <a:ext cx="3108960" cy="256032"/>
          </a:xfrm>
          <a:prstGeom prst="rect">
            <a:avLst/>
          </a:prstGeom>
          <a:noFill/>
        </p:spPr>
        <p:txBody>
          <a:bodyPr wrap="square" lIns="0" rIns="0" tIns="0" bIns="0">
            <a:spAutoFit/>
          </a:bodyPr>
          <a:lstStyle/>
          <a:p>
            <a:pPr algn="r"/>
            <a:r>
              <a:rPr sz="1200" b="0" i="0">
                <a:solidFill>
                  <a:srgbClr val="555560"/>
                </a:solidFill>
                <a:latin typeface="Segoe UI"/>
              </a:rPr>
              <a:t>1.0 = always right</a:t>
            </a:r>
          </a:p>
        </p:txBody>
      </p:sp>
      <p:pic>
        <p:nvPicPr>
          <p:cNvPr id="14" name="Picture 13" descr="eq_aad52f96a287832e73ef.png"/>
          <p:cNvPicPr>
            <a:picLocks noChangeAspect="1"/>
          </p:cNvPicPr>
          <p:nvPr/>
        </p:nvPicPr>
        <p:blipFill>
          <a:blip r:embed="rId2"/>
          <a:stretch>
            <a:fillRect/>
          </a:stretch>
        </p:blipFill>
        <p:spPr>
          <a:xfrm>
            <a:off x="832104" y="4866132"/>
            <a:ext cx="2270760" cy="405384"/>
          </a:xfrm>
          <a:prstGeom prst="rect">
            <a:avLst/>
          </a:prstGeom>
        </p:spPr>
      </p:pic>
      <p:sp>
        <p:nvSpPr>
          <p:cNvPr id="15" name="TextBox 14"/>
          <p:cNvSpPr txBox="1"/>
          <p:nvPr/>
        </p:nvSpPr>
        <p:spPr>
          <a:xfrm>
            <a:off x="1051560" y="5308092"/>
            <a:ext cx="10317175" cy="189865"/>
          </a:xfrm>
          <a:prstGeom prst="rect">
            <a:avLst/>
          </a:prstGeom>
          <a:noFill/>
        </p:spPr>
        <p:txBody>
          <a:bodyPr wrap="square" lIns="0" rIns="0" tIns="0" bIns="0">
            <a:spAutoFit/>
          </a:bodyPr>
          <a:lstStyle/>
          <a:p>
            <a:pPr>
              <a:lnSpc>
                <a:spcPct val="130000"/>
              </a:lnSpc>
              <a:spcBef>
                <a:spcPts val="0"/>
              </a:spcBef>
              <a:spcAft>
                <a:spcPts val="0"/>
              </a:spcAft>
            </a:pPr>
            <a:r>
              <a:rPr sz="1150" b="0" i="0">
                <a:solidFill>
                  <a:srgbClr val="555560"/>
                </a:solidFill>
                <a:latin typeface="Segoe UI"/>
              </a:rPr>
              <a:t>The measured accuracy sits 107 chance-level standard deviations above a coin flip — background noise essentially never produces this by luck.</a:t>
            </a:r>
          </a:p>
        </p:txBody>
      </p:sp>
      <p:pic>
        <p:nvPicPr>
          <p:cNvPr id="16" name="Picture 15" descr="eq_8389b4a2a3a4e6dded7d.png"/>
          <p:cNvPicPr>
            <a:picLocks noChangeAspect="1"/>
          </p:cNvPicPr>
          <p:nvPr/>
        </p:nvPicPr>
        <p:blipFill>
          <a:blip r:embed="rId3"/>
          <a:stretch>
            <a:fillRect/>
          </a:stretch>
        </p:blipFill>
        <p:spPr>
          <a:xfrm>
            <a:off x="832104" y="5571109"/>
            <a:ext cx="7482840" cy="323088"/>
          </a:xfrm>
          <a:prstGeom prst="rect">
            <a:avLst/>
          </a:prstGeom>
        </p:spPr>
      </p:pic>
      <p:sp>
        <p:nvSpPr>
          <p:cNvPr id="17" name="TextBox 16"/>
          <p:cNvSpPr txBox="1"/>
          <p:nvPr/>
        </p:nvSpPr>
        <p:spPr>
          <a:xfrm>
            <a:off x="1051560" y="5930773"/>
            <a:ext cx="10317175" cy="569595"/>
          </a:xfrm>
          <a:prstGeom prst="rect">
            <a:avLst/>
          </a:prstGeom>
          <a:noFill/>
        </p:spPr>
        <p:txBody>
          <a:bodyPr wrap="square" lIns="0" rIns="0" tIns="0" bIns="0">
            <a:spAutoFit/>
          </a:bodyPr>
          <a:lstStyle/>
          <a:p>
            <a:pPr>
              <a:lnSpc>
                <a:spcPct val="130000"/>
              </a:lnSpc>
              <a:spcBef>
                <a:spcPts val="0"/>
              </a:spcBef>
              <a:spcAft>
                <a:spcPts val="0"/>
              </a:spcAft>
            </a:pPr>
            <a:r>
              <a:rPr sz="1150" b="0" i="0">
                <a:solidFill>
                  <a:srgbClr val="555560"/>
                </a:solidFill>
                <a:latin typeface="Segoe UI"/>
              </a:rPr>
              <a:t>A version of the same test that is shown ONLY the neutron's energy and direction, no detector data at all, scores at the exact chance level to five decimal places. This confirms the high score above comes from real differences in the simulated detector data, not from any mismatch in how the two datasets were built.</a:t>
            </a:r>
          </a:p>
        </p:txBody>
      </p:sp>
      <p:sp>
        <p:nvSpPr>
          <p:cNvPr id="18" name="TextBox 1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29 / 46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RESULT</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ROC curves, primary model and controls</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sults_fig01_roc_curves.png"/>
          <p:cNvPicPr>
            <a:picLocks noChangeAspect="1"/>
          </p:cNvPicPr>
          <p:nvPr/>
        </p:nvPicPr>
        <p:blipFill>
          <a:blip r:embed="rId2"/>
          <a:stretch>
            <a:fillRect/>
          </a:stretch>
        </p:blipFill>
        <p:spPr>
          <a:xfrm>
            <a:off x="777240" y="1591056"/>
            <a:ext cx="4715543" cy="4809744"/>
          </a:xfrm>
          <a:prstGeom prst="rect">
            <a:avLst/>
          </a:prstGeom>
        </p:spPr>
      </p:pic>
      <p:sp>
        <p:nvSpPr>
          <p:cNvPr id="6" name="Rectangle 5"/>
          <p:cNvSpPr/>
          <p:nvPr/>
        </p:nvSpPr>
        <p:spPr>
          <a:xfrm>
            <a:off x="7955280" y="1627632"/>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0" y="1828800"/>
            <a:ext cx="3459175" cy="4553712"/>
          </a:xfrm>
          <a:prstGeom prst="rect">
            <a:avLst/>
          </a:prstGeom>
          <a:noFill/>
        </p:spPr>
        <p:txBody>
          <a:bodyPr wrap="square" lIns="0" rIns="0" tIns="0" bIns="0">
            <a:spAutoFit/>
          </a:bodyPr>
          <a:lstStyle/>
          <a:p>
            <a:pPr>
              <a:lnSpc>
                <a:spcPct val="130000"/>
              </a:lnSpc>
              <a:spcBef>
                <a:spcPts val="0"/>
              </a:spcBef>
              <a:spcAft>
                <a:spcPts val="700"/>
              </a:spcAft>
            </a:pPr>
            <a:r>
              <a:rPr sz="1400" b="0" i="0">
                <a:solidFill>
                  <a:srgbClr val="16161D"/>
                </a:solidFill>
                <a:latin typeface="Segoe UI"/>
              </a:rPr>
              <a:t>Hybrid (primary, sees geometry): 0.9996.</a:t>
            </a:r>
          </a:p>
          <a:p>
            <a:pPr>
              <a:lnSpc>
                <a:spcPct val="130000"/>
              </a:lnSpc>
              <a:spcBef>
                <a:spcPts val="0"/>
              </a:spcBef>
              <a:spcAft>
                <a:spcPts val="700"/>
              </a:spcAft>
            </a:pPr>
            <a:r>
              <a:rPr sz="1400" b="0" i="0">
                <a:solidFill>
                  <a:srgbClr val="16161D"/>
                </a:solidFill>
                <a:latin typeface="Segoe UI"/>
              </a:rPr>
              <a:t>Dense (geometry-blind, all 6,790 channels): 0.9962.</a:t>
            </a:r>
          </a:p>
          <a:p>
            <a:pPr>
              <a:lnSpc>
                <a:spcPct val="130000"/>
              </a:lnSpc>
              <a:spcBef>
                <a:spcPts val="0"/>
              </a:spcBef>
              <a:spcAft>
                <a:spcPts val="700"/>
              </a:spcAft>
            </a:pPr>
            <a:r>
              <a:rPr sz="1400" b="0" i="0">
                <a:solidFill>
                  <a:srgbClr val="16161D"/>
                </a:solidFill>
                <a:latin typeface="Segoe UI"/>
              </a:rPr>
              <a:t>Feature GBM (15 shower-shape numbers only): 0.9852.</a:t>
            </a:r>
          </a:p>
          <a:p>
            <a:pPr>
              <a:lnSpc>
                <a:spcPct val="130000"/>
              </a:lnSpc>
              <a:spcBef>
                <a:spcPts val="0"/>
              </a:spcBef>
              <a:spcAft>
                <a:spcPts val="700"/>
              </a:spcAft>
            </a:pPr>
            <a:r>
              <a:rPr sz="1400" b="0" i="0">
                <a:solidFill>
                  <a:srgbClr val="16161D"/>
                </a:solidFill>
                <a:latin typeface="Segoe UI"/>
              </a:rPr>
              <a:t>Condition-only (no detector data): 0.5036, on the diagonal.</a:t>
            </a:r>
          </a:p>
          <a:p>
            <a:pPr>
              <a:lnSpc>
                <a:spcPct val="130000"/>
              </a:lnSpc>
              <a:spcBef>
                <a:spcPts val="0"/>
              </a:spcBef>
              <a:spcAft>
                <a:spcPts val="700"/>
              </a:spcAft>
            </a:pPr>
            <a:r>
              <a:rPr sz="1400" b="0" i="0">
                <a:solidFill>
                  <a:srgbClr val="16161D"/>
                </a:solidFill>
                <a:latin typeface="Segoe UI"/>
              </a:rPr>
              <a:t>Separability survives every simplification of the input representation, so it is not an artefact of one particular way of encoding the event.</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30 / 46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DIAGNOSIS</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Which observables carry the signal?</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91056"/>
            <a:ext cx="10637215" cy="365760"/>
          </a:xfrm>
          <a:prstGeom prst="rect">
            <a:avLst/>
          </a:prstGeom>
          <a:noFill/>
        </p:spPr>
        <p:txBody>
          <a:bodyPr wrap="square" lIns="0" rIns="0" tIns="0" bIns="0">
            <a:spAutoFit/>
          </a:bodyPr>
          <a:lstStyle/>
          <a:p>
            <a:pPr>
              <a:lnSpc>
                <a:spcPct val="130000"/>
              </a:lnSpc>
              <a:spcBef>
                <a:spcPts val="0"/>
              </a:spcBef>
              <a:spcAft>
                <a:spcPts val="0"/>
              </a:spcAft>
            </a:pPr>
            <a:r>
              <a:rPr sz="1500" b="0" i="0">
                <a:solidFill>
                  <a:srgbClr val="555560"/>
                </a:solidFill>
                <a:latin typeface="Segoe UI"/>
              </a:rPr>
              <a:t>Each observable scored on its own. 0.5 = carries no information about which class it is.</a:t>
            </a:r>
          </a:p>
        </p:txBody>
      </p:sp>
      <p:sp>
        <p:nvSpPr>
          <p:cNvPr id="6" name="Rectangle 5"/>
          <p:cNvSpPr/>
          <p:nvPr/>
        </p:nvSpPr>
        <p:spPr>
          <a:xfrm>
            <a:off x="777240" y="5684266"/>
            <a:ext cx="10637215" cy="71653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5684266"/>
            <a:ext cx="44450" cy="716534"/>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6696" y="5793994"/>
            <a:ext cx="10216591" cy="533654"/>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16161D"/>
                </a:solidFill>
                <a:latin typeface="Segoe UI"/>
              </a:rPr>
              <a:t>The pooled classifiers reach 0.985-0.9995 while no single observable exceeds 0.756, so the separation is spread across many observables at once. The global energy budget is right; the arrangement WITHIN each layer is not.</a:t>
            </a:r>
          </a:p>
        </p:txBody>
      </p:sp>
      <p:sp>
        <p:nvSpPr>
          <p:cNvPr id="9" name="Rectangle 8"/>
          <p:cNvSpPr/>
          <p:nvPr/>
        </p:nvSpPr>
        <p:spPr>
          <a:xfrm>
            <a:off x="777240" y="2058161"/>
            <a:ext cx="4998567" cy="38100"/>
          </a:xfrm>
          <a:prstGeom prst="rect">
            <a:avLst/>
          </a:prstGeom>
          <a:solidFill>
            <a:srgbClr val="2B4C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222753"/>
            <a:ext cx="4998567" cy="310896"/>
          </a:xfrm>
          <a:prstGeom prst="rect">
            <a:avLst/>
          </a:prstGeom>
          <a:noFill/>
        </p:spPr>
        <p:txBody>
          <a:bodyPr wrap="square" lIns="0" rIns="0" tIns="0" bIns="0">
            <a:spAutoFit/>
          </a:bodyPr>
          <a:lstStyle/>
          <a:p>
            <a:pPr>
              <a:lnSpc>
                <a:spcPct val="130000"/>
              </a:lnSpc>
              <a:spcBef>
                <a:spcPts val="0"/>
              </a:spcBef>
              <a:spcAft>
                <a:spcPts val="0"/>
              </a:spcAft>
            </a:pPr>
            <a:r>
              <a:rPr sz="1700" b="1" i="0">
                <a:solidFill>
                  <a:srgbClr val="2B4C7E"/>
                </a:solidFill>
                <a:latin typeface="Segoe UI"/>
              </a:rPr>
              <a:t>At chance</a:t>
            </a:r>
          </a:p>
        </p:txBody>
      </p:sp>
      <p:sp>
        <p:nvSpPr>
          <p:cNvPr id="11" name="TextBox 10"/>
          <p:cNvSpPr txBox="1"/>
          <p:nvPr/>
        </p:nvSpPr>
        <p:spPr>
          <a:xfrm>
            <a:off x="777240" y="2734817"/>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hit count</a:t>
            </a:r>
          </a:p>
        </p:txBody>
      </p:sp>
      <p:sp>
        <p:nvSpPr>
          <p:cNvPr id="12" name="TextBox 11"/>
          <p:cNvSpPr txBox="1"/>
          <p:nvPr/>
        </p:nvSpPr>
        <p:spPr>
          <a:xfrm>
            <a:off x="4175607" y="2734817"/>
            <a:ext cx="1600200" cy="384048"/>
          </a:xfrm>
          <a:prstGeom prst="rect">
            <a:avLst/>
          </a:prstGeom>
          <a:noFill/>
        </p:spPr>
        <p:txBody>
          <a:bodyPr wrap="square" lIns="0" rIns="0" tIns="0" bIns="0">
            <a:spAutoFit/>
          </a:bodyPr>
          <a:lstStyle/>
          <a:p>
            <a:pPr algn="r">
              <a:spcAft>
                <a:spcPts val="0"/>
              </a:spcAft>
            </a:pPr>
            <a:r>
              <a:rPr sz="1500" b="1" i="0">
                <a:solidFill>
                  <a:srgbClr val="2B4C7E"/>
                </a:solidFill>
                <a:latin typeface="Consolas"/>
              </a:rPr>
              <a:t>0.5024</a:t>
            </a:r>
          </a:p>
        </p:txBody>
      </p:sp>
      <p:sp>
        <p:nvSpPr>
          <p:cNvPr id="13" name="Rectangle 12"/>
          <p:cNvSpPr/>
          <p:nvPr/>
        </p:nvSpPr>
        <p:spPr>
          <a:xfrm>
            <a:off x="704088" y="3109721"/>
            <a:ext cx="5144871" cy="402336"/>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137153"/>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depth centroid</a:t>
            </a:r>
          </a:p>
        </p:txBody>
      </p:sp>
      <p:sp>
        <p:nvSpPr>
          <p:cNvPr id="15" name="TextBox 14"/>
          <p:cNvSpPr txBox="1"/>
          <p:nvPr/>
        </p:nvSpPr>
        <p:spPr>
          <a:xfrm>
            <a:off x="4175607" y="3137153"/>
            <a:ext cx="1600200" cy="384048"/>
          </a:xfrm>
          <a:prstGeom prst="rect">
            <a:avLst/>
          </a:prstGeom>
          <a:noFill/>
        </p:spPr>
        <p:txBody>
          <a:bodyPr wrap="square" lIns="0" rIns="0" tIns="0" bIns="0">
            <a:spAutoFit/>
          </a:bodyPr>
          <a:lstStyle/>
          <a:p>
            <a:pPr algn="r">
              <a:spcAft>
                <a:spcPts val="0"/>
              </a:spcAft>
            </a:pPr>
            <a:r>
              <a:rPr sz="1500" b="1" i="0">
                <a:solidFill>
                  <a:srgbClr val="2B4C7E"/>
                </a:solidFill>
                <a:latin typeface="Consolas"/>
              </a:rPr>
              <a:t>0.5043</a:t>
            </a:r>
          </a:p>
        </p:txBody>
      </p:sp>
      <p:sp>
        <p:nvSpPr>
          <p:cNvPr id="16" name="TextBox 15"/>
          <p:cNvSpPr txBox="1"/>
          <p:nvPr/>
        </p:nvSpPr>
        <p:spPr>
          <a:xfrm>
            <a:off x="777240" y="3539489"/>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ECAL fraction</a:t>
            </a:r>
          </a:p>
        </p:txBody>
      </p:sp>
      <p:sp>
        <p:nvSpPr>
          <p:cNvPr id="17" name="TextBox 16"/>
          <p:cNvSpPr txBox="1"/>
          <p:nvPr/>
        </p:nvSpPr>
        <p:spPr>
          <a:xfrm>
            <a:off x="4175607" y="3539489"/>
            <a:ext cx="1600200" cy="384048"/>
          </a:xfrm>
          <a:prstGeom prst="rect">
            <a:avLst/>
          </a:prstGeom>
          <a:noFill/>
        </p:spPr>
        <p:txBody>
          <a:bodyPr wrap="square" lIns="0" rIns="0" tIns="0" bIns="0">
            <a:spAutoFit/>
          </a:bodyPr>
          <a:lstStyle/>
          <a:p>
            <a:pPr algn="r">
              <a:spcAft>
                <a:spcPts val="0"/>
              </a:spcAft>
            </a:pPr>
            <a:r>
              <a:rPr sz="1500" b="1" i="0">
                <a:solidFill>
                  <a:srgbClr val="2B4C7E"/>
                </a:solidFill>
                <a:latin typeface="Consolas"/>
              </a:rPr>
              <a:t>0.5063</a:t>
            </a:r>
          </a:p>
        </p:txBody>
      </p:sp>
      <p:sp>
        <p:nvSpPr>
          <p:cNvPr id="18" name="Rectangle 17"/>
          <p:cNvSpPr/>
          <p:nvPr/>
        </p:nvSpPr>
        <p:spPr>
          <a:xfrm>
            <a:off x="704088" y="3914393"/>
            <a:ext cx="5144871" cy="402336"/>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941825"/>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total response</a:t>
            </a:r>
          </a:p>
        </p:txBody>
      </p:sp>
      <p:sp>
        <p:nvSpPr>
          <p:cNvPr id="20" name="TextBox 19"/>
          <p:cNvSpPr txBox="1"/>
          <p:nvPr/>
        </p:nvSpPr>
        <p:spPr>
          <a:xfrm>
            <a:off x="4175607" y="3941825"/>
            <a:ext cx="1600200" cy="384048"/>
          </a:xfrm>
          <a:prstGeom prst="rect">
            <a:avLst/>
          </a:prstGeom>
          <a:noFill/>
        </p:spPr>
        <p:txBody>
          <a:bodyPr wrap="square" lIns="0" rIns="0" tIns="0" bIns="0">
            <a:spAutoFit/>
          </a:bodyPr>
          <a:lstStyle/>
          <a:p>
            <a:pPr algn="r">
              <a:spcAft>
                <a:spcPts val="0"/>
              </a:spcAft>
            </a:pPr>
            <a:r>
              <a:rPr sz="1500" b="1" i="0">
                <a:solidFill>
                  <a:srgbClr val="2B4C7E"/>
                </a:solidFill>
                <a:latin typeface="Consolas"/>
              </a:rPr>
              <a:t>0.5104</a:t>
            </a:r>
          </a:p>
        </p:txBody>
      </p:sp>
      <p:sp>
        <p:nvSpPr>
          <p:cNvPr id="21" name="Rectangle 20"/>
          <p:cNvSpPr/>
          <p:nvPr/>
        </p:nvSpPr>
        <p:spPr>
          <a:xfrm>
            <a:off x="6415887" y="2058161"/>
            <a:ext cx="4998567"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5887" y="2222753"/>
            <a:ext cx="4998567" cy="310896"/>
          </a:xfrm>
          <a:prstGeom prst="rect">
            <a:avLst/>
          </a:prstGeom>
          <a:noFill/>
        </p:spPr>
        <p:txBody>
          <a:bodyPr wrap="square" lIns="0" rIns="0" tIns="0" bIns="0">
            <a:spAutoFit/>
          </a:bodyPr>
          <a:lstStyle/>
          <a:p>
            <a:pPr>
              <a:lnSpc>
                <a:spcPct val="130000"/>
              </a:lnSpc>
              <a:spcBef>
                <a:spcPts val="0"/>
              </a:spcBef>
              <a:spcAft>
                <a:spcPts val="0"/>
              </a:spcAft>
            </a:pPr>
            <a:r>
              <a:rPr sz="1700" b="1" i="0">
                <a:solidFill>
                  <a:srgbClr val="D1495B"/>
                </a:solidFill>
                <a:latin typeface="Segoe UI"/>
              </a:rPr>
              <a:t>Separating</a:t>
            </a:r>
          </a:p>
        </p:txBody>
      </p:sp>
      <p:sp>
        <p:nvSpPr>
          <p:cNvPr id="23" name="TextBox 22"/>
          <p:cNvSpPr txBox="1"/>
          <p:nvPr/>
        </p:nvSpPr>
        <p:spPr>
          <a:xfrm>
            <a:off x="6415887" y="2734817"/>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radial RMS</a:t>
            </a:r>
          </a:p>
        </p:txBody>
      </p:sp>
      <p:sp>
        <p:nvSpPr>
          <p:cNvPr id="24" name="TextBox 23"/>
          <p:cNvSpPr txBox="1"/>
          <p:nvPr/>
        </p:nvSpPr>
        <p:spPr>
          <a:xfrm>
            <a:off x="9814255" y="2734817"/>
            <a:ext cx="1600200" cy="384048"/>
          </a:xfrm>
          <a:prstGeom prst="rect">
            <a:avLst/>
          </a:prstGeom>
          <a:noFill/>
        </p:spPr>
        <p:txBody>
          <a:bodyPr wrap="square" lIns="0" rIns="0" tIns="0" bIns="0">
            <a:spAutoFit/>
          </a:bodyPr>
          <a:lstStyle/>
          <a:p>
            <a:pPr algn="r">
              <a:spcAft>
                <a:spcPts val="0"/>
              </a:spcAft>
            </a:pPr>
            <a:r>
              <a:rPr sz="1500" b="1" i="0">
                <a:solidFill>
                  <a:srgbClr val="D1495B"/>
                </a:solidFill>
                <a:latin typeface="Consolas"/>
              </a:rPr>
              <a:t>0.7558</a:t>
            </a:r>
          </a:p>
        </p:txBody>
      </p:sp>
      <p:sp>
        <p:nvSpPr>
          <p:cNvPr id="25" name="Rectangle 24"/>
          <p:cNvSpPr/>
          <p:nvPr/>
        </p:nvSpPr>
        <p:spPr>
          <a:xfrm>
            <a:off x="6342735" y="3109721"/>
            <a:ext cx="5144871" cy="402336"/>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5887" y="3137153"/>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top-5 fraction</a:t>
            </a:r>
          </a:p>
        </p:txBody>
      </p:sp>
      <p:sp>
        <p:nvSpPr>
          <p:cNvPr id="27" name="TextBox 26"/>
          <p:cNvSpPr txBox="1"/>
          <p:nvPr/>
        </p:nvSpPr>
        <p:spPr>
          <a:xfrm>
            <a:off x="9814255" y="3137153"/>
            <a:ext cx="1600200" cy="384048"/>
          </a:xfrm>
          <a:prstGeom prst="rect">
            <a:avLst/>
          </a:prstGeom>
          <a:noFill/>
        </p:spPr>
        <p:txBody>
          <a:bodyPr wrap="square" lIns="0" rIns="0" tIns="0" bIns="0">
            <a:spAutoFit/>
          </a:bodyPr>
          <a:lstStyle/>
          <a:p>
            <a:pPr algn="r">
              <a:spcAft>
                <a:spcPts val="0"/>
              </a:spcAft>
            </a:pPr>
            <a:r>
              <a:rPr sz="1500" b="1" i="0">
                <a:solidFill>
                  <a:srgbClr val="D1495B"/>
                </a:solidFill>
                <a:latin typeface="Consolas"/>
              </a:rPr>
              <a:t>0.6856</a:t>
            </a:r>
          </a:p>
        </p:txBody>
      </p:sp>
      <p:sp>
        <p:nvSpPr>
          <p:cNvPr id="28" name="TextBox 27"/>
          <p:cNvSpPr txBox="1"/>
          <p:nvPr/>
        </p:nvSpPr>
        <p:spPr>
          <a:xfrm>
            <a:off x="6415887" y="3539489"/>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top-1 fraction</a:t>
            </a:r>
          </a:p>
        </p:txBody>
      </p:sp>
      <p:sp>
        <p:nvSpPr>
          <p:cNvPr id="29" name="TextBox 28"/>
          <p:cNvSpPr txBox="1"/>
          <p:nvPr/>
        </p:nvSpPr>
        <p:spPr>
          <a:xfrm>
            <a:off x="9814255" y="3539489"/>
            <a:ext cx="1600200" cy="384048"/>
          </a:xfrm>
          <a:prstGeom prst="rect">
            <a:avLst/>
          </a:prstGeom>
          <a:noFill/>
        </p:spPr>
        <p:txBody>
          <a:bodyPr wrap="square" lIns="0" rIns="0" tIns="0" bIns="0">
            <a:spAutoFit/>
          </a:bodyPr>
          <a:lstStyle/>
          <a:p>
            <a:pPr algn="r">
              <a:spcAft>
                <a:spcPts val="0"/>
              </a:spcAft>
            </a:pPr>
            <a:r>
              <a:rPr sz="1500" b="1" i="0">
                <a:solidFill>
                  <a:srgbClr val="D1495B"/>
                </a:solidFill>
                <a:latin typeface="Consolas"/>
              </a:rPr>
              <a:t>0.6422</a:t>
            </a:r>
          </a:p>
        </p:txBody>
      </p:sp>
      <p:sp>
        <p:nvSpPr>
          <p:cNvPr id="30" name="Rectangle 29"/>
          <p:cNvSpPr/>
          <p:nvPr/>
        </p:nvSpPr>
        <p:spPr>
          <a:xfrm>
            <a:off x="6342735" y="3914393"/>
            <a:ext cx="5144871" cy="402336"/>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5887" y="3941825"/>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hit-energy Gini</a:t>
            </a:r>
          </a:p>
        </p:txBody>
      </p:sp>
      <p:sp>
        <p:nvSpPr>
          <p:cNvPr id="32" name="TextBox 31"/>
          <p:cNvSpPr txBox="1"/>
          <p:nvPr/>
        </p:nvSpPr>
        <p:spPr>
          <a:xfrm>
            <a:off x="9814255" y="3941825"/>
            <a:ext cx="1600200" cy="384048"/>
          </a:xfrm>
          <a:prstGeom prst="rect">
            <a:avLst/>
          </a:prstGeom>
          <a:noFill/>
        </p:spPr>
        <p:txBody>
          <a:bodyPr wrap="square" lIns="0" rIns="0" tIns="0" bIns="0">
            <a:spAutoFit/>
          </a:bodyPr>
          <a:lstStyle/>
          <a:p>
            <a:pPr algn="r">
              <a:spcAft>
                <a:spcPts val="0"/>
              </a:spcAft>
            </a:pPr>
            <a:r>
              <a:rPr sz="1500" b="1" i="0">
                <a:solidFill>
                  <a:srgbClr val="D1495B"/>
                </a:solidFill>
                <a:latin typeface="Consolas"/>
              </a:rPr>
              <a:t>0.6392</a:t>
            </a:r>
          </a:p>
        </p:txBody>
      </p:sp>
      <p:sp>
        <p:nvSpPr>
          <p:cNvPr id="33" name="TextBox 32"/>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31 / 46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DIAGNOSIS</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Transverse energy density</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13_radial_energy_density.png"/>
          <p:cNvPicPr>
            <a:picLocks noChangeAspect="1"/>
          </p:cNvPicPr>
          <p:nvPr/>
        </p:nvPicPr>
        <p:blipFill>
          <a:blip r:embed="rId2"/>
          <a:stretch>
            <a:fillRect/>
          </a:stretch>
        </p:blipFill>
        <p:spPr>
          <a:xfrm>
            <a:off x="777240" y="1591056"/>
            <a:ext cx="10637215" cy="3256290"/>
          </a:xfrm>
          <a:prstGeom prst="rect">
            <a:avLst/>
          </a:prstGeom>
        </p:spPr>
      </p:pic>
      <p:sp>
        <p:nvSpPr>
          <p:cNvPr id="6" name="Rectangle 5"/>
          <p:cNvSpPr/>
          <p:nvPr/>
        </p:nvSpPr>
        <p:spPr>
          <a:xfrm>
            <a:off x="777240" y="5030226"/>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167386"/>
            <a:ext cx="10637215" cy="1306566"/>
          </a:xfrm>
          <a:prstGeom prst="rect">
            <a:avLst/>
          </a:prstGeom>
          <a:noFill/>
        </p:spPr>
        <p:txBody>
          <a:bodyPr wrap="square" lIns="0" rIns="0" tIns="0" bIns="0">
            <a:spAutoFit/>
          </a:bodyPr>
          <a:lstStyle/>
          <a:p>
            <a:pPr>
              <a:lnSpc>
                <a:spcPct val="130000"/>
              </a:lnSpc>
              <a:spcBef>
                <a:spcPts val="0"/>
              </a:spcBef>
              <a:spcAft>
                <a:spcPts val="500"/>
              </a:spcAft>
            </a:pPr>
            <a:r>
              <a:rPr sz="1400" b="0" i="0">
                <a:solidFill>
                  <a:srgbClr val="16161D"/>
                </a:solidFill>
                <a:latin typeface="Segoe UI"/>
              </a:rPr>
              <a:t>Core deficit of a factor 2.5-3; tail excess of a factor 1.5-2 beyond about 50 mm, roughly one HCAL channel width. The crossing point does not depend on energy.</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32 / 46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DIAGNOSIS</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Radial RMS distribution</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27_dist_radial_rms.png"/>
          <p:cNvPicPr>
            <a:picLocks noChangeAspect="1"/>
          </p:cNvPicPr>
          <p:nvPr/>
        </p:nvPicPr>
        <p:blipFill>
          <a:blip r:embed="rId2"/>
          <a:stretch>
            <a:fillRect/>
          </a:stretch>
        </p:blipFill>
        <p:spPr>
          <a:xfrm>
            <a:off x="1335998" y="1591056"/>
            <a:ext cx="9519697" cy="3990848"/>
          </a:xfrm>
          <a:prstGeom prst="rect">
            <a:avLst/>
          </a:prstGeom>
        </p:spPr>
      </p:pic>
      <p:sp>
        <p:nvSpPr>
          <p:cNvPr id="6" name="Rectangle 5"/>
          <p:cNvSpPr/>
          <p:nvPr/>
        </p:nvSpPr>
        <p:spPr>
          <a:xfrm>
            <a:off x="777240" y="5764784"/>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901944"/>
            <a:ext cx="10637215" cy="572008"/>
          </a:xfrm>
          <a:prstGeom prst="rect">
            <a:avLst/>
          </a:prstGeom>
          <a:noFill/>
        </p:spPr>
        <p:txBody>
          <a:bodyPr wrap="square" lIns="0" rIns="0" tIns="0" bIns="0">
            <a:spAutoFit/>
          </a:bodyPr>
          <a:lstStyle/>
          <a:p>
            <a:pPr>
              <a:lnSpc>
                <a:spcPct val="130000"/>
              </a:lnSpc>
              <a:spcBef>
                <a:spcPts val="0"/>
              </a:spcBef>
              <a:spcAft>
                <a:spcPts val="500"/>
              </a:spcAft>
            </a:pPr>
            <a:r>
              <a:rPr sz="1400" b="0" i="0">
                <a:solidFill>
                  <a:srgbClr val="16161D"/>
                </a:solidFill>
                <a:latin typeface="Segoe UI"/>
              </a:rPr>
              <a:t>Mean shifted +22% to +27% and width inflated +31% to +38% in all four energy windows shown. Both the centre and the spread of the distribution are wrong, not only the mean.</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33 / 46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DIAGNOSIS</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Hottest-channel energy fraction</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28_dist_top1_fraction.png"/>
          <p:cNvPicPr>
            <a:picLocks noChangeAspect="1"/>
          </p:cNvPicPr>
          <p:nvPr/>
        </p:nvPicPr>
        <p:blipFill>
          <a:blip r:embed="rId2"/>
          <a:stretch>
            <a:fillRect/>
          </a:stretch>
        </p:blipFill>
        <p:spPr>
          <a:xfrm>
            <a:off x="1321003" y="1591056"/>
            <a:ext cx="9549687" cy="3990848"/>
          </a:xfrm>
          <a:prstGeom prst="rect">
            <a:avLst/>
          </a:prstGeom>
        </p:spPr>
      </p:pic>
      <p:sp>
        <p:nvSpPr>
          <p:cNvPr id="6" name="Rectangle 5"/>
          <p:cNvSpPr/>
          <p:nvPr/>
        </p:nvSpPr>
        <p:spPr>
          <a:xfrm>
            <a:off x="777240" y="5764784"/>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901944"/>
            <a:ext cx="10637215" cy="572008"/>
          </a:xfrm>
          <a:prstGeom prst="rect">
            <a:avLst/>
          </a:prstGeom>
          <a:noFill/>
        </p:spPr>
        <p:txBody>
          <a:bodyPr wrap="square" lIns="0" rIns="0" tIns="0" bIns="0">
            <a:spAutoFit/>
          </a:bodyPr>
          <a:lstStyle/>
          <a:p>
            <a:pPr>
              <a:lnSpc>
                <a:spcPct val="130000"/>
              </a:lnSpc>
              <a:spcBef>
                <a:spcPts val="0"/>
              </a:spcBef>
              <a:spcAft>
                <a:spcPts val="500"/>
              </a:spcAft>
            </a:pPr>
            <a:r>
              <a:rPr sz="1400" b="0" i="0">
                <a:solidFill>
                  <a:srgbClr val="16161D"/>
                </a:solidFill>
                <a:latin typeface="Segoe UI"/>
              </a:rPr>
              <a:t>Deficit deepens with energy: -41.3%, -45.0%, -49.0%, -54.4% across the four windows shown. Geant4's tail above a 0.2 fraction is largely absent in the generated events — energy rarely concentrates as strongly in one channel.</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34 / 46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DIAGNOSIS</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Total response distribution</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25_dist_total_response.png"/>
          <p:cNvPicPr>
            <a:picLocks noChangeAspect="1"/>
          </p:cNvPicPr>
          <p:nvPr/>
        </p:nvPicPr>
        <p:blipFill>
          <a:blip r:embed="rId2"/>
          <a:stretch>
            <a:fillRect/>
          </a:stretch>
        </p:blipFill>
        <p:spPr>
          <a:xfrm>
            <a:off x="1327647" y="1591056"/>
            <a:ext cx="9536399" cy="3990848"/>
          </a:xfrm>
          <a:prstGeom prst="rect">
            <a:avLst/>
          </a:prstGeom>
        </p:spPr>
      </p:pic>
      <p:sp>
        <p:nvSpPr>
          <p:cNvPr id="6" name="Rectangle 5"/>
          <p:cNvSpPr/>
          <p:nvPr/>
        </p:nvSpPr>
        <p:spPr>
          <a:xfrm>
            <a:off x="777240" y="5764784"/>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901944"/>
            <a:ext cx="10637215" cy="572008"/>
          </a:xfrm>
          <a:prstGeom prst="rect">
            <a:avLst/>
          </a:prstGeom>
          <a:noFill/>
        </p:spPr>
        <p:txBody>
          <a:bodyPr wrap="square" lIns="0" rIns="0" tIns="0" bIns="0">
            <a:spAutoFit/>
          </a:bodyPr>
          <a:lstStyle/>
          <a:p>
            <a:pPr>
              <a:lnSpc>
                <a:spcPct val="130000"/>
              </a:lnSpc>
              <a:spcBef>
                <a:spcPts val="0"/>
              </a:spcBef>
              <a:spcAft>
                <a:spcPts val="500"/>
              </a:spcAft>
            </a:pPr>
            <a:r>
              <a:rPr sz="1400" b="0" i="0">
                <a:solidFill>
                  <a:srgbClr val="16161D"/>
                </a:solidFill>
                <a:latin typeface="Segoe UI"/>
              </a:rPr>
              <a:t>Mean and width agree to within a few percent in every window shown. The energy budget is reproduced correctly — the defect is in how that budget is spatially arranged, not in its size.</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35 / 46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DIAGNOSIS</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Hit multiplicity distribution</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26_dist_hit_count.png"/>
          <p:cNvPicPr>
            <a:picLocks noChangeAspect="1"/>
          </p:cNvPicPr>
          <p:nvPr/>
        </p:nvPicPr>
        <p:blipFill>
          <a:blip r:embed="rId2"/>
          <a:stretch>
            <a:fillRect/>
          </a:stretch>
        </p:blipFill>
        <p:spPr>
          <a:xfrm>
            <a:off x="1300642" y="1591056"/>
            <a:ext cx="9590409" cy="3990848"/>
          </a:xfrm>
          <a:prstGeom prst="rect">
            <a:avLst/>
          </a:prstGeom>
        </p:spPr>
      </p:pic>
      <p:sp>
        <p:nvSpPr>
          <p:cNvPr id="6" name="Rectangle 5"/>
          <p:cNvSpPr/>
          <p:nvPr/>
        </p:nvSpPr>
        <p:spPr>
          <a:xfrm>
            <a:off x="777240" y="5764784"/>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901944"/>
            <a:ext cx="10637215" cy="572008"/>
          </a:xfrm>
          <a:prstGeom prst="rect">
            <a:avLst/>
          </a:prstGeom>
          <a:noFill/>
        </p:spPr>
        <p:txBody>
          <a:bodyPr wrap="square" lIns="0" rIns="0" tIns="0" bIns="0">
            <a:spAutoFit/>
          </a:bodyPr>
          <a:lstStyle/>
          <a:p>
            <a:pPr>
              <a:lnSpc>
                <a:spcPct val="130000"/>
              </a:lnSpc>
              <a:spcBef>
                <a:spcPts val="0"/>
              </a:spcBef>
              <a:spcAft>
                <a:spcPts val="500"/>
              </a:spcAft>
            </a:pPr>
            <a:r>
              <a:rPr sz="1400" b="0" i="0">
                <a:solidFill>
                  <a:srgbClr val="16161D"/>
                </a:solidFill>
                <a:latin typeface="Segoe UI"/>
              </a:rPr>
              <a:t>Bias stays between -1% and -3% throughout. Both the count model and the exact-K decoder reproduce multiplicity correctly, which narrows the defect down to WHICH channels are chosen and how much energy each receives.</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36 / 46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DIAGNOSIS</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Longitudinal structure</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29_dist_depth_centroid.png"/>
          <p:cNvPicPr>
            <a:picLocks noChangeAspect="1"/>
          </p:cNvPicPr>
          <p:nvPr/>
        </p:nvPicPr>
        <p:blipFill>
          <a:blip r:embed="rId2"/>
          <a:stretch>
            <a:fillRect/>
          </a:stretch>
        </p:blipFill>
        <p:spPr>
          <a:xfrm>
            <a:off x="1327159" y="1591056"/>
            <a:ext cx="9537375" cy="3990848"/>
          </a:xfrm>
          <a:prstGeom prst="rect">
            <a:avLst/>
          </a:prstGeom>
        </p:spPr>
      </p:pic>
      <p:sp>
        <p:nvSpPr>
          <p:cNvPr id="6" name="Rectangle 5"/>
          <p:cNvSpPr/>
          <p:nvPr/>
        </p:nvSpPr>
        <p:spPr>
          <a:xfrm>
            <a:off x="777240" y="5764784"/>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901944"/>
            <a:ext cx="10637215" cy="572008"/>
          </a:xfrm>
          <a:prstGeom prst="rect">
            <a:avLst/>
          </a:prstGeom>
          <a:noFill/>
        </p:spPr>
        <p:txBody>
          <a:bodyPr wrap="square" lIns="0" rIns="0" tIns="0" bIns="0">
            <a:spAutoFit/>
          </a:bodyPr>
          <a:lstStyle/>
          <a:p>
            <a:pPr>
              <a:lnSpc>
                <a:spcPct val="130000"/>
              </a:lnSpc>
              <a:spcBef>
                <a:spcPts val="0"/>
              </a:spcBef>
              <a:spcAft>
                <a:spcPts val="500"/>
              </a:spcAft>
            </a:pPr>
            <a:r>
              <a:rPr sz="1400" b="0" i="0">
                <a:solidFill>
                  <a:srgbClr val="16161D"/>
                </a:solidFill>
                <a:latin typeface="Segoe UI"/>
              </a:rPr>
              <a:t>Depth centroid agrees within 4%. Combined with the late-shower deficit measured elsewhere, this places the longitudinal defect in the shape of the tail, not in where the shower is centred.</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37 / 46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DIAGNOSIS</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Every observable, every energy</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17_relative_bias_heatmap.png"/>
          <p:cNvPicPr>
            <a:picLocks noChangeAspect="1"/>
          </p:cNvPicPr>
          <p:nvPr/>
        </p:nvPicPr>
        <p:blipFill>
          <a:blip r:embed="rId2"/>
          <a:stretch>
            <a:fillRect/>
          </a:stretch>
        </p:blipFill>
        <p:spPr>
          <a:xfrm>
            <a:off x="3059314" y="1591056"/>
            <a:ext cx="6073067" cy="3759707"/>
          </a:xfrm>
          <a:prstGeom prst="rect">
            <a:avLst/>
          </a:prstGeom>
        </p:spPr>
      </p:pic>
      <p:sp>
        <p:nvSpPr>
          <p:cNvPr id="6" name="Rectangle 5"/>
          <p:cNvSpPr/>
          <p:nvPr/>
        </p:nvSpPr>
        <p:spPr>
          <a:xfrm>
            <a:off x="777240" y="5533643"/>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670803"/>
            <a:ext cx="10637215" cy="803149"/>
          </a:xfrm>
          <a:prstGeom prst="rect">
            <a:avLst/>
          </a:prstGeom>
          <a:noFill/>
        </p:spPr>
        <p:txBody>
          <a:bodyPr wrap="square" lIns="0" rIns="0" tIns="0" bIns="0">
            <a:spAutoFit/>
          </a:bodyPr>
          <a:lstStyle/>
          <a:p>
            <a:pPr>
              <a:lnSpc>
                <a:spcPct val="130000"/>
              </a:lnSpc>
              <a:spcBef>
                <a:spcPts val="0"/>
              </a:spcBef>
              <a:spcAft>
                <a:spcPts val="500"/>
              </a:spcAft>
            </a:pPr>
            <a:r>
              <a:rPr sz="1400" b="0" i="0">
                <a:solidFill>
                  <a:srgbClr val="16161D"/>
                </a:solidFill>
                <a:latin typeface="Segoe UI"/>
              </a:rPr>
              <a:t>Radial RMS sits at a flat +22% to +27% across the whole 0-300 GeV range. Top-1 fraction worsens steadily from -45% to -56% as energy rises. The bottom two rows have a reference value that crosses zero at low energy, which makes their percentage unstable there — read those two from the earlier absolute-value figures instead.</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38 / 46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COMPARISON</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Do the four trained variants differ?</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sults_fig02_per_family_auroc.png"/>
          <p:cNvPicPr>
            <a:picLocks noChangeAspect="1"/>
          </p:cNvPicPr>
          <p:nvPr/>
        </p:nvPicPr>
        <p:blipFill>
          <a:blip r:embed="rId2"/>
          <a:stretch>
            <a:fillRect/>
          </a:stretch>
        </p:blipFill>
        <p:spPr>
          <a:xfrm>
            <a:off x="777240" y="1591056"/>
            <a:ext cx="6858000" cy="3429000"/>
          </a:xfrm>
          <a:prstGeom prst="rect">
            <a:avLst/>
          </a:prstGeom>
        </p:spPr>
      </p:pic>
      <p:sp>
        <p:nvSpPr>
          <p:cNvPr id="6" name="Rectangle 5"/>
          <p:cNvSpPr/>
          <p:nvPr/>
        </p:nvSpPr>
        <p:spPr>
          <a:xfrm>
            <a:off x="7955280" y="1627632"/>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0" y="1828800"/>
            <a:ext cx="3459175" cy="4553712"/>
          </a:xfrm>
          <a:prstGeom prst="rect">
            <a:avLst/>
          </a:prstGeom>
          <a:noFill/>
        </p:spPr>
        <p:txBody>
          <a:bodyPr wrap="square" lIns="0" rIns="0" tIns="0" bIns="0">
            <a:spAutoFit/>
          </a:bodyPr>
          <a:lstStyle/>
          <a:p>
            <a:pPr>
              <a:lnSpc>
                <a:spcPct val="130000"/>
              </a:lnSpc>
              <a:spcBef>
                <a:spcPts val="0"/>
              </a:spcBef>
              <a:spcAft>
                <a:spcPts val="700"/>
              </a:spcAft>
            </a:pPr>
            <a:r>
              <a:rPr sz="1400" b="0" i="0">
                <a:solidFill>
                  <a:srgbClr val="16161D"/>
                </a:solidFill>
                <a:latin typeface="Segoe UI"/>
              </a:rPr>
              <a:t>Yes, and consistently: three independent classifiers rank the four variants in the same order, and that order matches their validation loss.</a:t>
            </a:r>
          </a:p>
          <a:p>
            <a:pPr>
              <a:lnSpc>
                <a:spcPct val="130000"/>
              </a:lnSpc>
              <a:spcBef>
                <a:spcPts val="0"/>
              </a:spcBef>
              <a:spcAft>
                <a:spcPts val="700"/>
              </a:spcAft>
            </a:pPr>
            <a:r>
              <a:rPr sz="1400" b="0" i="0">
                <a:solidFill>
                  <a:srgbClr val="16161D"/>
                </a:solidFill>
                <a:latin typeface="Segoe UI"/>
              </a:rPr>
              <a:t>Best validation loss (lr3e4): loss 4.738041, AUROC 0.99945 — hardest to tell apart.</a:t>
            </a:r>
          </a:p>
          <a:p>
            <a:pPr>
              <a:lnSpc>
                <a:spcPct val="130000"/>
              </a:lnSpc>
              <a:spcBef>
                <a:spcPts val="0"/>
              </a:spcBef>
              <a:spcAft>
                <a:spcPts val="700"/>
              </a:spcAft>
            </a:pPr>
            <a:r>
              <a:rPr sz="1400" b="0" i="0">
                <a:solidFill>
                  <a:srgbClr val="16161D"/>
                </a:solidFill>
                <a:latin typeface="Segoe UI"/>
              </a:rPr>
              <a:t>Worst validation loss (lr3e5): loss 4.897327, AUROC 0.99983 — easiest.</a:t>
            </a:r>
          </a:p>
          <a:p>
            <a:pPr>
              <a:lnSpc>
                <a:spcPct val="130000"/>
              </a:lnSpc>
              <a:spcBef>
                <a:spcPts val="0"/>
              </a:spcBef>
              <a:spcAft>
                <a:spcPts val="700"/>
              </a:spcAft>
            </a:pPr>
            <a:r>
              <a:rPr sz="1400" b="0" i="0">
                <a:solidFill>
                  <a:srgbClr val="16161D"/>
                </a:solidFill>
                <a:latin typeface="Segoe UI"/>
              </a:rPr>
              <a:t>The two extremes have non-overlapping 95% bootstrap intervals: this is a real, measured ordering, not noise.</a:t>
            </a:r>
          </a:p>
          <a:p>
            <a:pPr>
              <a:lnSpc>
                <a:spcPct val="130000"/>
              </a:lnSpc>
              <a:spcBef>
                <a:spcPts val="0"/>
              </a:spcBef>
              <a:spcAft>
                <a:spcPts val="700"/>
              </a:spcAft>
            </a:pPr>
            <a:r>
              <a:rPr sz="1400" b="0" i="0">
                <a:solidFill>
                  <a:srgbClr val="16161D"/>
                </a:solidFill>
                <a:latin typeface="Segoe UI"/>
              </a:rPr>
              <a:t>A 3.4% improvement in validation loss moved the feature-classifier's AUROC by only 0.014, so continuing to optimise this same objective is unlikely to close the remaining gap on its own.</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39 / 46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ROOT CAUSE</a:t>
            </a:r>
          </a:p>
        </p:txBody>
      </p:sp>
      <p:sp>
        <p:nvSpPr>
          <p:cNvPr id="3" name="TextBox 2"/>
          <p:cNvSpPr txBox="1"/>
          <p:nvPr/>
        </p:nvSpPr>
        <p:spPr>
          <a:xfrm>
            <a:off x="777240" y="786384"/>
            <a:ext cx="10637215" cy="873760"/>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The exact-cell choice is dominated by its own randomness</a:t>
            </a:r>
          </a:p>
        </p:txBody>
      </p:sp>
      <p:sp>
        <p:nvSpPr>
          <p:cNvPr id="4" name="Rectangle 3"/>
          <p:cNvSpPr/>
          <p:nvPr/>
        </p:nvSpPr>
        <p:spPr>
          <a:xfrm>
            <a:off x="777240" y="1751584"/>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5444871"/>
            <a:ext cx="10637215" cy="955929"/>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5444871"/>
            <a:ext cx="44450" cy="955929"/>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5554599"/>
            <a:ext cx="10216591" cy="773049"/>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16161D"/>
                </a:solidFill>
                <a:latin typeface="Segoe UI"/>
              </a:rPr>
              <a:t>A sharpness of 0.47 means roughly one selected channel in two is placed by randomness, not the geometry network's preference. Those channels land away from the shower core, and the exact energy budget makes the core fund them — matching both the width excess and the top-1 deficit measured above.</a:t>
            </a:r>
          </a:p>
        </p:txBody>
      </p:sp>
      <p:pic>
        <p:nvPicPr>
          <p:cNvPr id="8" name="Picture 7" descr="eq_c8988dea6091d0b8942f.png"/>
          <p:cNvPicPr>
            <a:picLocks noChangeAspect="1"/>
          </p:cNvPicPr>
          <p:nvPr/>
        </p:nvPicPr>
        <p:blipFill>
          <a:blip r:embed="rId2"/>
          <a:stretch>
            <a:fillRect/>
          </a:stretch>
        </p:blipFill>
        <p:spPr>
          <a:xfrm>
            <a:off x="832104" y="1989328"/>
            <a:ext cx="5867400" cy="399288"/>
          </a:xfrm>
          <a:prstGeom prst="rect">
            <a:avLst/>
          </a:prstGeom>
        </p:spPr>
      </p:pic>
      <p:sp>
        <p:nvSpPr>
          <p:cNvPr id="9" name="TextBox 8"/>
          <p:cNvSpPr txBox="1"/>
          <p:nvPr/>
        </p:nvSpPr>
        <p:spPr>
          <a:xfrm>
            <a:off x="1051560" y="2425192"/>
            <a:ext cx="10317175" cy="189865"/>
          </a:xfrm>
          <a:prstGeom prst="rect">
            <a:avLst/>
          </a:prstGeom>
          <a:noFill/>
        </p:spPr>
        <p:txBody>
          <a:bodyPr wrap="square" lIns="0" rIns="0" tIns="0" bIns="0">
            <a:spAutoFit/>
          </a:bodyPr>
          <a:lstStyle/>
          <a:p>
            <a:pPr>
              <a:lnSpc>
                <a:spcPct val="130000"/>
              </a:lnSpc>
              <a:spcBef>
                <a:spcPts val="0"/>
              </a:spcBef>
              <a:spcAft>
                <a:spcPts val="0"/>
              </a:spcAft>
            </a:pPr>
            <a:r>
              <a:rPr sz="1150" b="0" i="0">
                <a:solidFill>
                  <a:srgbClr val="555560"/>
                </a:solidFill>
                <a:latin typeface="Segoe UI"/>
              </a:rPr>
              <a:t>Stage 7's 'random pick with a preference' (see toolkit). The random part has a fixed size, whether small or large next to the network's own preference.</a:t>
            </a:r>
          </a:p>
        </p:txBody>
      </p:sp>
      <p:pic>
        <p:nvPicPr>
          <p:cNvPr id="10" name="Picture 9" descr="eq_7279c1d7de51c45e236c.png"/>
          <p:cNvPicPr>
            <a:picLocks noChangeAspect="1"/>
          </p:cNvPicPr>
          <p:nvPr/>
        </p:nvPicPr>
        <p:blipFill>
          <a:blip r:embed="rId3"/>
          <a:stretch>
            <a:fillRect/>
          </a:stretch>
        </p:blipFill>
        <p:spPr>
          <a:xfrm>
            <a:off x="832104" y="2688209"/>
            <a:ext cx="6239256" cy="356616"/>
          </a:xfrm>
          <a:prstGeom prst="rect">
            <a:avLst/>
          </a:prstGeom>
        </p:spPr>
      </p:pic>
      <p:sp>
        <p:nvSpPr>
          <p:cNvPr id="11" name="TextBox 10"/>
          <p:cNvSpPr txBox="1"/>
          <p:nvPr/>
        </p:nvSpPr>
        <p:spPr>
          <a:xfrm>
            <a:off x="1051560" y="3081401"/>
            <a:ext cx="10317175" cy="189865"/>
          </a:xfrm>
          <a:prstGeom prst="rect">
            <a:avLst/>
          </a:prstGeom>
          <a:noFill/>
        </p:spPr>
        <p:txBody>
          <a:bodyPr wrap="square" lIns="0" rIns="0" tIns="0" bIns="0">
            <a:spAutoFit/>
          </a:bodyPr>
          <a:lstStyle/>
          <a:p>
            <a:pPr>
              <a:lnSpc>
                <a:spcPct val="130000"/>
              </a:lnSpc>
              <a:spcBef>
                <a:spcPts val="0"/>
              </a:spcBef>
              <a:spcAft>
                <a:spcPts val="0"/>
              </a:spcAft>
            </a:pPr>
            <a:r>
              <a:rPr sz="1150" b="0" i="0">
                <a:solidFill>
                  <a:srgbClr val="555560"/>
                </a:solidFill>
                <a:latin typeface="Segoe UI"/>
              </a:rPr>
              <a:t>Measured on the trained network, 616 populated layers, 25-275 GeV. The added randomness is about 55 times larger than the last-selected/first-rejected gap.</a:t>
            </a:r>
          </a:p>
        </p:txBody>
      </p:sp>
      <p:pic>
        <p:nvPicPr>
          <p:cNvPr id="12" name="Picture 11" descr="eq_cf11b1623ef321967cd8.png"/>
          <p:cNvPicPr>
            <a:picLocks noChangeAspect="1"/>
          </p:cNvPicPr>
          <p:nvPr/>
        </p:nvPicPr>
        <p:blipFill>
          <a:blip r:embed="rId4"/>
          <a:stretch>
            <a:fillRect/>
          </a:stretch>
        </p:blipFill>
        <p:spPr>
          <a:xfrm>
            <a:off x="832104" y="3344418"/>
            <a:ext cx="4742688" cy="545592"/>
          </a:xfrm>
          <a:prstGeom prst="rect">
            <a:avLst/>
          </a:prstGeom>
        </p:spPr>
      </p:pic>
      <p:sp>
        <p:nvSpPr>
          <p:cNvPr id="13" name="TextBox 12"/>
          <p:cNvSpPr txBox="1"/>
          <p:nvPr/>
        </p:nvSpPr>
        <p:spPr>
          <a:xfrm>
            <a:off x="1051560" y="3926586"/>
            <a:ext cx="10317175" cy="189865"/>
          </a:xfrm>
          <a:prstGeom prst="rect">
            <a:avLst/>
          </a:prstGeom>
          <a:noFill/>
        </p:spPr>
        <p:txBody>
          <a:bodyPr wrap="square" lIns="0" rIns="0" tIns="0" bIns="0">
            <a:spAutoFit/>
          </a:bodyPr>
          <a:lstStyle/>
          <a:p>
            <a:pPr>
              <a:lnSpc>
                <a:spcPct val="130000"/>
              </a:lnSpc>
              <a:spcBef>
                <a:spcPts val="0"/>
              </a:spcBef>
              <a:spcAft>
                <a:spcPts val="0"/>
              </a:spcAft>
            </a:pPr>
            <a:r>
              <a:rPr sz="1150" b="0" i="0">
                <a:solidFill>
                  <a:srgbClr val="555560"/>
                </a:solidFill>
                <a:latin typeface="Segoe UI"/>
              </a:rPr>
              <a:t>Sharpness on a 0-to-1 scale: 1 is exact ranking, 0 is no better than a uniform random pick. The measured value, 0.4658, sits just under halfway between them.</a:t>
            </a:r>
          </a:p>
        </p:txBody>
      </p:sp>
      <p:pic>
        <p:nvPicPr>
          <p:cNvPr id="14" name="Picture 13" descr="eq_5c96931add4395e208ff.png"/>
          <p:cNvPicPr>
            <a:picLocks noChangeAspect="1"/>
          </p:cNvPicPr>
          <p:nvPr/>
        </p:nvPicPr>
        <p:blipFill>
          <a:blip r:embed="rId5"/>
          <a:stretch>
            <a:fillRect/>
          </a:stretch>
        </p:blipFill>
        <p:spPr>
          <a:xfrm>
            <a:off x="832104" y="4189603"/>
            <a:ext cx="5800344" cy="387096"/>
          </a:xfrm>
          <a:prstGeom prst="rect">
            <a:avLst/>
          </a:prstGeom>
        </p:spPr>
      </p:pic>
      <p:sp>
        <p:nvSpPr>
          <p:cNvPr id="15" name="TextBox 14"/>
          <p:cNvSpPr txBox="1"/>
          <p:nvPr/>
        </p:nvSpPr>
        <p:spPr>
          <a:xfrm>
            <a:off x="1051560" y="4613275"/>
            <a:ext cx="10317175" cy="189865"/>
          </a:xfrm>
          <a:prstGeom prst="rect">
            <a:avLst/>
          </a:prstGeom>
          <a:noFill/>
        </p:spPr>
        <p:txBody>
          <a:bodyPr wrap="square" lIns="0" rIns="0" tIns="0" bIns="0">
            <a:spAutoFit/>
          </a:bodyPr>
          <a:lstStyle/>
          <a:p>
            <a:pPr>
              <a:lnSpc>
                <a:spcPct val="130000"/>
              </a:lnSpc>
              <a:spcBef>
                <a:spcPts val="0"/>
              </a:spcBef>
              <a:spcAft>
                <a:spcPts val="0"/>
              </a:spcAft>
            </a:pPr>
            <a:r>
              <a:rPr sz="1150" b="0" i="0">
                <a:solidFill>
                  <a:srgbClr val="555560"/>
                </a:solidFill>
                <a:latin typeface="Segoe UI"/>
              </a:rPr>
              <a:t>Turning down a 'temperature' tau shrinks the randomness, roughly doubling sharpness — tuned against the measured defects, not driven to zero.</a:t>
            </a:r>
          </a:p>
        </p:txBody>
      </p:sp>
      <p:sp>
        <p:nvSpPr>
          <p:cNvPr id="16" name="TextBox 15"/>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40 / 46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ROOT CAUSE</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Sharpness against temperature</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18_gumbel_selection_sharpness.png"/>
          <p:cNvPicPr>
            <a:picLocks noChangeAspect="1"/>
          </p:cNvPicPr>
          <p:nvPr/>
        </p:nvPicPr>
        <p:blipFill>
          <a:blip r:embed="rId2"/>
          <a:stretch>
            <a:fillRect/>
          </a:stretch>
        </p:blipFill>
        <p:spPr>
          <a:xfrm>
            <a:off x="777240" y="1591056"/>
            <a:ext cx="6858000" cy="4622941"/>
          </a:xfrm>
          <a:prstGeom prst="rect">
            <a:avLst/>
          </a:prstGeom>
        </p:spPr>
      </p:pic>
      <p:sp>
        <p:nvSpPr>
          <p:cNvPr id="6" name="Rectangle 5"/>
          <p:cNvSpPr/>
          <p:nvPr/>
        </p:nvSpPr>
        <p:spPr>
          <a:xfrm>
            <a:off x="7955280" y="1627632"/>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0" y="1828800"/>
            <a:ext cx="3459175" cy="4553712"/>
          </a:xfrm>
          <a:prstGeom prst="rect">
            <a:avLst/>
          </a:prstGeom>
          <a:noFill/>
        </p:spPr>
        <p:txBody>
          <a:bodyPr wrap="square" lIns="0" rIns="0" tIns="0" bIns="0">
            <a:spAutoFit/>
          </a:bodyPr>
          <a:lstStyle/>
          <a:p>
            <a:pPr>
              <a:lnSpc>
                <a:spcPct val="130000"/>
              </a:lnSpc>
              <a:spcBef>
                <a:spcPts val="0"/>
              </a:spcBef>
              <a:spcAft>
                <a:spcPts val="700"/>
              </a:spcAft>
            </a:pPr>
            <a:r>
              <a:rPr sz="1400" b="0" i="0">
                <a:solidFill>
                  <a:srgbClr val="16161D"/>
                </a:solidFill>
                <a:latin typeface="Segoe UI"/>
              </a:rPr>
              <a:t>Current setting (temperature 1): sharpness 0.466.</a:t>
            </a:r>
          </a:p>
          <a:p>
            <a:pPr>
              <a:lnSpc>
                <a:spcPct val="130000"/>
              </a:lnSpc>
              <a:spcBef>
                <a:spcPts val="0"/>
              </a:spcBef>
              <a:spcAft>
                <a:spcPts val="700"/>
              </a:spcAft>
            </a:pPr>
            <a:r>
              <a:rPr sz="1400" b="0" i="0">
                <a:solidFill>
                  <a:srgbClr val="16161D"/>
                </a:solidFill>
                <a:latin typeface="Segoe UI"/>
              </a:rPr>
              <a:t>Temperature 0.5: sharpness 0.647.</a:t>
            </a:r>
          </a:p>
          <a:p>
            <a:pPr>
              <a:lnSpc>
                <a:spcPct val="130000"/>
              </a:lnSpc>
              <a:spcBef>
                <a:spcPts val="0"/>
              </a:spcBef>
              <a:spcAft>
                <a:spcPts val="700"/>
              </a:spcAft>
            </a:pPr>
            <a:r>
              <a:rPr sz="1400" b="0" i="0">
                <a:solidFill>
                  <a:srgbClr val="16161D"/>
                </a:solidFill>
                <a:latin typeface="Segoe UI"/>
              </a:rPr>
              <a:t>Temperature 0.25: sharpness 0.794.</a:t>
            </a:r>
          </a:p>
          <a:p>
            <a:pPr>
              <a:lnSpc>
                <a:spcPct val="130000"/>
              </a:lnSpc>
              <a:spcBef>
                <a:spcPts val="0"/>
              </a:spcBef>
              <a:spcAft>
                <a:spcPts val="700"/>
              </a:spcAft>
            </a:pPr>
            <a:r>
              <a:rPr sz="1400" b="0" i="0">
                <a:solidFill>
                  <a:srgbClr val="16161D"/>
                </a:solidFill>
                <a:latin typeface="Segoe UI"/>
              </a:rPr>
              <a:t>Temperature 0.10: sharpness 0.908.</a:t>
            </a:r>
          </a:p>
          <a:p>
            <a:pPr>
              <a:lnSpc>
                <a:spcPct val="130000"/>
              </a:lnSpc>
              <a:spcBef>
                <a:spcPts val="0"/>
              </a:spcBef>
              <a:spcAft>
                <a:spcPts val="700"/>
              </a:spcAft>
            </a:pPr>
            <a:r>
              <a:rPr sz="1400" b="0" i="0">
                <a:solidFill>
                  <a:srgbClr val="16161D"/>
                </a:solidFill>
                <a:latin typeface="Segoe UI"/>
              </a:rPr>
              <a:t>This can be tested on an existing trained checkpoint, at inference time only, with no retraining required.</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41 / 46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ROOT CAUSE</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Loudness after balancing versus size of defect</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22_weight_versus_defect.png"/>
          <p:cNvPicPr>
            <a:picLocks noChangeAspect="1"/>
          </p:cNvPicPr>
          <p:nvPr/>
        </p:nvPicPr>
        <p:blipFill>
          <a:blip r:embed="rId2"/>
          <a:stretch>
            <a:fillRect/>
          </a:stretch>
        </p:blipFill>
        <p:spPr>
          <a:xfrm>
            <a:off x="777240" y="1591056"/>
            <a:ext cx="6858000" cy="3941747"/>
          </a:xfrm>
          <a:prstGeom prst="rect">
            <a:avLst/>
          </a:prstGeom>
        </p:spPr>
      </p:pic>
      <p:sp>
        <p:nvSpPr>
          <p:cNvPr id="6" name="Rectangle 5"/>
          <p:cNvSpPr/>
          <p:nvPr/>
        </p:nvSpPr>
        <p:spPr>
          <a:xfrm>
            <a:off x="7955280" y="1627632"/>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0" y="1828800"/>
            <a:ext cx="3459175" cy="4553712"/>
          </a:xfrm>
          <a:prstGeom prst="rect">
            <a:avLst/>
          </a:prstGeom>
          <a:noFill/>
        </p:spPr>
        <p:txBody>
          <a:bodyPr wrap="square" lIns="0" rIns="0" tIns="0" bIns="0">
            <a:spAutoFit/>
          </a:bodyPr>
          <a:lstStyle/>
          <a:p>
            <a:pPr>
              <a:lnSpc>
                <a:spcPct val="130000"/>
              </a:lnSpc>
              <a:spcBef>
                <a:spcPts val="0"/>
              </a:spcBef>
              <a:spcAft>
                <a:spcPts val="700"/>
              </a:spcAft>
            </a:pPr>
            <a:r>
              <a:rPr sz="1400" b="0" i="0">
                <a:solidFill>
                  <a:srgbClr val="16161D"/>
                </a:solidFill>
                <a:latin typeface="Segoe UI"/>
              </a:rPr>
              <a:t>Cell-energy sharing (weight 0.445) governs the top-1 defect, measured at 0.476.</a:t>
            </a:r>
          </a:p>
          <a:p>
            <a:pPr>
              <a:lnSpc>
                <a:spcPct val="130000"/>
              </a:lnSpc>
              <a:spcBef>
                <a:spcPts val="0"/>
              </a:spcBef>
              <a:spcAft>
                <a:spcPts val="700"/>
              </a:spcAft>
            </a:pPr>
            <a:r>
              <a:rPr sz="1400" b="0" i="0">
                <a:solidFill>
                  <a:srgbClr val="16161D"/>
                </a:solidFill>
                <a:latin typeface="Segoe UI"/>
              </a:rPr>
              <a:t>Layer-depth shaping (weight 0.161) governs the late-fraction defect, measured at 0.445.</a:t>
            </a:r>
          </a:p>
          <a:p>
            <a:pPr>
              <a:lnSpc>
                <a:spcPct val="130000"/>
              </a:lnSpc>
              <a:spcBef>
                <a:spcPts val="0"/>
              </a:spcBef>
              <a:spcAft>
                <a:spcPts val="700"/>
              </a:spcAft>
            </a:pPr>
            <a:r>
              <a:rPr sz="1400" b="0" i="0">
                <a:solidFill>
                  <a:srgbClr val="16161D"/>
                </a:solidFill>
                <a:latin typeface="Segoe UI"/>
              </a:rPr>
              <a:t>Visibility (weight 2.574) governs a rate already correct to 0.010.</a:t>
            </a:r>
          </a:p>
          <a:p>
            <a:pPr>
              <a:lnSpc>
                <a:spcPct val="130000"/>
              </a:lnSpc>
              <a:spcBef>
                <a:spcPts val="0"/>
              </a:spcBef>
              <a:spcAft>
                <a:spcPts val="700"/>
              </a:spcAft>
            </a:pPr>
            <a:r>
              <a:rPr sz="1400" b="0" i="0">
                <a:solidFill>
                  <a:srgbClr val="16161D"/>
                </a:solidFill>
                <a:latin typeface="Segoe UI"/>
              </a:rPr>
              <a:t>The gradient-balancing step evens out how loudly each loss speaks; it has no way to know which loss governs the biggest physical defect.</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42 / 46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NOISE TEST</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What does 'adding noise' mean here?</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33_diffusion_schematic.png"/>
          <p:cNvPicPr>
            <a:picLocks noChangeAspect="1"/>
          </p:cNvPicPr>
          <p:nvPr/>
        </p:nvPicPr>
        <p:blipFill>
          <a:blip r:embed="rId2"/>
          <a:stretch>
            <a:fillRect/>
          </a:stretch>
        </p:blipFill>
        <p:spPr>
          <a:xfrm>
            <a:off x="1497591" y="1591056"/>
            <a:ext cx="9196512" cy="3132836"/>
          </a:xfrm>
          <a:prstGeom prst="rect">
            <a:avLst/>
          </a:prstGeom>
        </p:spPr>
      </p:pic>
      <p:sp>
        <p:nvSpPr>
          <p:cNvPr id="6" name="Rectangle 5"/>
          <p:cNvSpPr/>
          <p:nvPr/>
        </p:nvSpPr>
        <p:spPr>
          <a:xfrm>
            <a:off x="777240" y="4906772"/>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043932"/>
            <a:ext cx="10637215" cy="1430020"/>
          </a:xfrm>
          <a:prstGeom prst="rect">
            <a:avLst/>
          </a:prstGeom>
          <a:noFill/>
        </p:spPr>
        <p:txBody>
          <a:bodyPr wrap="square" lIns="0" rIns="0" tIns="0" bIns="0">
            <a:spAutoFit/>
          </a:bodyPr>
          <a:lstStyle/>
          <a:p>
            <a:pPr>
              <a:lnSpc>
                <a:spcPct val="130000"/>
              </a:lnSpc>
              <a:spcBef>
                <a:spcPts val="0"/>
              </a:spcBef>
              <a:spcAft>
                <a:spcPts val="500"/>
              </a:spcAft>
            </a:pPr>
            <a:r>
              <a:rPr sz="1400" b="0" i="0">
                <a:solidFill>
                  <a:srgbClr val="16161D"/>
                </a:solidFill>
                <a:latin typeface="Segoe UI"/>
              </a:rPr>
              <a:t>Treat each cell's deposited energy as a small cloud of particles that can drift randomly, the way heat spreads outward from a point source. The amount of drift is called lambda, given in millimetres or in units of one detector-channel width (36.8 mm here).</a:t>
            </a:r>
          </a:p>
          <a:p>
            <a:pPr>
              <a:lnSpc>
                <a:spcPct val="130000"/>
              </a:lnSpc>
              <a:spcBef>
                <a:spcPts val="0"/>
              </a:spcBef>
              <a:spcAft>
                <a:spcPts val="500"/>
              </a:spcAft>
            </a:pPr>
            <a:r>
              <a:rPr sz="1400" b="0" i="0">
                <a:solidFill>
                  <a:srgbClr val="16161D"/>
                </a:solidFill>
                <a:latin typeface="Segoe UI"/>
              </a:rPr>
              <a:t>Drifting never creates or destroys energy: every panel above captures exactly the same total, 1.000, just arranged differently across neighbouring cells.</a:t>
            </a:r>
          </a:p>
          <a:p>
            <a:pPr>
              <a:lnSpc>
                <a:spcPct val="130000"/>
              </a:lnSpc>
              <a:spcBef>
                <a:spcPts val="0"/>
              </a:spcBef>
              <a:spcAft>
                <a:spcPts val="500"/>
              </a:spcAft>
            </a:pPr>
            <a:r>
              <a:rPr sz="1400" b="0" i="0">
                <a:solidFill>
                  <a:srgbClr val="16161D"/>
                </a:solidFill>
                <a:latin typeface="Segoe UI"/>
              </a:rPr>
              <a:t>Next: how much drift is needed before a classifier can no longer tell real events from generated ones.</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43 / 46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NOISE TEST</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How much drift is needed to hide the difference?</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34_diffusion_results_simplified.png"/>
          <p:cNvPicPr>
            <a:picLocks noChangeAspect="1"/>
          </p:cNvPicPr>
          <p:nvPr/>
        </p:nvPicPr>
        <p:blipFill>
          <a:blip r:embed="rId2"/>
          <a:stretch>
            <a:fillRect/>
          </a:stretch>
        </p:blipFill>
        <p:spPr>
          <a:xfrm>
            <a:off x="777240" y="1591056"/>
            <a:ext cx="6858000" cy="3422493"/>
          </a:xfrm>
          <a:prstGeom prst="rect">
            <a:avLst/>
          </a:prstGeom>
        </p:spPr>
      </p:pic>
      <p:sp>
        <p:nvSpPr>
          <p:cNvPr id="6" name="Rectangle 5"/>
          <p:cNvSpPr/>
          <p:nvPr/>
        </p:nvSpPr>
        <p:spPr>
          <a:xfrm>
            <a:off x="7955280" y="1627632"/>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0" y="1828800"/>
            <a:ext cx="3459175" cy="4553712"/>
          </a:xfrm>
          <a:prstGeom prst="rect">
            <a:avLst/>
          </a:prstGeom>
          <a:noFill/>
        </p:spPr>
        <p:txBody>
          <a:bodyPr wrap="square" lIns="0" rIns="0" tIns="0" bIns="0">
            <a:spAutoFit/>
          </a:bodyPr>
          <a:lstStyle/>
          <a:p>
            <a:pPr>
              <a:lnSpc>
                <a:spcPct val="130000"/>
              </a:lnSpc>
              <a:spcBef>
                <a:spcPts val="0"/>
              </a:spcBef>
              <a:spcAft>
                <a:spcPts val="700"/>
              </a:spcAft>
            </a:pPr>
            <a:r>
              <a:rPr sz="1150" b="0" i="0">
                <a:solidFill>
                  <a:srgbClr val="16161D"/>
                </a:solidFill>
                <a:latin typeface="Segoe UI"/>
              </a:rPr>
              <a:t>x-axis: how far each cell's energy is allowed to drift, in channel widths. y-axis: how well a classifier tells real from generated apart at that drift.</a:t>
            </a:r>
          </a:p>
          <a:p>
            <a:pPr>
              <a:lnSpc>
                <a:spcPct val="130000"/>
              </a:lnSpc>
              <a:spcBef>
                <a:spcPts val="0"/>
              </a:spcBef>
              <a:spcAft>
                <a:spcPts val="700"/>
              </a:spcAft>
            </a:pPr>
            <a:r>
              <a:rPr sz="1150" b="0" i="0">
                <a:solidFill>
                  <a:srgbClr val="16161D"/>
                </a:solidFill>
                <a:latin typeface="Segoe UI"/>
              </a:rPr>
              <a:t>Blue: the SAME already-trained classifier, tested again at increasing drift. It appears to lose the ability to tell the difference after about 1 channel width.</a:t>
            </a:r>
          </a:p>
          <a:p>
            <a:pPr>
              <a:lnSpc>
                <a:spcPct val="130000"/>
              </a:lnSpc>
              <a:spcBef>
                <a:spcPts val="0"/>
              </a:spcBef>
              <a:spcAft>
                <a:spcPts val="700"/>
              </a:spcAft>
            </a:pPr>
            <a:r>
              <a:rPr sz="1150" b="0" i="0">
                <a:solidFill>
                  <a:srgbClr val="16161D"/>
                </a:solidFill>
                <a:latin typeface="Segoe UI"/>
              </a:rPr>
              <a:t>Orange: a FRESH classifier, retrained from scratch on the drifted data at each point. It still separates the classes almost as well as with no drift at all (0.984 versus 0.985).</a:t>
            </a:r>
          </a:p>
          <a:p>
            <a:pPr>
              <a:lnSpc>
                <a:spcPct val="130000"/>
              </a:lnSpc>
              <a:spcBef>
                <a:spcPts val="0"/>
              </a:spcBef>
              <a:spcAft>
                <a:spcPts val="700"/>
              </a:spcAft>
            </a:pPr>
            <a:r>
              <a:rPr sz="1150" b="0" i="0">
                <a:solidFill>
                  <a:srgbClr val="16161D"/>
                </a:solidFill>
                <a:latin typeface="Segoe UI"/>
              </a:rPr>
              <a:t>Why this matters: the blue line is not fooled because the physical difference vanished. It is fooled because drift removed the one specific signal it had learned to look for — the orange line proves a different signal survives. No amount of drift tested, up to a full detector-face width, made the two sources genuinely indistinguishable.</a:t>
            </a:r>
          </a:p>
          <a:p>
            <a:pPr>
              <a:lnSpc>
                <a:spcPct val="130000"/>
              </a:lnSpc>
              <a:spcBef>
                <a:spcPts val="0"/>
              </a:spcBef>
              <a:spcAft>
                <a:spcPts val="700"/>
              </a:spcAft>
            </a:pPr>
            <a:r>
              <a:rPr sz="1150" b="0" i="0">
                <a:solidFill>
                  <a:srgbClr val="16161D"/>
                </a:solidFill>
                <a:latin typeface="Segoe UI"/>
              </a:rPr>
              <a:t>A second check using random particle-counting noise instead of smooth drift reaches the same conclusion.</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44 / 46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NEXT</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Ranked changes</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91056"/>
            <a:ext cx="3593620"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Change</a:t>
            </a:r>
          </a:p>
        </p:txBody>
      </p:sp>
      <p:sp>
        <p:nvSpPr>
          <p:cNvPr id="6" name="TextBox 5"/>
          <p:cNvSpPr txBox="1"/>
          <p:nvPr/>
        </p:nvSpPr>
        <p:spPr>
          <a:xfrm>
            <a:off x="4370860" y="1591056"/>
            <a:ext cx="4599138"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Predicted effect</a:t>
            </a:r>
          </a:p>
        </p:txBody>
      </p:sp>
      <p:sp>
        <p:nvSpPr>
          <p:cNvPr id="7" name="TextBox 6"/>
          <p:cNvSpPr txBox="1"/>
          <p:nvPr/>
        </p:nvSpPr>
        <p:spPr>
          <a:xfrm>
            <a:off x="8969998" y="1591056"/>
            <a:ext cx="2444456"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Cost</a:t>
            </a:r>
          </a:p>
        </p:txBody>
      </p:sp>
      <p:sp>
        <p:nvSpPr>
          <p:cNvPr id="8" name="Rectangle 7"/>
          <p:cNvSpPr/>
          <p:nvPr/>
        </p:nvSpPr>
        <p:spPr>
          <a:xfrm>
            <a:off x="777240" y="1883664"/>
            <a:ext cx="10637215" cy="12700"/>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039112"/>
            <a:ext cx="3429028" cy="53492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Support temperature tau ~ 0.25-0.35</a:t>
            </a:r>
          </a:p>
        </p:txBody>
      </p:sp>
      <p:sp>
        <p:nvSpPr>
          <p:cNvPr id="10" name="TextBox 9"/>
          <p:cNvSpPr txBox="1"/>
          <p:nvPr/>
        </p:nvSpPr>
        <p:spPr>
          <a:xfrm>
            <a:off x="4370860" y="2039112"/>
            <a:ext cx="4434546" cy="53492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sharpness 0.466 to 0.73-0.79; targets radial RMS and top-1</a:t>
            </a:r>
          </a:p>
        </p:txBody>
      </p:sp>
      <p:sp>
        <p:nvSpPr>
          <p:cNvPr id="11" name="TextBox 10"/>
          <p:cNvSpPr txBox="1"/>
          <p:nvPr/>
        </p:nvSpPr>
        <p:spPr>
          <a:xfrm>
            <a:off x="8969998" y="2039112"/>
            <a:ext cx="2279864" cy="53492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inference sweep, &lt; 1 h</a:t>
            </a:r>
          </a:p>
        </p:txBody>
      </p:sp>
      <p:sp>
        <p:nvSpPr>
          <p:cNvPr id="12" name="Rectangle 11"/>
          <p:cNvSpPr/>
          <p:nvPr/>
        </p:nvSpPr>
        <p:spPr>
          <a:xfrm>
            <a:off x="685800" y="2519172"/>
            <a:ext cx="10820095" cy="32918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574036"/>
            <a:ext cx="3429028"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Train on the full 612,482-event split</a:t>
            </a:r>
          </a:p>
        </p:txBody>
      </p:sp>
      <p:sp>
        <p:nvSpPr>
          <p:cNvPr id="14" name="TextBox 13"/>
          <p:cNvSpPr txBox="1"/>
          <p:nvPr/>
        </p:nvSpPr>
        <p:spPr>
          <a:xfrm>
            <a:off x="4370860" y="2574036"/>
            <a:ext cx="4434546"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separates undertraining from an architectural limit</a:t>
            </a:r>
          </a:p>
        </p:txBody>
      </p:sp>
      <p:sp>
        <p:nvSpPr>
          <p:cNvPr id="15" name="TextBox 14"/>
          <p:cNvSpPr txBox="1"/>
          <p:nvPr/>
        </p:nvSpPr>
        <p:spPr>
          <a:xfrm>
            <a:off x="8969998" y="2574036"/>
            <a:ext cx="2279864"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a full training run</a:t>
            </a:r>
          </a:p>
        </p:txBody>
      </p:sp>
      <p:sp>
        <p:nvSpPr>
          <p:cNvPr id="16" name="TextBox 15"/>
          <p:cNvSpPr txBox="1"/>
          <p:nvPr/>
        </p:nvSpPr>
        <p:spPr>
          <a:xfrm>
            <a:off x="777240" y="2903220"/>
            <a:ext cx="3429028" cy="53492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Add distance-from-axis as a per-cell input</a:t>
            </a:r>
          </a:p>
        </p:txBody>
      </p:sp>
      <p:sp>
        <p:nvSpPr>
          <p:cNvPr id="17" name="TextBox 16"/>
          <p:cNvSpPr txBox="1"/>
          <p:nvPr/>
        </p:nvSpPr>
        <p:spPr>
          <a:xfrm>
            <a:off x="4370860" y="2903220"/>
            <a:ext cx="4434546" cy="53492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shower axis moves up to 5.8 HCAL cells across depth; currently unrepresented</a:t>
            </a:r>
          </a:p>
        </p:txBody>
      </p:sp>
      <p:sp>
        <p:nvSpPr>
          <p:cNvPr id="18" name="TextBox 17"/>
          <p:cNvSpPr txBox="1"/>
          <p:nvPr/>
        </p:nvSpPr>
        <p:spPr>
          <a:xfrm>
            <a:off x="8969998" y="2903220"/>
            <a:ext cx="2279864" cy="53492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a new geometry build</a:t>
            </a:r>
          </a:p>
        </p:txBody>
      </p:sp>
      <p:sp>
        <p:nvSpPr>
          <p:cNvPr id="19" name="Rectangle 18"/>
          <p:cNvSpPr/>
          <p:nvPr/>
        </p:nvSpPr>
        <p:spPr>
          <a:xfrm>
            <a:off x="685800" y="3383280"/>
            <a:ext cx="10820095" cy="53492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3438144"/>
            <a:ext cx="3429028" cy="53492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Raise the weight on layer-shape and cell-sharing losses</a:t>
            </a:r>
          </a:p>
        </p:txBody>
      </p:sp>
      <p:sp>
        <p:nvSpPr>
          <p:cNvPr id="21" name="TextBox 20"/>
          <p:cNvSpPr txBox="1"/>
          <p:nvPr/>
        </p:nvSpPr>
        <p:spPr>
          <a:xfrm>
            <a:off x="4370860" y="3438144"/>
            <a:ext cx="4434546" cy="53492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targets top-1 fraction, energy concentration, late fraction</a:t>
            </a:r>
          </a:p>
        </p:txBody>
      </p:sp>
      <p:sp>
        <p:nvSpPr>
          <p:cNvPr id="22" name="TextBox 21"/>
          <p:cNvSpPr txBox="1"/>
          <p:nvPr/>
        </p:nvSpPr>
        <p:spPr>
          <a:xfrm>
            <a:off x="8969998" y="3438144"/>
            <a:ext cx="2279864" cy="53492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a validation-only scan</a:t>
            </a:r>
          </a:p>
        </p:txBody>
      </p:sp>
      <p:sp>
        <p:nvSpPr>
          <p:cNvPr id="23" name="TextBox 22"/>
          <p:cNvSpPr txBox="1"/>
          <p:nvPr/>
        </p:nvSpPr>
        <p:spPr>
          <a:xfrm>
            <a:off x="777240" y="3973068"/>
            <a:ext cx="3429028"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Weight the cell-choice loss by energy</a:t>
            </a:r>
          </a:p>
        </p:txBody>
      </p:sp>
      <p:sp>
        <p:nvSpPr>
          <p:cNvPr id="24" name="TextBox 23"/>
          <p:cNvSpPr txBox="1"/>
          <p:nvPr/>
        </p:nvSpPr>
        <p:spPr>
          <a:xfrm>
            <a:off x="4370860" y="3973068"/>
            <a:ext cx="4434546"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privileges the shower core in both loss terms</a:t>
            </a:r>
          </a:p>
        </p:txBody>
      </p:sp>
      <p:sp>
        <p:nvSpPr>
          <p:cNvPr id="25" name="TextBox 24"/>
          <p:cNvSpPr txBox="1"/>
          <p:nvPr/>
        </p:nvSpPr>
        <p:spPr>
          <a:xfrm>
            <a:off x="8969998" y="3973068"/>
            <a:ext cx="2279864"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a loss change</a:t>
            </a:r>
          </a:p>
        </p:txBody>
      </p:sp>
      <p:sp>
        <p:nvSpPr>
          <p:cNvPr id="26" name="Rectangle 25"/>
          <p:cNvSpPr/>
          <p:nvPr/>
        </p:nvSpPr>
        <p:spPr>
          <a:xfrm>
            <a:off x="685800" y="4247388"/>
            <a:ext cx="10820095" cy="53492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4302252"/>
            <a:ext cx="3429028" cy="53492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Post-hoc reweighting of generated events (DCTR)</a:t>
            </a:r>
          </a:p>
        </p:txBody>
      </p:sp>
      <p:sp>
        <p:nvSpPr>
          <p:cNvPr id="28" name="TextBox 27"/>
          <p:cNvSpPr txBox="1"/>
          <p:nvPr/>
        </p:nvSpPr>
        <p:spPr>
          <a:xfrm>
            <a:off x="4370860" y="4302252"/>
            <a:ext cx="4434546" cy="53492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not viable yet: degenerate at AUROC 0.9995</a:t>
            </a:r>
          </a:p>
        </p:txBody>
      </p:sp>
      <p:sp>
        <p:nvSpPr>
          <p:cNvPr id="29" name="TextBox 28"/>
          <p:cNvSpPr txBox="1"/>
          <p:nvPr/>
        </p:nvSpPr>
        <p:spPr>
          <a:xfrm>
            <a:off x="8969998" y="4302252"/>
            <a:ext cx="2279864" cy="53492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revisit once AUROC is below 0.6</a:t>
            </a:r>
          </a:p>
        </p:txBody>
      </p:sp>
      <p:sp>
        <p:nvSpPr>
          <p:cNvPr id="30" name="TextBox 29"/>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45 / 46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BOUNDARY</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Established and not established</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5684266"/>
            <a:ext cx="10637215" cy="71653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5684266"/>
            <a:ext cx="44450" cy="716534"/>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5793994"/>
            <a:ext cx="10216591" cy="533654"/>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16161D"/>
                </a:solidFill>
                <a:latin typeface="Segoe UI"/>
              </a:rPr>
              <a:t>A decreasing weighted objective is not evidence of physics fidelity. The separability measurement in this deck exists precisely because the training objective cannot answer that question on its own.</a:t>
            </a:r>
          </a:p>
        </p:txBody>
      </p:sp>
      <p:sp>
        <p:nvSpPr>
          <p:cNvPr id="8" name="Rectangle 7"/>
          <p:cNvSpPr/>
          <p:nvPr/>
        </p:nvSpPr>
        <p:spPr>
          <a:xfrm>
            <a:off x="777240" y="1591056"/>
            <a:ext cx="4998567" cy="38100"/>
          </a:xfrm>
          <a:prstGeom prst="rect">
            <a:avLst/>
          </a:prstGeom>
          <a:solidFill>
            <a:srgbClr val="2B4C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755648"/>
            <a:ext cx="4998567" cy="310896"/>
          </a:xfrm>
          <a:prstGeom prst="rect">
            <a:avLst/>
          </a:prstGeom>
          <a:noFill/>
        </p:spPr>
        <p:txBody>
          <a:bodyPr wrap="square" lIns="0" rIns="0" tIns="0" bIns="0">
            <a:spAutoFit/>
          </a:bodyPr>
          <a:lstStyle/>
          <a:p>
            <a:pPr>
              <a:lnSpc>
                <a:spcPct val="130000"/>
              </a:lnSpc>
              <a:spcBef>
                <a:spcPts val="0"/>
              </a:spcBef>
              <a:spcAft>
                <a:spcPts val="0"/>
              </a:spcAft>
            </a:pPr>
            <a:r>
              <a:rPr sz="1700" b="1" i="0">
                <a:solidFill>
                  <a:srgbClr val="2B4C7E"/>
                </a:solidFill>
                <a:latin typeface="Segoe UI"/>
              </a:rPr>
              <a:t>Established</a:t>
            </a:r>
          </a:p>
        </p:txBody>
      </p:sp>
      <p:sp>
        <p:nvSpPr>
          <p:cNvPr id="10" name="TextBox 9"/>
          <p:cNvSpPr txBox="1"/>
          <p:nvPr/>
        </p:nvSpPr>
        <p:spPr>
          <a:xfrm>
            <a:off x="777240" y="2267712"/>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structural invariants</a:t>
            </a:r>
          </a:p>
        </p:txBody>
      </p:sp>
      <p:sp>
        <p:nvSpPr>
          <p:cNvPr id="11" name="TextBox 10"/>
          <p:cNvSpPr txBox="1"/>
          <p:nvPr/>
        </p:nvSpPr>
        <p:spPr>
          <a:xfrm>
            <a:off x="4175607" y="2267712"/>
            <a:ext cx="1600200" cy="384048"/>
          </a:xfrm>
          <a:prstGeom prst="rect">
            <a:avLst/>
          </a:prstGeom>
          <a:noFill/>
        </p:spPr>
        <p:txBody>
          <a:bodyPr wrap="square" lIns="0" rIns="0" tIns="0" bIns="0">
            <a:spAutoFit/>
          </a:bodyPr>
          <a:lstStyle/>
          <a:p>
            <a:pPr algn="r">
              <a:spcAft>
                <a:spcPts val="0"/>
              </a:spcAft>
            </a:pPr>
            <a:r>
              <a:rPr sz="1500" b="1" i="0">
                <a:solidFill>
                  <a:srgbClr val="2B4C7E"/>
                </a:solidFill>
                <a:latin typeface="Consolas"/>
              </a:rPr>
              <a:t>0 failures</a:t>
            </a:r>
          </a:p>
        </p:txBody>
      </p:sp>
      <p:sp>
        <p:nvSpPr>
          <p:cNvPr id="12" name="Rectangle 11"/>
          <p:cNvSpPr/>
          <p:nvPr/>
        </p:nvSpPr>
        <p:spPr>
          <a:xfrm>
            <a:off x="704088" y="2642616"/>
            <a:ext cx="5144871" cy="402336"/>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670048"/>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energy closure</a:t>
            </a:r>
          </a:p>
        </p:txBody>
      </p:sp>
      <p:sp>
        <p:nvSpPr>
          <p:cNvPr id="14" name="TextBox 13"/>
          <p:cNvSpPr txBox="1"/>
          <p:nvPr/>
        </p:nvSpPr>
        <p:spPr>
          <a:xfrm>
            <a:off x="4175607" y="2670048"/>
            <a:ext cx="1600200" cy="384048"/>
          </a:xfrm>
          <a:prstGeom prst="rect">
            <a:avLst/>
          </a:prstGeom>
          <a:noFill/>
        </p:spPr>
        <p:txBody>
          <a:bodyPr wrap="square" lIns="0" rIns="0" tIns="0" bIns="0">
            <a:spAutoFit/>
          </a:bodyPr>
          <a:lstStyle/>
          <a:p>
            <a:pPr algn="r">
              <a:spcAft>
                <a:spcPts val="0"/>
              </a:spcAft>
            </a:pPr>
            <a:r>
              <a:rPr sz="1500" b="1" i="0">
                <a:solidFill>
                  <a:srgbClr val="2B4C7E"/>
                </a:solidFill>
                <a:latin typeface="Consolas"/>
              </a:rPr>
              <a:t>&lt; 0.00002 GeV</a:t>
            </a:r>
          </a:p>
        </p:txBody>
      </p:sp>
      <p:sp>
        <p:nvSpPr>
          <p:cNvPr id="15" name="TextBox 14"/>
          <p:cNvSpPr txBox="1"/>
          <p:nvPr/>
        </p:nvSpPr>
        <p:spPr>
          <a:xfrm>
            <a:off x="777240" y="3072384"/>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exact hit counts</a:t>
            </a:r>
          </a:p>
        </p:txBody>
      </p:sp>
      <p:sp>
        <p:nvSpPr>
          <p:cNvPr id="16" name="TextBox 15"/>
          <p:cNvSpPr txBox="1"/>
          <p:nvPr/>
        </p:nvSpPr>
        <p:spPr>
          <a:xfrm>
            <a:off x="4175607" y="3072384"/>
            <a:ext cx="1600200" cy="384048"/>
          </a:xfrm>
          <a:prstGeom prst="rect">
            <a:avLst/>
          </a:prstGeom>
          <a:noFill/>
        </p:spPr>
        <p:txBody>
          <a:bodyPr wrap="square" lIns="0" rIns="0" tIns="0" bIns="0">
            <a:spAutoFit/>
          </a:bodyPr>
          <a:lstStyle/>
          <a:p>
            <a:pPr algn="r">
              <a:spcAft>
                <a:spcPts val="0"/>
              </a:spcAft>
            </a:pPr>
            <a:r>
              <a:rPr sz="1500" b="1" i="0">
                <a:solidFill>
                  <a:srgbClr val="2B4C7E"/>
                </a:solidFill>
                <a:latin typeface="Consolas"/>
              </a:rPr>
              <a:t>0 mismatches</a:t>
            </a:r>
          </a:p>
        </p:txBody>
      </p:sp>
      <p:sp>
        <p:nvSpPr>
          <p:cNvPr id="17" name="Rectangle 16"/>
          <p:cNvSpPr/>
          <p:nvPr/>
        </p:nvSpPr>
        <p:spPr>
          <a:xfrm>
            <a:off x="704088" y="3447288"/>
            <a:ext cx="5144871" cy="402336"/>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474720"/>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optimisation progress</a:t>
            </a:r>
          </a:p>
        </p:txBody>
      </p:sp>
      <p:sp>
        <p:nvSpPr>
          <p:cNvPr id="19" name="TextBox 18"/>
          <p:cNvSpPr txBox="1"/>
          <p:nvPr/>
        </p:nvSpPr>
        <p:spPr>
          <a:xfrm>
            <a:off x="4175607" y="3474720"/>
            <a:ext cx="1600200" cy="384048"/>
          </a:xfrm>
          <a:prstGeom prst="rect">
            <a:avLst/>
          </a:prstGeom>
          <a:noFill/>
        </p:spPr>
        <p:txBody>
          <a:bodyPr wrap="square" lIns="0" rIns="0" tIns="0" bIns="0">
            <a:spAutoFit/>
          </a:bodyPr>
          <a:lstStyle/>
          <a:p>
            <a:pPr algn="r">
              <a:spcAft>
                <a:spcPts val="0"/>
              </a:spcAft>
            </a:pPr>
            <a:r>
              <a:rPr sz="1500" b="1" i="0">
                <a:solidFill>
                  <a:srgbClr val="2B4C7E"/>
                </a:solidFill>
                <a:latin typeface="Consolas"/>
              </a:rPr>
              <a:t>4 epochs</a:t>
            </a:r>
          </a:p>
        </p:txBody>
      </p:sp>
      <p:sp>
        <p:nvSpPr>
          <p:cNvPr id="20" name="TextBox 19"/>
          <p:cNvSpPr txBox="1"/>
          <p:nvPr/>
        </p:nvSpPr>
        <p:spPr>
          <a:xfrm>
            <a:off x="777240" y="3877056"/>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separability measurement</a:t>
            </a:r>
          </a:p>
        </p:txBody>
      </p:sp>
      <p:sp>
        <p:nvSpPr>
          <p:cNvPr id="21" name="TextBox 20"/>
          <p:cNvSpPr txBox="1"/>
          <p:nvPr/>
        </p:nvSpPr>
        <p:spPr>
          <a:xfrm>
            <a:off x="4175607" y="3877056"/>
            <a:ext cx="1600200" cy="384048"/>
          </a:xfrm>
          <a:prstGeom prst="rect">
            <a:avLst/>
          </a:prstGeom>
          <a:noFill/>
        </p:spPr>
        <p:txBody>
          <a:bodyPr wrap="square" lIns="0" rIns="0" tIns="0" bIns="0">
            <a:spAutoFit/>
          </a:bodyPr>
          <a:lstStyle/>
          <a:p>
            <a:pPr algn="r">
              <a:spcAft>
                <a:spcPts val="0"/>
              </a:spcAft>
            </a:pPr>
            <a:r>
              <a:rPr sz="1500" b="1" i="0">
                <a:solidFill>
                  <a:srgbClr val="2B4C7E"/>
                </a:solidFill>
                <a:latin typeface="Consolas"/>
              </a:rPr>
              <a:t>reproducible</a:t>
            </a:r>
          </a:p>
        </p:txBody>
      </p:sp>
      <p:sp>
        <p:nvSpPr>
          <p:cNvPr id="22" name="Rectangle 21"/>
          <p:cNvSpPr/>
          <p:nvPr/>
        </p:nvSpPr>
        <p:spPr>
          <a:xfrm>
            <a:off x="6415887" y="1591056"/>
            <a:ext cx="4998567"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15887" y="1755648"/>
            <a:ext cx="4998567" cy="310896"/>
          </a:xfrm>
          <a:prstGeom prst="rect">
            <a:avLst/>
          </a:prstGeom>
          <a:noFill/>
        </p:spPr>
        <p:txBody>
          <a:bodyPr wrap="square" lIns="0" rIns="0" tIns="0" bIns="0">
            <a:spAutoFit/>
          </a:bodyPr>
          <a:lstStyle/>
          <a:p>
            <a:pPr>
              <a:lnSpc>
                <a:spcPct val="130000"/>
              </a:lnSpc>
              <a:spcBef>
                <a:spcPts val="0"/>
              </a:spcBef>
              <a:spcAft>
                <a:spcPts val="0"/>
              </a:spcAft>
            </a:pPr>
            <a:r>
              <a:rPr sz="1700" b="1" i="0">
                <a:solidFill>
                  <a:srgbClr val="D1495B"/>
                </a:solidFill>
                <a:latin typeface="Segoe UI"/>
              </a:rPr>
              <a:t>Not established</a:t>
            </a:r>
          </a:p>
        </p:txBody>
      </p:sp>
      <p:sp>
        <p:nvSpPr>
          <p:cNvPr id="24" name="TextBox 23"/>
          <p:cNvSpPr txBox="1"/>
          <p:nvPr/>
        </p:nvSpPr>
        <p:spPr>
          <a:xfrm>
            <a:off x="6415887" y="2267712"/>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Geant4 fidelity</a:t>
            </a:r>
          </a:p>
        </p:txBody>
      </p:sp>
      <p:sp>
        <p:nvSpPr>
          <p:cNvPr id="25" name="TextBox 24"/>
          <p:cNvSpPr txBox="1"/>
          <p:nvPr/>
        </p:nvSpPr>
        <p:spPr>
          <a:xfrm>
            <a:off x="9814255" y="2267712"/>
            <a:ext cx="1600200" cy="384048"/>
          </a:xfrm>
          <a:prstGeom prst="rect">
            <a:avLst/>
          </a:prstGeom>
          <a:noFill/>
        </p:spPr>
        <p:txBody>
          <a:bodyPr wrap="square" lIns="0" rIns="0" tIns="0" bIns="0">
            <a:spAutoFit/>
          </a:bodyPr>
          <a:lstStyle/>
          <a:p>
            <a:pPr algn="r">
              <a:spcAft>
                <a:spcPts val="0"/>
              </a:spcAft>
            </a:pPr>
            <a:r>
              <a:rPr sz="1500" b="1" i="0">
                <a:solidFill>
                  <a:srgbClr val="D1495B"/>
                </a:solidFill>
                <a:latin typeface="Consolas"/>
              </a:rPr>
              <a:t>no</a:t>
            </a:r>
          </a:p>
        </p:txBody>
      </p:sp>
      <p:sp>
        <p:nvSpPr>
          <p:cNvPr id="26" name="Rectangle 25"/>
          <p:cNvSpPr/>
          <p:nvPr/>
        </p:nvSpPr>
        <p:spPr>
          <a:xfrm>
            <a:off x="6342735" y="2642616"/>
            <a:ext cx="5144871" cy="402336"/>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15887" y="2670048"/>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three-seed behaviour</a:t>
            </a:r>
          </a:p>
        </p:txBody>
      </p:sp>
      <p:sp>
        <p:nvSpPr>
          <p:cNvPr id="28" name="TextBox 27"/>
          <p:cNvSpPr txBox="1"/>
          <p:nvPr/>
        </p:nvSpPr>
        <p:spPr>
          <a:xfrm>
            <a:off x="9814255" y="2670048"/>
            <a:ext cx="1600200" cy="384048"/>
          </a:xfrm>
          <a:prstGeom prst="rect">
            <a:avLst/>
          </a:prstGeom>
          <a:noFill/>
        </p:spPr>
        <p:txBody>
          <a:bodyPr wrap="square" lIns="0" rIns="0" tIns="0" bIns="0">
            <a:spAutoFit/>
          </a:bodyPr>
          <a:lstStyle/>
          <a:p>
            <a:pPr algn="r">
              <a:spcAft>
                <a:spcPts val="0"/>
              </a:spcAft>
            </a:pPr>
            <a:r>
              <a:rPr sz="1500" b="1" i="0">
                <a:solidFill>
                  <a:srgbClr val="D1495B"/>
                </a:solidFill>
                <a:latin typeface="Consolas"/>
              </a:rPr>
              <a:t>no</a:t>
            </a:r>
          </a:p>
        </p:txBody>
      </p:sp>
      <p:sp>
        <p:nvSpPr>
          <p:cNvPr id="29" name="TextBox 28"/>
          <p:cNvSpPr txBox="1"/>
          <p:nvPr/>
        </p:nvSpPr>
        <p:spPr>
          <a:xfrm>
            <a:off x="6415887" y="3072384"/>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untouched-test performance</a:t>
            </a:r>
          </a:p>
        </p:txBody>
      </p:sp>
      <p:sp>
        <p:nvSpPr>
          <p:cNvPr id="30" name="TextBox 29"/>
          <p:cNvSpPr txBox="1"/>
          <p:nvPr/>
        </p:nvSpPr>
        <p:spPr>
          <a:xfrm>
            <a:off x="9814255" y="3072384"/>
            <a:ext cx="1600200" cy="384048"/>
          </a:xfrm>
          <a:prstGeom prst="rect">
            <a:avLst/>
          </a:prstGeom>
          <a:noFill/>
        </p:spPr>
        <p:txBody>
          <a:bodyPr wrap="square" lIns="0" rIns="0" tIns="0" bIns="0">
            <a:spAutoFit/>
          </a:bodyPr>
          <a:lstStyle/>
          <a:p>
            <a:pPr algn="r">
              <a:spcAft>
                <a:spcPts val="0"/>
              </a:spcAft>
            </a:pPr>
            <a:r>
              <a:rPr sz="1500" b="1" i="0">
                <a:solidFill>
                  <a:srgbClr val="D1495B"/>
                </a:solidFill>
                <a:latin typeface="Consolas"/>
              </a:rPr>
              <a:t>no</a:t>
            </a:r>
          </a:p>
        </p:txBody>
      </p:sp>
      <p:sp>
        <p:nvSpPr>
          <p:cNvPr id="31" name="Rectangle 30"/>
          <p:cNvSpPr/>
          <p:nvPr/>
        </p:nvSpPr>
        <p:spPr>
          <a:xfrm>
            <a:off x="6342735" y="3447288"/>
            <a:ext cx="5144871" cy="402336"/>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15887" y="3474720"/>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downstream reconstruction</a:t>
            </a:r>
          </a:p>
        </p:txBody>
      </p:sp>
      <p:sp>
        <p:nvSpPr>
          <p:cNvPr id="33" name="TextBox 32"/>
          <p:cNvSpPr txBox="1"/>
          <p:nvPr/>
        </p:nvSpPr>
        <p:spPr>
          <a:xfrm>
            <a:off x="9814255" y="3474720"/>
            <a:ext cx="1600200" cy="384048"/>
          </a:xfrm>
          <a:prstGeom prst="rect">
            <a:avLst/>
          </a:prstGeom>
          <a:noFill/>
        </p:spPr>
        <p:txBody>
          <a:bodyPr wrap="square" lIns="0" rIns="0" tIns="0" bIns="0">
            <a:spAutoFit/>
          </a:bodyPr>
          <a:lstStyle/>
          <a:p>
            <a:pPr algn="r">
              <a:spcAft>
                <a:spcPts val="0"/>
              </a:spcAft>
            </a:pPr>
            <a:r>
              <a:rPr sz="1500" b="1" i="0">
                <a:solidFill>
                  <a:srgbClr val="D1495B"/>
                </a:solidFill>
                <a:latin typeface="Consolas"/>
              </a:rPr>
              <a:t>no</a:t>
            </a:r>
          </a:p>
        </p:txBody>
      </p:sp>
      <p:sp>
        <p:nvSpPr>
          <p:cNvPr id="34" name="TextBox 33"/>
          <p:cNvSpPr txBox="1"/>
          <p:nvPr/>
        </p:nvSpPr>
        <p:spPr>
          <a:xfrm>
            <a:off x="6415887" y="3877056"/>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diversity and memorisation</a:t>
            </a:r>
          </a:p>
        </p:txBody>
      </p:sp>
      <p:sp>
        <p:nvSpPr>
          <p:cNvPr id="35" name="TextBox 34"/>
          <p:cNvSpPr txBox="1"/>
          <p:nvPr/>
        </p:nvSpPr>
        <p:spPr>
          <a:xfrm>
            <a:off x="9814255" y="3877056"/>
            <a:ext cx="1600200" cy="384048"/>
          </a:xfrm>
          <a:prstGeom prst="rect">
            <a:avLst/>
          </a:prstGeom>
          <a:noFill/>
        </p:spPr>
        <p:txBody>
          <a:bodyPr wrap="square" lIns="0" rIns="0" tIns="0" bIns="0">
            <a:spAutoFit/>
          </a:bodyPr>
          <a:lstStyle/>
          <a:p>
            <a:pPr algn="r">
              <a:spcAft>
                <a:spcPts val="0"/>
              </a:spcAft>
            </a:pPr>
            <a:r>
              <a:rPr sz="1500" b="1" i="0">
                <a:solidFill>
                  <a:srgbClr val="D1495B"/>
                </a:solidFill>
                <a:latin typeface="Consolas"/>
              </a:rPr>
              <a:t>no</a:t>
            </a:r>
          </a:p>
        </p:txBody>
      </p:sp>
      <p:sp>
        <p:nvSpPr>
          <p:cNvPr id="36" name="TextBox 35"/>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46 / 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